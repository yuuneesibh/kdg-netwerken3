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</p:sp>
      <p:sp>
        <p:nvSpPr>
          <p:cNvPr id="47" name="CustomShape 2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CustomShape 3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4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CustomShape 5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6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7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PlaceHolder 8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0560" cy="342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Click to move the slide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54" name="PlaceHolder 9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760" cy="41133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nl-BE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nl-B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CustomShape 10"/>
          <p:cNvSpPr/>
          <p:nvPr/>
        </p:nvSpPr>
        <p:spPr>
          <a:xfrm>
            <a:off x="3886200" y="8702640"/>
            <a:ext cx="2971800" cy="44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r"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E84DD70-597B-4A3B-B003-4999413DC588}" type="slidenum"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1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0560" cy="342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Click to move the slide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1143000" y="685800"/>
            <a:ext cx="4572000" cy="342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12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14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16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18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20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22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24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26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28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30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32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34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36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38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40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42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44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46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48" name="TextShape 2"/>
          <p:cNvSpPr txBox="1"/>
          <p:nvPr/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4880"/>
            <a:ext cx="8228160" cy="452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342720" indent="-342720" algn="ctr"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8160" cy="452448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452448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452448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864720" y="442440"/>
            <a:ext cx="7953480" cy="5079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342720" indent="-342720" algn="ctr"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452448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9682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452448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73520" y="39682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968280"/>
            <a:ext cx="822816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816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3968280"/>
            <a:ext cx="822816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39682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3520" y="3968280"/>
            <a:ext cx="401508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264924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3239280" y="1604880"/>
            <a:ext cx="264924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021360" y="1604880"/>
            <a:ext cx="264924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3968280"/>
            <a:ext cx="264924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3239280" y="3968280"/>
            <a:ext cx="264924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6021360" y="3968280"/>
            <a:ext cx="2649240" cy="215784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9142200" cy="6856200"/>
          </a:xfrm>
          <a:custGeom>
            <a:avLst/>
            <a:gdLst/>
            <a:ahLst/>
            <a:rect l="l" t="t" r="r" b="b"/>
            <a:pathLst>
              <a:path w="13487400" h="7581900">
                <a:moveTo>
                  <a:pt x="12083732" y="0"/>
                </a:moveTo>
                <a:lnTo>
                  <a:pt x="3320440" y="0"/>
                </a:lnTo>
                <a:lnTo>
                  <a:pt x="0" y="826719"/>
                </a:lnTo>
                <a:lnTo>
                  <a:pt x="0" y="4931460"/>
                </a:lnTo>
                <a:lnTo>
                  <a:pt x="702690" y="7581900"/>
                </a:lnTo>
                <a:lnTo>
                  <a:pt x="11045558" y="7581900"/>
                </a:lnTo>
                <a:lnTo>
                  <a:pt x="13487400" y="6973925"/>
                </a:lnTo>
                <a:lnTo>
                  <a:pt x="13487400" y="5294325"/>
                </a:lnTo>
                <a:lnTo>
                  <a:pt x="120837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864720" y="442440"/>
            <a:ext cx="7953480" cy="109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Click to edit the title text format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3509280" y="122400"/>
            <a:ext cx="4659120" cy="32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600" spc="-1" strike="noStrike">
                <a:solidFill>
                  <a:srgbClr val="000099"/>
                </a:solidFill>
                <a:latin typeface="Times New Roman"/>
              </a:rPr>
              <a:t>Vyos IPv6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5072040" y="6451560"/>
            <a:ext cx="701640" cy="459720"/>
            <a:chOff x="5072040" y="6451560"/>
            <a:chExt cx="701640" cy="459720"/>
          </a:xfrm>
        </p:grpSpPr>
        <p:sp>
          <p:nvSpPr>
            <p:cNvPr id="4" name="CustomShape 5"/>
            <p:cNvSpPr/>
            <p:nvPr/>
          </p:nvSpPr>
          <p:spPr>
            <a:xfrm>
              <a:off x="5072040" y="6451560"/>
              <a:ext cx="701640" cy="441360"/>
            </a:xfrm>
            <a:custGeom>
              <a:avLst/>
              <a:gdLst/>
              <a:ahLst/>
              <a:rect l="0" t="0" r="r" b="b"/>
              <a:pathLst>
                <a:path w="1951" h="1228">
                  <a:moveTo>
                    <a:pt x="7" y="0"/>
                  </a:moveTo>
                  <a:lnTo>
                    <a:pt x="8" y="0"/>
                  </a:lnTo>
                  <a:cubicBezTo>
                    <a:pt x="7" y="0"/>
                    <a:pt x="5" y="0"/>
                    <a:pt x="4" y="1"/>
                  </a:cubicBezTo>
                  <a:cubicBezTo>
                    <a:pt x="3" y="2"/>
                    <a:pt x="2" y="3"/>
                    <a:pt x="1" y="4"/>
                  </a:cubicBezTo>
                  <a:cubicBezTo>
                    <a:pt x="0" y="5"/>
                    <a:pt x="0" y="7"/>
                    <a:pt x="0" y="8"/>
                  </a:cubicBezTo>
                  <a:lnTo>
                    <a:pt x="0" y="1219"/>
                  </a:lnTo>
                  <a:lnTo>
                    <a:pt x="0" y="1219"/>
                  </a:lnTo>
                  <a:cubicBezTo>
                    <a:pt x="0" y="1220"/>
                    <a:pt x="0" y="1222"/>
                    <a:pt x="1" y="1223"/>
                  </a:cubicBezTo>
                  <a:cubicBezTo>
                    <a:pt x="2" y="1224"/>
                    <a:pt x="3" y="1225"/>
                    <a:pt x="4" y="1226"/>
                  </a:cubicBezTo>
                  <a:cubicBezTo>
                    <a:pt x="5" y="1227"/>
                    <a:pt x="7" y="1227"/>
                    <a:pt x="8" y="1227"/>
                  </a:cubicBezTo>
                  <a:lnTo>
                    <a:pt x="1942" y="1227"/>
                  </a:lnTo>
                  <a:lnTo>
                    <a:pt x="1942" y="1227"/>
                  </a:lnTo>
                  <a:cubicBezTo>
                    <a:pt x="1943" y="1227"/>
                    <a:pt x="1945" y="1227"/>
                    <a:pt x="1946" y="1226"/>
                  </a:cubicBezTo>
                  <a:cubicBezTo>
                    <a:pt x="1947" y="1225"/>
                    <a:pt x="1948" y="1224"/>
                    <a:pt x="1949" y="1223"/>
                  </a:cubicBezTo>
                  <a:cubicBezTo>
                    <a:pt x="1950" y="1222"/>
                    <a:pt x="1950" y="1220"/>
                    <a:pt x="1950" y="1219"/>
                  </a:cubicBezTo>
                  <a:lnTo>
                    <a:pt x="1950" y="7"/>
                  </a:lnTo>
                  <a:lnTo>
                    <a:pt x="1950" y="8"/>
                  </a:lnTo>
                  <a:lnTo>
                    <a:pt x="1950" y="8"/>
                  </a:lnTo>
                  <a:cubicBezTo>
                    <a:pt x="1950" y="7"/>
                    <a:pt x="1950" y="5"/>
                    <a:pt x="1949" y="4"/>
                  </a:cubicBezTo>
                  <a:cubicBezTo>
                    <a:pt x="1948" y="3"/>
                    <a:pt x="1947" y="2"/>
                    <a:pt x="1946" y="1"/>
                  </a:cubicBezTo>
                  <a:cubicBezTo>
                    <a:pt x="1945" y="0"/>
                    <a:pt x="1943" y="0"/>
                    <a:pt x="1942" y="0"/>
                  </a:cubicBezTo>
                  <a:lnTo>
                    <a:pt x="7" y="0"/>
                  </a:lnTo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5072040" y="6451560"/>
              <a:ext cx="701640" cy="459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>
              <a:sp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fld id="{1AEFC47D-EBDD-4102-B1B2-3A1EDFC7103E}" type="slidenum">
                <a:rPr b="0" lang="en-US" sz="2400" spc="-1" strike="noStrike">
                  <a:solidFill>
                    <a:srgbClr val="000000"/>
                  </a:solidFill>
                  <a:latin typeface="Times New Roman"/>
                </a:rPr>
                <a:t>&lt;number&gt;</a:t>
              </a:fld>
              <a:endParaRPr b="0" lang="nl-BE" sz="2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8160" cy="4524480"/>
          </a:xfrm>
          <a:prstGeom prst="rect">
            <a:avLst/>
          </a:prstGeom>
        </p:spPr>
        <p:txBody>
          <a:bodyPr lIns="0" rIns="0" tIns="24480" bIns="0">
            <a:normAutofit/>
          </a:bodyPr>
          <a:p>
            <a:pPr marL="342720" indent="-342720"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228600"/>
                <a:tab algn="l" pos="685800"/>
                <a:tab algn="l" pos="1143000"/>
                <a:tab algn="l" pos="1600200"/>
                <a:tab algn="l" pos="2057400"/>
                <a:tab algn="l" pos="2514600"/>
                <a:tab algn="l" pos="2971800"/>
                <a:tab algn="l" pos="3429000"/>
                <a:tab algn="l" pos="3886200"/>
                <a:tab algn="l" pos="4343400"/>
                <a:tab algn="l" pos="4800600"/>
                <a:tab algn="l" pos="5257800"/>
                <a:tab algn="l" pos="5715000"/>
                <a:tab algn="l" pos="6172200"/>
                <a:tab algn="l" pos="6629400"/>
                <a:tab algn="l" pos="7086600"/>
                <a:tab algn="l" pos="7543800"/>
                <a:tab algn="l" pos="8001000"/>
                <a:tab algn="l" pos="8458200"/>
                <a:tab algn="l" pos="8915400"/>
              </a:tabLst>
            </a:pPr>
            <a:r>
              <a:rPr b="0" lang="nl-BE" sz="20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nl-BE" sz="20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44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228600"/>
                <a:tab algn="l" pos="685800"/>
                <a:tab algn="l" pos="1143000"/>
                <a:tab algn="l" pos="1600200"/>
                <a:tab algn="l" pos="2057400"/>
                <a:tab algn="l" pos="2514600"/>
                <a:tab algn="l" pos="2971800"/>
                <a:tab algn="l" pos="3429000"/>
                <a:tab algn="l" pos="3886200"/>
                <a:tab algn="l" pos="4343400"/>
                <a:tab algn="l" pos="4800600"/>
                <a:tab algn="l" pos="5257800"/>
                <a:tab algn="l" pos="5715000"/>
                <a:tab algn="l" pos="6172200"/>
                <a:tab algn="l" pos="6629400"/>
                <a:tab algn="l" pos="7086600"/>
                <a:tab algn="l" pos="7543800"/>
                <a:tab algn="l" pos="8001000"/>
                <a:tab algn="l" pos="8458200"/>
                <a:tab algn="l" pos="891540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nl-BE" sz="18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400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28600"/>
                <a:tab algn="l" pos="685800"/>
                <a:tab algn="l" pos="1143000"/>
                <a:tab algn="l" pos="1600200"/>
                <a:tab algn="l" pos="2057400"/>
                <a:tab algn="l" pos="2514600"/>
                <a:tab algn="l" pos="2971800"/>
                <a:tab algn="l" pos="3429000"/>
                <a:tab algn="l" pos="3886200"/>
                <a:tab algn="l" pos="4343400"/>
                <a:tab algn="l" pos="4800600"/>
                <a:tab algn="l" pos="5257800"/>
                <a:tab algn="l" pos="5715000"/>
                <a:tab algn="l" pos="6172200"/>
                <a:tab algn="l" pos="6629400"/>
                <a:tab algn="l" pos="7086600"/>
                <a:tab algn="l" pos="7543800"/>
                <a:tab algn="l" pos="8001000"/>
                <a:tab algn="l" pos="84582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400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28600"/>
                <a:tab algn="l" pos="685800"/>
                <a:tab algn="l" pos="1143000"/>
                <a:tab algn="l" pos="1600200"/>
                <a:tab algn="l" pos="2057400"/>
                <a:tab algn="l" pos="2514600"/>
                <a:tab algn="l" pos="2971800"/>
                <a:tab algn="l" pos="3429000"/>
                <a:tab algn="l" pos="3886200"/>
                <a:tab algn="l" pos="4343400"/>
                <a:tab algn="l" pos="4800600"/>
                <a:tab algn="l" pos="5257800"/>
                <a:tab algn="l" pos="5715000"/>
                <a:tab algn="l" pos="6172200"/>
                <a:tab algn="l" pos="6629400"/>
                <a:tab algn="l" pos="7086600"/>
                <a:tab algn="l" pos="7543800"/>
                <a:tab algn="l" pos="8001000"/>
                <a:tab algn="l" pos="84582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400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28600"/>
                <a:tab algn="l" pos="685800"/>
                <a:tab algn="l" pos="1143000"/>
                <a:tab algn="l" pos="1600200"/>
                <a:tab algn="l" pos="2057400"/>
                <a:tab algn="l" pos="2514600"/>
                <a:tab algn="l" pos="2971800"/>
                <a:tab algn="l" pos="3429000"/>
                <a:tab algn="l" pos="3886200"/>
                <a:tab algn="l" pos="4343400"/>
                <a:tab algn="l" pos="4800600"/>
                <a:tab algn="l" pos="5257800"/>
                <a:tab algn="l" pos="5715000"/>
                <a:tab algn="l" pos="6172200"/>
                <a:tab algn="l" pos="6629400"/>
                <a:tab algn="l" pos="7086600"/>
                <a:tab algn="l" pos="7543800"/>
                <a:tab algn="l" pos="8001000"/>
                <a:tab algn="l" pos="84582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Group 8"/>
          <p:cNvGrpSpPr/>
          <p:nvPr/>
        </p:nvGrpSpPr>
        <p:grpSpPr>
          <a:xfrm>
            <a:off x="668880" y="6448320"/>
            <a:ext cx="1780920" cy="359280"/>
            <a:chOff x="668880" y="6448320"/>
            <a:chExt cx="1780920" cy="359280"/>
          </a:xfrm>
        </p:grpSpPr>
        <p:sp>
          <p:nvSpPr>
            <p:cNvPr id="8" name="CustomShape 9"/>
            <p:cNvSpPr/>
            <p:nvPr/>
          </p:nvSpPr>
          <p:spPr>
            <a:xfrm>
              <a:off x="668880" y="6448320"/>
              <a:ext cx="1780920" cy="3592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" name="" descr=""/>
            <p:cNvPicPr/>
            <p:nvPr/>
          </p:nvPicPr>
          <p:blipFill>
            <a:blip r:embed="rId2"/>
            <a:stretch/>
          </p:blipFill>
          <p:spPr>
            <a:xfrm>
              <a:off x="719280" y="6480000"/>
              <a:ext cx="1558080" cy="302760"/>
            </a:xfrm>
            <a:prstGeom prst="rect">
              <a:avLst/>
            </a:prstGeom>
            <a:ln>
              <a:noFill/>
            </a:ln>
          </p:spPr>
        </p:pic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1223640" y="2570400"/>
            <a:ext cx="6782040" cy="1752480"/>
          </a:xfrm>
          <a:prstGeom prst="rect">
            <a:avLst/>
          </a:prstGeom>
          <a:noFill/>
          <a:ln>
            <a:noFill/>
          </a:ln>
        </p:spPr>
        <p:txBody>
          <a:bodyPr lIns="90000" rIns="90000" tIns="71280" bIns="46800">
            <a:noAutofit/>
          </a:bodyPr>
          <a:p>
            <a:pPr algn="ctr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</a:t>
            </a:r>
            <a:br/>
            <a:br/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IPv6 configuratie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3754080" y="2349720"/>
            <a:ext cx="1673280" cy="777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Interface configuratie IPv6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Stateless Autoconfiguration (DHCPv6)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interfaces ethernet eth1 ipv6 address autoconf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Global address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interfaces ethernet eth1 address '2001:1111:1111:4567::1/64'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EUI address (MAC ingevuld)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interfaces ethernet eth1 ipv6 address eui 'fc00:1111:1111:::/64'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DHCPv6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Opgelet! Dit is GEEN Router Advertisement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DHCPv6 range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subnet 2001:1111:1111:4567::/64 start 2001:1111:1111:4567::100 stop 2001:1111:1111:4567::200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Domain search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subnet 2001:1111:1111:4567::/64 domain-search kdg.be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DNS (google)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subnet 2001:1111:1111:4567::/64 name-server 2001:4860:4860::8844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Sollicitation /Advertisement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1. Router Sollicitation (RS)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ICMPv6 router sollicitatie bericht (type 133)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bron is FE80::met mac adres achteraan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doel is </a:t>
            </a:r>
            <a:r>
              <a:rPr b="0" lang="en-US" sz="2400" spc="-1" strike="noStrike">
                <a:solidFill>
                  <a:srgbClr val="ff3333"/>
                </a:solidFill>
                <a:latin typeface="Times New Roman"/>
              </a:rPr>
              <a:t>All routers multicast address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FF02::2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2. Router Advertisement (RA)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ICMPv6 router ICMPv6 advertisement (type 134)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bevat IP add, Lifetime 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doel is </a:t>
            </a:r>
            <a:r>
              <a:rPr b="0" lang="en-US" sz="2400" spc="-1" strike="noStrike">
                <a:solidFill>
                  <a:srgbClr val="ff3333"/>
                </a:solidFill>
                <a:latin typeface="Times New Roman"/>
              </a:rPr>
              <a:t>All nodes multicast address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FF02::1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7295040" y="1639440"/>
            <a:ext cx="676080" cy="444600"/>
          </a:xfrm>
          <a:prstGeom prst="rect">
            <a:avLst/>
          </a:prstGeom>
          <a:ln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8347680" y="2385360"/>
            <a:ext cx="676080" cy="444600"/>
          </a:xfrm>
          <a:prstGeom prst="rect">
            <a:avLst/>
          </a:prstGeom>
          <a:ln>
            <a:noFill/>
          </a:ln>
        </p:spPr>
      </p:pic>
      <p:pic>
        <p:nvPicPr>
          <p:cNvPr id="67" name="" descr=""/>
          <p:cNvPicPr/>
          <p:nvPr/>
        </p:nvPicPr>
        <p:blipFill>
          <a:blip r:embed="rId3"/>
          <a:stretch/>
        </p:blipFill>
        <p:spPr>
          <a:xfrm>
            <a:off x="7308360" y="3169080"/>
            <a:ext cx="676080" cy="444600"/>
          </a:xfrm>
          <a:prstGeom prst="rect">
            <a:avLst/>
          </a:prstGeom>
          <a:ln>
            <a:noFill/>
          </a:ln>
        </p:spPr>
      </p:pic>
      <p:sp>
        <p:nvSpPr>
          <p:cNvPr id="68" name="CustomShape 3"/>
          <p:cNvSpPr/>
          <p:nvPr/>
        </p:nvSpPr>
        <p:spPr>
          <a:xfrm>
            <a:off x="7063920" y="2072520"/>
            <a:ext cx="1158120" cy="1089720"/>
          </a:xfrm>
          <a:custGeom>
            <a:avLst/>
            <a:gdLst/>
            <a:ahLst/>
            <a:rect l="0" t="0" r="r" b="b"/>
            <a:pathLst>
              <a:path w="2251" h="3029">
                <a:moveTo>
                  <a:pt x="313" y="602"/>
                </a:moveTo>
                <a:lnTo>
                  <a:pt x="0" y="602"/>
                </a:lnTo>
                <a:lnTo>
                  <a:pt x="641" y="0"/>
                </a:lnTo>
                <a:lnTo>
                  <a:pt x="1281" y="602"/>
                </a:lnTo>
                <a:lnTo>
                  <a:pt x="968" y="602"/>
                </a:lnTo>
                <a:lnTo>
                  <a:pt x="968" y="1205"/>
                </a:lnTo>
                <a:lnTo>
                  <a:pt x="1609" y="1205"/>
                </a:lnTo>
                <a:lnTo>
                  <a:pt x="1609" y="911"/>
                </a:lnTo>
                <a:lnTo>
                  <a:pt x="2250" y="1514"/>
                </a:lnTo>
                <a:lnTo>
                  <a:pt x="1609" y="2116"/>
                </a:lnTo>
                <a:lnTo>
                  <a:pt x="1609" y="1822"/>
                </a:lnTo>
                <a:lnTo>
                  <a:pt x="968" y="1822"/>
                </a:lnTo>
                <a:lnTo>
                  <a:pt x="968" y="2425"/>
                </a:lnTo>
                <a:lnTo>
                  <a:pt x="1281" y="2425"/>
                </a:lnTo>
                <a:lnTo>
                  <a:pt x="641" y="3028"/>
                </a:lnTo>
                <a:lnTo>
                  <a:pt x="0" y="2425"/>
                </a:lnTo>
                <a:lnTo>
                  <a:pt x="313" y="2425"/>
                </a:lnTo>
                <a:lnTo>
                  <a:pt x="313" y="602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69" name="" descr=""/>
          <p:cNvPicPr/>
          <p:nvPr/>
        </p:nvPicPr>
        <p:blipFill>
          <a:blip r:embed="rId4"/>
          <a:stretch/>
        </p:blipFill>
        <p:spPr>
          <a:xfrm>
            <a:off x="7048440" y="2392920"/>
            <a:ext cx="787680" cy="518040"/>
          </a:xfrm>
          <a:prstGeom prst="rect">
            <a:avLst/>
          </a:prstGeom>
          <a:ln>
            <a:noFill/>
          </a:ln>
        </p:spPr>
      </p:pic>
      <p:pic>
        <p:nvPicPr>
          <p:cNvPr id="70" name="" descr=""/>
          <p:cNvPicPr/>
          <p:nvPr/>
        </p:nvPicPr>
        <p:blipFill>
          <a:blip r:embed="rId5"/>
          <a:stretch/>
        </p:blipFill>
        <p:spPr>
          <a:xfrm>
            <a:off x="7234200" y="4329360"/>
            <a:ext cx="676080" cy="444600"/>
          </a:xfrm>
          <a:prstGeom prst="rect">
            <a:avLst/>
          </a:prstGeom>
          <a:ln>
            <a:noFill/>
          </a:ln>
        </p:spPr>
      </p:pic>
      <p:pic>
        <p:nvPicPr>
          <p:cNvPr id="71" name="" descr=""/>
          <p:cNvPicPr/>
          <p:nvPr/>
        </p:nvPicPr>
        <p:blipFill>
          <a:blip r:embed="rId6"/>
          <a:stretch/>
        </p:blipFill>
        <p:spPr>
          <a:xfrm>
            <a:off x="7247520" y="5859000"/>
            <a:ext cx="676080" cy="444600"/>
          </a:xfrm>
          <a:prstGeom prst="rect">
            <a:avLst/>
          </a:prstGeom>
          <a:ln>
            <a:noFill/>
          </a:ln>
        </p:spPr>
      </p:pic>
      <p:sp>
        <p:nvSpPr>
          <p:cNvPr id="72" name="CustomShape 4"/>
          <p:cNvSpPr/>
          <p:nvPr/>
        </p:nvSpPr>
        <p:spPr>
          <a:xfrm>
            <a:off x="7003080" y="4762440"/>
            <a:ext cx="1158120" cy="1089720"/>
          </a:xfrm>
          <a:custGeom>
            <a:avLst/>
            <a:gdLst/>
            <a:ahLst/>
            <a:rect l="0" t="0" r="r" b="b"/>
            <a:pathLst>
              <a:path w="2251" h="3029">
                <a:moveTo>
                  <a:pt x="313" y="602"/>
                </a:moveTo>
                <a:lnTo>
                  <a:pt x="0" y="602"/>
                </a:lnTo>
                <a:lnTo>
                  <a:pt x="641" y="0"/>
                </a:lnTo>
                <a:lnTo>
                  <a:pt x="1281" y="602"/>
                </a:lnTo>
                <a:lnTo>
                  <a:pt x="968" y="602"/>
                </a:lnTo>
                <a:lnTo>
                  <a:pt x="968" y="1205"/>
                </a:lnTo>
                <a:lnTo>
                  <a:pt x="1609" y="1205"/>
                </a:lnTo>
                <a:lnTo>
                  <a:pt x="1609" y="911"/>
                </a:lnTo>
                <a:lnTo>
                  <a:pt x="2250" y="1514"/>
                </a:lnTo>
                <a:lnTo>
                  <a:pt x="1609" y="2116"/>
                </a:lnTo>
                <a:lnTo>
                  <a:pt x="1609" y="1822"/>
                </a:lnTo>
                <a:lnTo>
                  <a:pt x="968" y="1822"/>
                </a:lnTo>
                <a:lnTo>
                  <a:pt x="968" y="2425"/>
                </a:lnTo>
                <a:lnTo>
                  <a:pt x="1281" y="2425"/>
                </a:lnTo>
                <a:lnTo>
                  <a:pt x="641" y="3028"/>
                </a:lnTo>
                <a:lnTo>
                  <a:pt x="0" y="2425"/>
                </a:lnTo>
                <a:lnTo>
                  <a:pt x="313" y="2425"/>
                </a:lnTo>
                <a:lnTo>
                  <a:pt x="313" y="602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73" name="" descr=""/>
          <p:cNvPicPr/>
          <p:nvPr/>
        </p:nvPicPr>
        <p:blipFill>
          <a:blip r:embed="rId7"/>
          <a:stretch/>
        </p:blipFill>
        <p:spPr>
          <a:xfrm>
            <a:off x="6987600" y="5082840"/>
            <a:ext cx="787680" cy="518040"/>
          </a:xfrm>
          <a:prstGeom prst="rect">
            <a:avLst/>
          </a:prstGeom>
          <a:ln>
            <a:noFill/>
          </a:ln>
        </p:spPr>
      </p:pic>
      <p:pic>
        <p:nvPicPr>
          <p:cNvPr id="74" name="" descr=""/>
          <p:cNvPicPr/>
          <p:nvPr/>
        </p:nvPicPr>
        <p:blipFill>
          <a:blip r:embed="rId8"/>
          <a:stretch/>
        </p:blipFill>
        <p:spPr>
          <a:xfrm>
            <a:off x="8218440" y="4816080"/>
            <a:ext cx="819000" cy="819000"/>
          </a:xfrm>
          <a:prstGeom prst="rect">
            <a:avLst/>
          </a:prstGeom>
          <a:ln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Advertisements Flags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A-bit – Autonomous Address Autoconfiguration Flag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node moet stateless address assignment doen (RFC 4862)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L-bit – On-Link Flag 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prefix in de  RA is het lokale IPv6 adres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M-bit – Managed Address Config Flag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host moet stateful DHCPv6 (RFC 3315) gebruiken 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O-bit – Other Config Flag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42680" indent="-28548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host krijgt nog andere informatie zoals DNS via DHCPv6 (RFC 3736)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Cur Hop Limit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78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11268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8810280"/>
                <a:tab algn="l" pos="9267480"/>
                <a:tab algn="l" pos="9724680"/>
                <a:tab algn="l" pos="1018188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cur-hop-limit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0-255 (8bit)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Maximaal aantal routers (hops) dat een pakket mag tegenkomen eer het mag weggegooid worden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0 is ongedefinieerd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</a:t>
            </a:r>
            <a:br/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"Managed address configuration" flag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0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managed-flag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true/false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managed betekent dat alle informatie via DHCPv6 verkregen wordt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"Other configuration" flag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other-config-flag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true/false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True telt niet mee wanneer managed op true staat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Extra informatie zoals DNS informatie wordt vanuit DHCPv6 gehaald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Router Lifetime 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4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default-lifetime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0-65535 (16 bit)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Aantal seconden dat een router de default router blijft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0 router is geen default router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Reachable Time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reachable-time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32 bit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Aantal milliseconden dat verondersteld wordt dat een Neighbour bereikbaar blijft na een bevestiging van bereikbaarheid.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0 is ongedefinieerd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Retrans Timer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retrans-timer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32 bit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Tijd tussen heruitzending van Neighbour sollicitations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0 is ongedefinieerd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MTU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link-mtu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32 bit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Maximum Transfer Unit geeft het aantal octets aan dat op een link kan worden doorgestuurd (1280 minimum)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0 is ongedefinieerd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 Prefix: Prefix 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Prefix Length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Meestal  krijg je van een provider een /48 en geef je aan je clients een /64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bv set router-advert prefix 2001:1111:1111:4567::/64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 Prefix: on-link flag (de L-bit)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on-link-flag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true/false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De meegegeven adressen zijn beschikbaar op deze link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Bij false mag er NIET van uit gegaan worden dat de adressen NIET op de link beschikbaar zijn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 Prefix: autonomous address-configuration flag </a:t>
            </a: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	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autonomous-flag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true/false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true: prefix kan gebruikt worden voor stateless autoconfiguration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 Prefix: Valid Lifetime 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valid-lifetime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32 bit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Tijd in seconden dat een prefix geldig blijft op een link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 Prefix: Preferred Lifetime 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preferred-lifetime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32 bit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Tijd dat een prefix geldig blijft op een link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Het verschil met de valid-lifetime is de tijd die kan gebruikt worden om een nieuw adres aan te vragen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Extra Vyos opties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default-preference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low, medium of high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Voorrang voor de router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interfaces ethernet eth0 ipv6 router-advert default-preference high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Router Advertisement: Extra Vyos opties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Vyos: name-server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set interfaces ethernet eth0 ipv6 router-advert 2001:1111:1111:4567::/64 name-server 2001:4860:4860::8888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3320" indent="-276120">
              <a:lnSpc>
                <a:spcPct val="92000"/>
              </a:lnSpc>
              <a:spcBef>
                <a:spcPts val="598"/>
              </a:spcBef>
              <a:buClr>
                <a:srgbClr val="000066"/>
              </a:buClr>
              <a:buSzPct val="50000"/>
              <a:buFont typeface="Wingdings" charset="2"/>
              <a:buChar char=""/>
              <a:tabLst>
                <a:tab algn="l" pos="0"/>
                <a:tab algn="l" pos="171360"/>
                <a:tab algn="l" pos="628560"/>
                <a:tab algn="l" pos="1085760"/>
                <a:tab algn="l" pos="1542960"/>
                <a:tab algn="l" pos="2000160"/>
                <a:tab algn="l" pos="2457360"/>
                <a:tab algn="l" pos="2914560"/>
                <a:tab algn="l" pos="3371760"/>
                <a:tab algn="l" pos="3828960"/>
                <a:tab algn="l" pos="4286160"/>
                <a:tab algn="l" pos="4743360"/>
                <a:tab algn="l" pos="5200560"/>
                <a:tab algn="l" pos="5657760"/>
                <a:tab algn="l" pos="6114960"/>
                <a:tab algn="l" pos="6572160"/>
                <a:tab algn="l" pos="7029360"/>
                <a:tab algn="l" pos="7486560"/>
                <a:tab algn="l" pos="7943760"/>
                <a:tab algn="l" pos="8400960"/>
                <a:tab algn="l" pos="8858160"/>
              </a:tabLst>
            </a:pP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864720" y="442440"/>
            <a:ext cx="7953480" cy="1095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Router Advertisements ontvangen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57200" y="160488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42720" indent="-342720"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Als root op vyos volgende kernel-parameter instellen: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42720" indent="-342720"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sysctl -w net.ipv6.conf.eth0.accept_ra=2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864720" y="442440"/>
            <a:ext cx="7954920" cy="1096920"/>
          </a:xfrm>
          <a:prstGeom prst="rect">
            <a:avLst/>
          </a:prstGeom>
          <a:noFill/>
          <a:ln>
            <a:noFill/>
          </a:ln>
        </p:spPr>
        <p:txBody>
          <a:bodyPr lIns="0" rIns="0" tIns="17640" bIns="0" anchor="ctr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Narrow"/>
              </a:rPr>
              <a:t>Referenties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08" name="TextShape 2"/>
          <p:cNvSpPr txBox="1"/>
          <p:nvPr/>
        </p:nvSpPr>
        <p:spPr>
          <a:xfrm>
            <a:off x="457200" y="160488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24480" bIns="0">
            <a:normAutofit/>
          </a:bodyPr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https://wiki.vyos.net/wiki/IPv6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https://wiki.vyos.net/wiki/IPv6_Router_Advertisements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buClr>
                <a:srgbClr val="aecf00"/>
              </a:buClr>
              <a:buFont typeface="Wingdings" charset="2"/>
              <a:buChar char=""/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https://tools.ietf.org/html/rfc4861#section-4.2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3360" indent="-333360">
              <a:lnSpc>
                <a:spcPct val="92000"/>
              </a:lnSpc>
              <a:spcBef>
                <a:spcPts val="598"/>
              </a:spcBef>
              <a:tabLst>
                <a:tab algn="l" pos="0"/>
                <a:tab algn="l" pos="114120"/>
                <a:tab algn="l" pos="571320"/>
                <a:tab algn="l" pos="1028520"/>
                <a:tab algn="l" pos="1485720"/>
                <a:tab algn="l" pos="1942920"/>
                <a:tab algn="l" pos="2400120"/>
                <a:tab algn="l" pos="2857320"/>
                <a:tab algn="l" pos="3314520"/>
                <a:tab algn="l" pos="3771720"/>
                <a:tab algn="l" pos="4228920"/>
                <a:tab algn="l" pos="4686120"/>
                <a:tab algn="l" pos="5143320"/>
                <a:tab algn="l" pos="5600520"/>
                <a:tab algn="l" pos="6057720"/>
                <a:tab algn="l" pos="6514920"/>
                <a:tab algn="l" pos="6972120"/>
                <a:tab algn="l" pos="7429320"/>
                <a:tab algn="l" pos="7886520"/>
                <a:tab algn="l" pos="8343720"/>
                <a:tab algn="l" pos="880092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2019-10-14T09:32:21Z</dcterms:modified>
  <cp:revision>236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Jan Celis</vt:lpwstr>
  </property>
</Properties>
</file>