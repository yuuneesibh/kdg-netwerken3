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media/image1.png" ContentType="image/png"/>
  <Override PartName="/ppt/media/image3.jpeg" ContentType="image/jpeg"/>
  <Override PartName="/ppt/media/image2.png" ContentType="image/png"/>
  <Override PartName="/ppt/media/image4.jpeg" ContentType="image/jpeg"/>
  <Override PartName="/ppt/media/image5.jpeg" ContentType="image/jpeg"/>
  <Override PartName="/ppt/media/image6.png" ContentType="image/png"/>
  <Override PartName="/ppt/media/image7.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2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_rels/slide16.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28.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slide30.xml" ContentType="application/vnd.openxmlformats-officedocument.presentationml.slide+xml"/>
  <Override PartName="/ppt/slides/slide28.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12" name="PlaceHolder 2"/>
          <p:cNvSpPr>
            <a:spLocks noGrp="1"/>
          </p:cNvSpPr>
          <p:nvPr>
            <p:ph type="subTitle"/>
          </p:nvPr>
        </p:nvSpPr>
        <p:spPr>
          <a:xfrm>
            <a:off x="457200" y="1604520"/>
            <a:ext cx="8229240" cy="4525920"/>
          </a:xfrm>
          <a:prstGeom prst="rect">
            <a:avLst/>
          </a:prstGeom>
        </p:spPr>
        <p:txBody>
          <a:bodyPr lIns="0" rIns="0" tIns="0" bIns="0" anchor="ctr">
            <a:noAutofit/>
          </a:bodyPr>
          <a:p>
            <a:pPr algn="ctr">
              <a:spcBef>
                <a:spcPts val="598"/>
              </a:spcBef>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endParaRPr b="1" lang="nl-BE" sz="2400" spc="-1" strike="noStrike">
              <a:solidFill>
                <a:srgbClr val="000000"/>
              </a:solidFill>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14" name="PlaceHolder 2"/>
          <p:cNvSpPr>
            <a:spLocks noGrp="1"/>
          </p:cNvSpPr>
          <p:nvPr>
            <p:ph type="body"/>
          </p:nvPr>
        </p:nvSpPr>
        <p:spPr>
          <a:xfrm>
            <a:off x="457200" y="1604520"/>
            <a:ext cx="8229240" cy="452592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16" name="PlaceHolder 2"/>
          <p:cNvSpPr>
            <a:spLocks noGrp="1"/>
          </p:cNvSpPr>
          <p:nvPr>
            <p:ph type="body"/>
          </p:nvPr>
        </p:nvSpPr>
        <p:spPr>
          <a:xfrm>
            <a:off x="457200" y="1604520"/>
            <a:ext cx="4015800" cy="452592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17" name="PlaceHolder 3"/>
          <p:cNvSpPr>
            <a:spLocks noGrp="1"/>
          </p:cNvSpPr>
          <p:nvPr>
            <p:ph type="body"/>
          </p:nvPr>
        </p:nvSpPr>
        <p:spPr>
          <a:xfrm>
            <a:off x="4674240" y="1604520"/>
            <a:ext cx="4015800" cy="452592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864720" y="442800"/>
            <a:ext cx="7954920" cy="5089320"/>
          </a:xfrm>
          <a:prstGeom prst="rect">
            <a:avLst/>
          </a:prstGeom>
        </p:spPr>
        <p:txBody>
          <a:bodyPr lIns="0" rIns="0" tIns="0" bIns="0" anchor="ctr">
            <a:noAutofit/>
          </a:bodyPr>
          <a:p>
            <a:pPr algn="ctr">
              <a:spcBef>
                <a:spcPts val="598"/>
              </a:spcBef>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endParaRPr b="1" lang="nl-BE" sz="2400" spc="-1" strike="noStrike">
              <a:solidFill>
                <a:srgbClr val="000000"/>
              </a:solidFill>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21" name="PlaceHolder 2"/>
          <p:cNvSpPr>
            <a:spLocks noGrp="1"/>
          </p:cNvSpPr>
          <p:nvPr>
            <p:ph type="body"/>
          </p:nvPr>
        </p:nvSpPr>
        <p:spPr>
          <a:xfrm>
            <a:off x="457200" y="160452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22" name="PlaceHolder 3"/>
          <p:cNvSpPr>
            <a:spLocks noGrp="1"/>
          </p:cNvSpPr>
          <p:nvPr>
            <p:ph type="body"/>
          </p:nvPr>
        </p:nvSpPr>
        <p:spPr>
          <a:xfrm>
            <a:off x="4674240" y="1604520"/>
            <a:ext cx="4015800" cy="452592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23" name="PlaceHolder 4"/>
          <p:cNvSpPr>
            <a:spLocks noGrp="1"/>
          </p:cNvSpPr>
          <p:nvPr>
            <p:ph type="body"/>
          </p:nvPr>
        </p:nvSpPr>
        <p:spPr>
          <a:xfrm>
            <a:off x="457200" y="396864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25" name="PlaceHolder 2"/>
          <p:cNvSpPr>
            <a:spLocks noGrp="1"/>
          </p:cNvSpPr>
          <p:nvPr>
            <p:ph type="body"/>
          </p:nvPr>
        </p:nvSpPr>
        <p:spPr>
          <a:xfrm>
            <a:off x="457200" y="1604520"/>
            <a:ext cx="4015800" cy="452592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26" name="PlaceHolder 3"/>
          <p:cNvSpPr>
            <a:spLocks noGrp="1"/>
          </p:cNvSpPr>
          <p:nvPr>
            <p:ph type="body"/>
          </p:nvPr>
        </p:nvSpPr>
        <p:spPr>
          <a:xfrm>
            <a:off x="4674240" y="160452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27" name="PlaceHolder 4"/>
          <p:cNvSpPr>
            <a:spLocks noGrp="1"/>
          </p:cNvSpPr>
          <p:nvPr>
            <p:ph type="body"/>
          </p:nvPr>
        </p:nvSpPr>
        <p:spPr>
          <a:xfrm>
            <a:off x="4674240" y="396864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29" name="PlaceHolder 2"/>
          <p:cNvSpPr>
            <a:spLocks noGrp="1"/>
          </p:cNvSpPr>
          <p:nvPr>
            <p:ph type="body"/>
          </p:nvPr>
        </p:nvSpPr>
        <p:spPr>
          <a:xfrm>
            <a:off x="457200" y="160452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30" name="PlaceHolder 3"/>
          <p:cNvSpPr>
            <a:spLocks noGrp="1"/>
          </p:cNvSpPr>
          <p:nvPr>
            <p:ph type="body"/>
          </p:nvPr>
        </p:nvSpPr>
        <p:spPr>
          <a:xfrm>
            <a:off x="4674240" y="160452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31" name="PlaceHolder 4"/>
          <p:cNvSpPr>
            <a:spLocks noGrp="1"/>
          </p:cNvSpPr>
          <p:nvPr>
            <p:ph type="body"/>
          </p:nvPr>
        </p:nvSpPr>
        <p:spPr>
          <a:xfrm>
            <a:off x="457200" y="3968640"/>
            <a:ext cx="8229240" cy="215856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33" name="PlaceHolder 2"/>
          <p:cNvSpPr>
            <a:spLocks noGrp="1"/>
          </p:cNvSpPr>
          <p:nvPr>
            <p:ph type="body"/>
          </p:nvPr>
        </p:nvSpPr>
        <p:spPr>
          <a:xfrm>
            <a:off x="457200" y="1604520"/>
            <a:ext cx="822924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34" name="PlaceHolder 3"/>
          <p:cNvSpPr>
            <a:spLocks noGrp="1"/>
          </p:cNvSpPr>
          <p:nvPr>
            <p:ph type="body"/>
          </p:nvPr>
        </p:nvSpPr>
        <p:spPr>
          <a:xfrm>
            <a:off x="457200" y="3968640"/>
            <a:ext cx="8229240" cy="215856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36" name="PlaceHolder 2"/>
          <p:cNvSpPr>
            <a:spLocks noGrp="1"/>
          </p:cNvSpPr>
          <p:nvPr>
            <p:ph type="body"/>
          </p:nvPr>
        </p:nvSpPr>
        <p:spPr>
          <a:xfrm>
            <a:off x="457200" y="160452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37" name="PlaceHolder 3"/>
          <p:cNvSpPr>
            <a:spLocks noGrp="1"/>
          </p:cNvSpPr>
          <p:nvPr>
            <p:ph type="body"/>
          </p:nvPr>
        </p:nvSpPr>
        <p:spPr>
          <a:xfrm>
            <a:off x="4674240" y="160452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38" name="PlaceHolder 4"/>
          <p:cNvSpPr>
            <a:spLocks noGrp="1"/>
          </p:cNvSpPr>
          <p:nvPr>
            <p:ph type="body"/>
          </p:nvPr>
        </p:nvSpPr>
        <p:spPr>
          <a:xfrm>
            <a:off x="457200" y="396864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39" name="PlaceHolder 5"/>
          <p:cNvSpPr>
            <a:spLocks noGrp="1"/>
          </p:cNvSpPr>
          <p:nvPr>
            <p:ph type="body"/>
          </p:nvPr>
        </p:nvSpPr>
        <p:spPr>
          <a:xfrm>
            <a:off x="4674240" y="3968640"/>
            <a:ext cx="4015800" cy="215856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864720" y="442800"/>
            <a:ext cx="7954920" cy="1097640"/>
          </a:xfrm>
          <a:prstGeom prst="rect">
            <a:avLst/>
          </a:prstGeom>
        </p:spPr>
        <p:txBody>
          <a:bodyPr lIns="0" rIns="0" tIns="0" bIns="0" anchor="ctr">
            <a:noAutofit/>
          </a:bodyPr>
          <a:p>
            <a:endParaRPr b="1" lang="nl-BE" sz="2800" spc="-1" strike="noStrike">
              <a:solidFill>
                <a:srgbClr val="000000"/>
              </a:solidFill>
              <a:latin typeface="Arial Narrow"/>
            </a:endParaRPr>
          </a:p>
        </p:txBody>
      </p:sp>
      <p:sp>
        <p:nvSpPr>
          <p:cNvPr id="41" name="PlaceHolder 2"/>
          <p:cNvSpPr>
            <a:spLocks noGrp="1"/>
          </p:cNvSpPr>
          <p:nvPr>
            <p:ph type="body"/>
          </p:nvPr>
        </p:nvSpPr>
        <p:spPr>
          <a:xfrm>
            <a:off x="457200" y="1604520"/>
            <a:ext cx="26496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42" name="PlaceHolder 3"/>
          <p:cNvSpPr>
            <a:spLocks noGrp="1"/>
          </p:cNvSpPr>
          <p:nvPr>
            <p:ph type="body"/>
          </p:nvPr>
        </p:nvSpPr>
        <p:spPr>
          <a:xfrm>
            <a:off x="3239640" y="1604520"/>
            <a:ext cx="26496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43" name="PlaceHolder 4"/>
          <p:cNvSpPr>
            <a:spLocks noGrp="1"/>
          </p:cNvSpPr>
          <p:nvPr>
            <p:ph type="body"/>
          </p:nvPr>
        </p:nvSpPr>
        <p:spPr>
          <a:xfrm>
            <a:off x="6022080" y="1604520"/>
            <a:ext cx="26496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44" name="PlaceHolder 5"/>
          <p:cNvSpPr>
            <a:spLocks noGrp="1"/>
          </p:cNvSpPr>
          <p:nvPr>
            <p:ph type="body"/>
          </p:nvPr>
        </p:nvSpPr>
        <p:spPr>
          <a:xfrm>
            <a:off x="457200" y="3968640"/>
            <a:ext cx="26496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45" name="PlaceHolder 6"/>
          <p:cNvSpPr>
            <a:spLocks noGrp="1"/>
          </p:cNvSpPr>
          <p:nvPr>
            <p:ph type="body"/>
          </p:nvPr>
        </p:nvSpPr>
        <p:spPr>
          <a:xfrm>
            <a:off x="3239640" y="3968640"/>
            <a:ext cx="2649600" cy="2158560"/>
          </a:xfrm>
          <a:prstGeom prst="rect">
            <a:avLst/>
          </a:prstGeom>
        </p:spPr>
        <p:txBody>
          <a:bodyPr lIns="0" rIns="0" tIns="0" bIns="0">
            <a:noAutofit/>
          </a:bodyPr>
          <a:p>
            <a:endParaRPr b="1" lang="nl-BE" sz="2400" spc="-1" strike="noStrike">
              <a:solidFill>
                <a:srgbClr val="000000"/>
              </a:solidFill>
              <a:latin typeface="Times New Roman"/>
            </a:endParaRPr>
          </a:p>
        </p:txBody>
      </p:sp>
      <p:sp>
        <p:nvSpPr>
          <p:cNvPr id="46" name="PlaceHolder 7"/>
          <p:cNvSpPr>
            <a:spLocks noGrp="1"/>
          </p:cNvSpPr>
          <p:nvPr>
            <p:ph type="body"/>
          </p:nvPr>
        </p:nvSpPr>
        <p:spPr>
          <a:xfrm>
            <a:off x="6022080" y="3968640"/>
            <a:ext cx="2649600" cy="2158560"/>
          </a:xfrm>
          <a:prstGeom prst="rect">
            <a:avLst/>
          </a:prstGeom>
        </p:spPr>
        <p:txBody>
          <a:bodyPr lIns="0" rIns="0" tIns="0" bIns="0">
            <a:noAutofit/>
          </a:bodyPr>
          <a:p>
            <a:endParaRPr b="1" lang="nl-BE" sz="2400" spc="-1" strike="noStrike">
              <a:solidFill>
                <a:srgbClr val="000000"/>
              </a:solidFill>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CustomShape 1"/>
          <p:cNvSpPr/>
          <p:nvPr/>
        </p:nvSpPr>
        <p:spPr>
          <a:xfrm>
            <a:off x="0" y="0"/>
            <a:ext cx="9142200" cy="6856200"/>
          </a:xfrm>
          <a:custGeom>
            <a:avLst/>
            <a:gdLst/>
            <a:ahLst/>
            <a:rect l="l" t="t" r="r" b="b"/>
            <a:pathLst>
              <a:path w="13487400" h="7581900">
                <a:moveTo>
                  <a:pt x="12083732" y="0"/>
                </a:moveTo>
                <a:lnTo>
                  <a:pt x="3320440" y="0"/>
                </a:lnTo>
                <a:lnTo>
                  <a:pt x="0" y="826719"/>
                </a:lnTo>
                <a:lnTo>
                  <a:pt x="0" y="4931460"/>
                </a:lnTo>
                <a:lnTo>
                  <a:pt x="702690" y="7581900"/>
                </a:lnTo>
                <a:lnTo>
                  <a:pt x="11045558" y="7581900"/>
                </a:lnTo>
                <a:lnTo>
                  <a:pt x="13487400" y="6973925"/>
                </a:lnTo>
                <a:lnTo>
                  <a:pt x="13487400" y="5294325"/>
                </a:lnTo>
                <a:lnTo>
                  <a:pt x="12083732" y="0"/>
                </a:lnTo>
                <a:close/>
              </a:path>
            </a:pathLst>
          </a:custGeom>
          <a:solidFill>
            <a:srgbClr val="ffffff"/>
          </a:solidFill>
          <a:ln>
            <a:noFill/>
          </a:ln>
        </p:spPr>
        <p:style>
          <a:lnRef idx="0"/>
          <a:fillRef idx="0"/>
          <a:effectRef idx="0"/>
          <a:fontRef idx="minor"/>
        </p:style>
      </p:sp>
      <p:pic>
        <p:nvPicPr>
          <p:cNvPr id="1" name="" descr=""/>
          <p:cNvPicPr/>
          <p:nvPr/>
        </p:nvPicPr>
        <p:blipFill>
          <a:blip r:embed="rId2"/>
          <a:stretch/>
        </p:blipFill>
        <p:spPr>
          <a:xfrm>
            <a:off x="1818720" y="6458400"/>
            <a:ext cx="303120" cy="227520"/>
          </a:xfrm>
          <a:prstGeom prst="rect">
            <a:avLst/>
          </a:prstGeom>
          <a:ln>
            <a:noFill/>
          </a:ln>
        </p:spPr>
      </p:pic>
      <p:sp>
        <p:nvSpPr>
          <p:cNvPr id="2" name="PlaceHolder 2"/>
          <p:cNvSpPr>
            <a:spLocks noGrp="1"/>
          </p:cNvSpPr>
          <p:nvPr>
            <p:ph type="title"/>
          </p:nvPr>
        </p:nvSpPr>
        <p:spPr>
          <a:xfrm>
            <a:off x="864720" y="442800"/>
            <a:ext cx="7954920" cy="1097640"/>
          </a:xfrm>
          <a:prstGeom prst="rect">
            <a:avLst/>
          </a:prstGeom>
        </p:spPr>
        <p:txBody>
          <a:bodyPr lIns="0" rIns="0" tIns="0" bIns="0" anchor="ctr">
            <a:noAutofit/>
          </a:bodyPr>
          <a:p>
            <a:r>
              <a:rPr b="1" lang="nl-BE" sz="2800" spc="-1" strike="noStrike">
                <a:solidFill>
                  <a:srgbClr val="000000"/>
                </a:solidFill>
                <a:latin typeface="Arial Narrow"/>
              </a:rPr>
              <a:t>Click to edit the title text format</a:t>
            </a:r>
            <a:endParaRPr b="1" lang="nl-BE" sz="2800" spc="-1" strike="noStrike">
              <a:solidFill>
                <a:srgbClr val="000000"/>
              </a:solidFill>
              <a:latin typeface="Arial Narrow"/>
            </a:endParaRPr>
          </a:p>
        </p:txBody>
      </p:sp>
      <p:sp>
        <p:nvSpPr>
          <p:cNvPr id="3" name="CustomShape 3"/>
          <p:cNvSpPr/>
          <p:nvPr/>
        </p:nvSpPr>
        <p:spPr>
          <a:xfrm>
            <a:off x="3545640" y="122400"/>
            <a:ext cx="4659480" cy="3250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46800" bIns="46800">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99"/>
                </a:solidFill>
                <a:latin typeface="Times New Roman"/>
              </a:rPr>
              <a:t>Proxy servers</a:t>
            </a:r>
            <a:endParaRPr b="0" lang="nl-BE" sz="1600" spc="-1" strike="noStrike">
              <a:solidFill>
                <a:srgbClr val="000000"/>
              </a:solidFill>
              <a:latin typeface="Times New Roman"/>
            </a:endParaRPr>
          </a:p>
        </p:txBody>
      </p:sp>
      <p:grpSp>
        <p:nvGrpSpPr>
          <p:cNvPr id="4" name="Group 4"/>
          <p:cNvGrpSpPr/>
          <p:nvPr/>
        </p:nvGrpSpPr>
        <p:grpSpPr>
          <a:xfrm>
            <a:off x="5072400" y="6451560"/>
            <a:ext cx="703440" cy="442440"/>
            <a:chOff x="5072400" y="6451560"/>
            <a:chExt cx="703440" cy="442440"/>
          </a:xfrm>
        </p:grpSpPr>
        <p:sp>
          <p:nvSpPr>
            <p:cNvPr id="5" name="CustomShape 5"/>
            <p:cNvSpPr/>
            <p:nvPr/>
          </p:nvSpPr>
          <p:spPr>
            <a:xfrm>
              <a:off x="5072400" y="6451560"/>
              <a:ext cx="703440" cy="442440"/>
            </a:xfrm>
            <a:custGeom>
              <a:avLst/>
              <a:gdLst/>
              <a:ahLst/>
              <a:rect l="0" t="0" r="r" b="b"/>
              <a:pathLst>
                <a:path w="1956" h="1231">
                  <a:moveTo>
                    <a:pt x="7" y="0"/>
                  </a:moveTo>
                  <a:lnTo>
                    <a:pt x="8" y="0"/>
                  </a:lnTo>
                  <a:cubicBezTo>
                    <a:pt x="7" y="0"/>
                    <a:pt x="5" y="0"/>
                    <a:pt x="4" y="1"/>
                  </a:cubicBezTo>
                  <a:cubicBezTo>
                    <a:pt x="3" y="2"/>
                    <a:pt x="2" y="3"/>
                    <a:pt x="1" y="4"/>
                  </a:cubicBezTo>
                  <a:cubicBezTo>
                    <a:pt x="0" y="5"/>
                    <a:pt x="0" y="7"/>
                    <a:pt x="0" y="8"/>
                  </a:cubicBezTo>
                  <a:lnTo>
                    <a:pt x="0" y="1222"/>
                  </a:lnTo>
                  <a:lnTo>
                    <a:pt x="0" y="1222"/>
                  </a:lnTo>
                  <a:cubicBezTo>
                    <a:pt x="0" y="1223"/>
                    <a:pt x="0" y="1225"/>
                    <a:pt x="1" y="1226"/>
                  </a:cubicBezTo>
                  <a:cubicBezTo>
                    <a:pt x="2" y="1227"/>
                    <a:pt x="3" y="1228"/>
                    <a:pt x="4" y="1229"/>
                  </a:cubicBezTo>
                  <a:cubicBezTo>
                    <a:pt x="5" y="1230"/>
                    <a:pt x="7" y="1230"/>
                    <a:pt x="8" y="1230"/>
                  </a:cubicBezTo>
                  <a:lnTo>
                    <a:pt x="1947" y="1230"/>
                  </a:lnTo>
                  <a:lnTo>
                    <a:pt x="1947" y="1230"/>
                  </a:lnTo>
                  <a:cubicBezTo>
                    <a:pt x="1948" y="1230"/>
                    <a:pt x="1950" y="1230"/>
                    <a:pt x="1951" y="1229"/>
                  </a:cubicBezTo>
                  <a:cubicBezTo>
                    <a:pt x="1952" y="1228"/>
                    <a:pt x="1953" y="1227"/>
                    <a:pt x="1954" y="1226"/>
                  </a:cubicBezTo>
                  <a:cubicBezTo>
                    <a:pt x="1955" y="1225"/>
                    <a:pt x="1955" y="1223"/>
                    <a:pt x="1955" y="1222"/>
                  </a:cubicBezTo>
                  <a:lnTo>
                    <a:pt x="1955" y="7"/>
                  </a:lnTo>
                  <a:lnTo>
                    <a:pt x="1955" y="8"/>
                  </a:lnTo>
                  <a:lnTo>
                    <a:pt x="1955" y="8"/>
                  </a:lnTo>
                  <a:cubicBezTo>
                    <a:pt x="1955" y="7"/>
                    <a:pt x="1955" y="5"/>
                    <a:pt x="1954" y="4"/>
                  </a:cubicBezTo>
                  <a:cubicBezTo>
                    <a:pt x="1953" y="3"/>
                    <a:pt x="1952" y="2"/>
                    <a:pt x="1951" y="1"/>
                  </a:cubicBezTo>
                  <a:cubicBezTo>
                    <a:pt x="1950" y="0"/>
                    <a:pt x="1948" y="0"/>
                    <a:pt x="1947" y="0"/>
                  </a:cubicBezTo>
                  <a:lnTo>
                    <a:pt x="7" y="0"/>
                  </a:lnTo>
                </a:path>
              </a:pathLst>
            </a:custGeom>
            <a:noFill/>
            <a:ln>
              <a:noFill/>
            </a:ln>
          </p:spPr>
          <p:style>
            <a:lnRef idx="0"/>
            <a:fillRef idx="0"/>
            <a:effectRef idx="0"/>
            <a:fontRef idx="minor"/>
          </p:style>
        </p:sp>
        <p:sp>
          <p:nvSpPr>
            <p:cNvPr id="6" name="CustomShape 6"/>
            <p:cNvSpPr/>
            <p:nvPr/>
          </p:nvSpPr>
          <p:spPr>
            <a:xfrm>
              <a:off x="5072400" y="6451560"/>
              <a:ext cx="703440" cy="3250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46800" bIns="46800">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172427C-A0EA-4198-8F1C-AD0CCE7E1A66}" type="slidenum">
                <a:rPr b="1" lang="en-GB" sz="1600" spc="-1" strike="noStrike">
                  <a:solidFill>
                    <a:srgbClr val="000080"/>
                  </a:solidFill>
                  <a:latin typeface="Times New Roman"/>
                </a:rPr>
                <a:t>&lt;number&gt;</a:t>
              </a:fld>
              <a:endParaRPr b="0" lang="nl-BE" sz="1600" spc="-1" strike="noStrike">
                <a:solidFill>
                  <a:srgbClr val="000000"/>
                </a:solidFill>
                <a:latin typeface="Times New Roman"/>
              </a:endParaRPr>
            </a:p>
          </p:txBody>
        </p:sp>
      </p:grpSp>
      <p:sp>
        <p:nvSpPr>
          <p:cNvPr id="7" name="PlaceHolder 7"/>
          <p:cNvSpPr>
            <a:spLocks noGrp="1"/>
          </p:cNvSpPr>
          <p:nvPr>
            <p:ph type="body"/>
          </p:nvPr>
        </p:nvSpPr>
        <p:spPr>
          <a:xfrm>
            <a:off x="457200" y="1604520"/>
            <a:ext cx="8229240" cy="4525920"/>
          </a:xfrm>
          <a:prstGeom prst="rect">
            <a:avLst/>
          </a:prstGeom>
        </p:spPr>
        <p:txBody>
          <a:bodyPr lIns="0" rIns="0" tIns="0" bIns="0">
            <a:noAutofit/>
          </a:bodyPr>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Click to edit the outline text format</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Second Outline Level</a:t>
            </a:r>
            <a:endParaRPr b="0" lang="nl-BE" sz="2400" spc="-1" strike="noStrike">
              <a:solidFill>
                <a:srgbClr val="000000"/>
              </a:solidFill>
              <a:latin typeface="Times New Roman"/>
            </a:endParaRPr>
          </a:p>
          <a:p>
            <a:pPr lvl="2" marL="1143000" indent="-228600">
              <a:spcBef>
                <a:spcPts val="499"/>
              </a:spcBef>
              <a:buClr>
                <a:srgbClr val="ccff00"/>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BE" sz="2000" spc="-1" strike="noStrike">
                <a:solidFill>
                  <a:srgbClr val="000000"/>
                </a:solidFill>
                <a:latin typeface="Times New Roman"/>
              </a:rPr>
              <a:t>Third Outline Level</a:t>
            </a:r>
            <a:endParaRPr b="0" lang="nl-BE" sz="2000" spc="-1" strike="noStrike">
              <a:solidFill>
                <a:srgbClr val="000000"/>
              </a:solidFill>
              <a:latin typeface="Times New Roman"/>
            </a:endParaRPr>
          </a:p>
          <a:p>
            <a:pPr lvl="3" marL="1600200" indent="-228600">
              <a:spcBef>
                <a:spcPts val="448"/>
              </a:spcBef>
              <a:buClr>
                <a:srgbClr val="ccff00"/>
              </a:buClr>
              <a:buFont typeface="Times New Roman"/>
              <a:buChar char="•"/>
              <a:tabLst>
                <a:tab algn="l" pos="196560"/>
                <a:tab algn="l" pos="645840"/>
                <a:tab algn="l" pos="1095120"/>
                <a:tab algn="l" pos="1544400"/>
                <a:tab algn="l" pos="1993680"/>
                <a:tab algn="l" pos="2442960"/>
                <a:tab algn="l" pos="2892240"/>
                <a:tab algn="l" pos="3341520"/>
                <a:tab algn="l" pos="3790800"/>
                <a:tab algn="l" pos="4240080"/>
                <a:tab algn="l" pos="4689360"/>
                <a:tab algn="l" pos="5138640"/>
                <a:tab algn="l" pos="5587920"/>
                <a:tab algn="l" pos="6037200"/>
                <a:tab algn="l" pos="6486480"/>
                <a:tab algn="l" pos="6935760"/>
                <a:tab algn="l" pos="7385040"/>
                <a:tab algn="l" pos="7833960"/>
                <a:tab algn="l" pos="8283240"/>
                <a:tab algn="l" pos="8732520"/>
              </a:tabLst>
            </a:pPr>
            <a:r>
              <a:rPr b="0" lang="nl-BE" sz="1800" spc="-1" strike="noStrike">
                <a:solidFill>
                  <a:srgbClr val="000000"/>
                </a:solidFill>
                <a:latin typeface="Times New Roman"/>
              </a:rPr>
              <a:t>Fourth Outline Level</a:t>
            </a:r>
            <a:endParaRPr b="0" lang="nl-BE" sz="1800" spc="-1" strike="noStrike">
              <a:solidFill>
                <a:srgbClr val="000000"/>
              </a:solidFill>
              <a:latin typeface="Times New Roman"/>
            </a:endParaRPr>
          </a:p>
          <a:p>
            <a:pPr lvl="4" marL="2057400" indent="-228600">
              <a:spcBef>
                <a:spcPts val="400"/>
              </a:spcBef>
              <a:buClr>
                <a:srgbClr val="ccff00"/>
              </a:buClr>
              <a:buFont typeface="Times New Roman"/>
              <a:buChar char="–"/>
              <a:tabLst>
                <a:tab algn="l" pos="188640"/>
                <a:tab algn="l" pos="637920"/>
                <a:tab algn="l" pos="1087200"/>
                <a:tab algn="l" pos="1536480"/>
                <a:tab algn="l" pos="1985760"/>
                <a:tab algn="l" pos="2435040"/>
                <a:tab algn="l" pos="2884320"/>
                <a:tab algn="l" pos="3333600"/>
                <a:tab algn="l" pos="3782880"/>
                <a:tab algn="l" pos="4232160"/>
                <a:tab algn="l" pos="4681440"/>
                <a:tab algn="l" pos="5130720"/>
                <a:tab algn="l" pos="5580000"/>
                <a:tab algn="l" pos="6029280"/>
                <a:tab algn="l" pos="6478560"/>
                <a:tab algn="l" pos="6927840"/>
                <a:tab algn="l" pos="7376760"/>
                <a:tab algn="l" pos="7826040"/>
                <a:tab algn="l" pos="8275320"/>
                <a:tab algn="l" pos="8724600"/>
              </a:tabLst>
            </a:pPr>
            <a:r>
              <a:rPr b="0" lang="nl-BE" sz="1600" spc="-1" strike="noStrike">
                <a:solidFill>
                  <a:srgbClr val="000000"/>
                </a:solidFill>
                <a:latin typeface="Times New Roman"/>
              </a:rPr>
              <a:t>Fifth Outline Level</a:t>
            </a:r>
            <a:endParaRPr b="0" lang="nl-BE" sz="1600" spc="-1" strike="noStrike">
              <a:solidFill>
                <a:srgbClr val="000000"/>
              </a:solidFill>
              <a:latin typeface="Times New Roman"/>
            </a:endParaRPr>
          </a:p>
          <a:p>
            <a:pPr lvl="5" marL="2057400" indent="-228600">
              <a:spcBef>
                <a:spcPts val="400"/>
              </a:spcBef>
              <a:buClr>
                <a:srgbClr val="ccff00"/>
              </a:buClr>
              <a:buFont typeface="Times New Roman"/>
              <a:buChar char="–"/>
              <a:tabLst>
                <a:tab algn="l" pos="188640"/>
                <a:tab algn="l" pos="637920"/>
                <a:tab algn="l" pos="1087200"/>
                <a:tab algn="l" pos="1536480"/>
                <a:tab algn="l" pos="1985760"/>
                <a:tab algn="l" pos="2435040"/>
                <a:tab algn="l" pos="2884320"/>
                <a:tab algn="l" pos="3333600"/>
                <a:tab algn="l" pos="3782880"/>
                <a:tab algn="l" pos="4232160"/>
                <a:tab algn="l" pos="4681440"/>
                <a:tab algn="l" pos="5130720"/>
                <a:tab algn="l" pos="5580000"/>
                <a:tab algn="l" pos="6029280"/>
                <a:tab algn="l" pos="6478560"/>
                <a:tab algn="l" pos="6927840"/>
                <a:tab algn="l" pos="7376760"/>
                <a:tab algn="l" pos="7826040"/>
                <a:tab algn="l" pos="8275320"/>
                <a:tab algn="l" pos="8724600"/>
              </a:tabLst>
            </a:pPr>
            <a:r>
              <a:rPr b="0" lang="nl-BE" sz="1600" spc="-1" strike="noStrike">
                <a:solidFill>
                  <a:srgbClr val="000000"/>
                </a:solidFill>
                <a:latin typeface="Times New Roman"/>
              </a:rPr>
              <a:t>Sixth Outline Level</a:t>
            </a:r>
            <a:endParaRPr b="0" lang="nl-BE" sz="1600" spc="-1" strike="noStrike">
              <a:solidFill>
                <a:srgbClr val="000000"/>
              </a:solidFill>
              <a:latin typeface="Times New Roman"/>
            </a:endParaRPr>
          </a:p>
          <a:p>
            <a:pPr lvl="6" marL="2057400" indent="-228600">
              <a:spcBef>
                <a:spcPts val="400"/>
              </a:spcBef>
              <a:buClr>
                <a:srgbClr val="ccff00"/>
              </a:buClr>
              <a:buFont typeface="Times New Roman"/>
              <a:buChar char="–"/>
              <a:tabLst>
                <a:tab algn="l" pos="188640"/>
                <a:tab algn="l" pos="637920"/>
                <a:tab algn="l" pos="1087200"/>
                <a:tab algn="l" pos="1536480"/>
                <a:tab algn="l" pos="1985760"/>
                <a:tab algn="l" pos="2435040"/>
                <a:tab algn="l" pos="2884320"/>
                <a:tab algn="l" pos="3333600"/>
                <a:tab algn="l" pos="3782880"/>
                <a:tab algn="l" pos="4232160"/>
                <a:tab algn="l" pos="4681440"/>
                <a:tab algn="l" pos="5130720"/>
                <a:tab algn="l" pos="5580000"/>
                <a:tab algn="l" pos="6029280"/>
                <a:tab algn="l" pos="6478560"/>
                <a:tab algn="l" pos="6927840"/>
                <a:tab algn="l" pos="7376760"/>
                <a:tab algn="l" pos="7826040"/>
                <a:tab algn="l" pos="8275320"/>
                <a:tab algn="l" pos="8724600"/>
              </a:tabLst>
            </a:pPr>
            <a:r>
              <a:rPr b="0" lang="nl-BE" sz="1600" spc="-1" strike="noStrike">
                <a:solidFill>
                  <a:srgbClr val="000000"/>
                </a:solidFill>
                <a:latin typeface="Times New Roman"/>
              </a:rPr>
              <a:t>Seventh Outline Level</a:t>
            </a:r>
            <a:endParaRPr b="0" lang="nl-BE" sz="1600" spc="-1" strike="noStrike">
              <a:solidFill>
                <a:srgbClr val="000000"/>
              </a:solidFill>
              <a:latin typeface="Times New Roman"/>
            </a:endParaRPr>
          </a:p>
          <a:p>
            <a:pPr lvl="7" marL="2057400" indent="-228600">
              <a:spcBef>
                <a:spcPts val="400"/>
              </a:spcBef>
              <a:buClr>
                <a:srgbClr val="ccff00"/>
              </a:buClr>
              <a:buFont typeface="Times New Roman"/>
              <a:buChar char="–"/>
              <a:tabLst>
                <a:tab algn="l" pos="188640"/>
                <a:tab algn="l" pos="637920"/>
                <a:tab algn="l" pos="1087200"/>
                <a:tab algn="l" pos="1536480"/>
                <a:tab algn="l" pos="1985760"/>
                <a:tab algn="l" pos="2435040"/>
                <a:tab algn="l" pos="2884320"/>
                <a:tab algn="l" pos="3333600"/>
                <a:tab algn="l" pos="3782880"/>
                <a:tab algn="l" pos="4232160"/>
                <a:tab algn="l" pos="4681440"/>
                <a:tab algn="l" pos="5130720"/>
                <a:tab algn="l" pos="5580000"/>
                <a:tab algn="l" pos="6029280"/>
                <a:tab algn="l" pos="6478560"/>
                <a:tab algn="l" pos="6927840"/>
                <a:tab algn="l" pos="7376760"/>
                <a:tab algn="l" pos="7826040"/>
                <a:tab algn="l" pos="8275320"/>
                <a:tab algn="l" pos="8724600"/>
              </a:tabLst>
            </a:pPr>
            <a:r>
              <a:rPr b="0" lang="nl-BE" sz="1600" spc="-1" strike="noStrike">
                <a:solidFill>
                  <a:srgbClr val="000000"/>
                </a:solidFill>
                <a:latin typeface="Times New Roman"/>
              </a:rPr>
              <a:t>Eighth Outline Level</a:t>
            </a:r>
            <a:endParaRPr b="0" lang="nl-BE" sz="1600" spc="-1" strike="noStrike">
              <a:solidFill>
                <a:srgbClr val="000000"/>
              </a:solidFill>
              <a:latin typeface="Times New Roman"/>
            </a:endParaRPr>
          </a:p>
          <a:p>
            <a:pPr lvl="8" marL="2057400" indent="-228600">
              <a:spcBef>
                <a:spcPts val="400"/>
              </a:spcBef>
              <a:buClr>
                <a:srgbClr val="ccff00"/>
              </a:buClr>
              <a:buFont typeface="Times New Roman"/>
              <a:buChar char="–"/>
              <a:tabLst>
                <a:tab algn="l" pos="188640"/>
                <a:tab algn="l" pos="637920"/>
                <a:tab algn="l" pos="1087200"/>
                <a:tab algn="l" pos="1536480"/>
                <a:tab algn="l" pos="1985760"/>
                <a:tab algn="l" pos="2435040"/>
                <a:tab algn="l" pos="2884320"/>
                <a:tab algn="l" pos="3333600"/>
                <a:tab algn="l" pos="3782880"/>
                <a:tab algn="l" pos="4232160"/>
                <a:tab algn="l" pos="4681440"/>
                <a:tab algn="l" pos="5130720"/>
                <a:tab algn="l" pos="5580000"/>
                <a:tab algn="l" pos="6029280"/>
                <a:tab algn="l" pos="6478560"/>
                <a:tab algn="l" pos="6927840"/>
                <a:tab algn="l" pos="7376760"/>
                <a:tab algn="l" pos="7826040"/>
                <a:tab algn="l" pos="8275320"/>
                <a:tab algn="l" pos="8724600"/>
              </a:tabLst>
            </a:pPr>
            <a:r>
              <a:rPr b="0" lang="nl-BE" sz="1600" spc="-1" strike="noStrike">
                <a:solidFill>
                  <a:srgbClr val="000000"/>
                </a:solidFill>
                <a:latin typeface="Times New Roman"/>
              </a:rPr>
              <a:t>Ninth Outline Level</a:t>
            </a:r>
            <a:endParaRPr b="0" lang="nl-BE" sz="1600" spc="-1" strike="noStrike">
              <a:solidFill>
                <a:srgbClr val="000000"/>
              </a:solidFill>
              <a:latin typeface="Times New Roman"/>
            </a:endParaRPr>
          </a:p>
        </p:txBody>
      </p:sp>
      <p:grpSp>
        <p:nvGrpSpPr>
          <p:cNvPr id="8" name="Group 8"/>
          <p:cNvGrpSpPr/>
          <p:nvPr/>
        </p:nvGrpSpPr>
        <p:grpSpPr>
          <a:xfrm>
            <a:off x="1349640" y="6399000"/>
            <a:ext cx="1395360" cy="344160"/>
            <a:chOff x="1349640" y="6399000"/>
            <a:chExt cx="1395360" cy="344160"/>
          </a:xfrm>
        </p:grpSpPr>
        <p:sp>
          <p:nvSpPr>
            <p:cNvPr id="9" name="CustomShape 9"/>
            <p:cNvSpPr/>
            <p:nvPr/>
          </p:nvSpPr>
          <p:spPr>
            <a:xfrm>
              <a:off x="1349640" y="6399000"/>
              <a:ext cx="1395360" cy="344160"/>
            </a:xfrm>
            <a:prstGeom prst="rect">
              <a:avLst/>
            </a:prstGeom>
            <a:solidFill>
              <a:srgbClr val="ffffff"/>
            </a:solidFill>
            <a:ln>
              <a:solidFill>
                <a:srgbClr val="ffffff"/>
              </a:solidFill>
            </a:ln>
          </p:spPr>
          <p:style>
            <a:lnRef idx="0"/>
            <a:fillRef idx="0"/>
            <a:effectRef idx="0"/>
            <a:fontRef idx="minor"/>
          </p:style>
        </p:sp>
        <p:pic>
          <p:nvPicPr>
            <p:cNvPr id="10" name="" descr=""/>
            <p:cNvPicPr/>
            <p:nvPr/>
          </p:nvPicPr>
          <p:blipFill>
            <a:blip r:embed="rId3"/>
            <a:stretch/>
          </p:blipFill>
          <p:spPr>
            <a:xfrm>
              <a:off x="1388880" y="6429600"/>
              <a:ext cx="1221480" cy="290160"/>
            </a:xfrm>
            <a:prstGeom prst="rect">
              <a:avLst/>
            </a:prstGeom>
            <a:ln>
              <a:noFill/>
            </a:ln>
          </p:spPr>
        </p:pic>
      </p:gr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TextShape 1"/>
          <p:cNvSpPr txBox="1"/>
          <p:nvPr/>
        </p:nvSpPr>
        <p:spPr>
          <a:xfrm>
            <a:off x="685800" y="2285640"/>
            <a:ext cx="7772400" cy="1143360"/>
          </a:xfrm>
          <a:prstGeom prst="rect">
            <a:avLst/>
          </a:prstGeom>
          <a:noFill/>
          <a:ln>
            <a:noFill/>
          </a:ln>
        </p:spPr>
        <p:txBody>
          <a:bodyPr lIns="90000" rIns="90000" tIns="57240" bIns="46800" anchor="ctr">
            <a:noAutofit/>
          </a:bodyPr>
          <a:p>
            <a:pPr algn="ct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Proxy servers</a:t>
            </a:r>
            <a:endParaRPr b="1" lang="nl-BE" sz="2800" spc="-1" strike="noStrike">
              <a:solidFill>
                <a:srgbClr val="000000"/>
              </a:solidFill>
              <a:latin typeface="Arial Narrow"/>
            </a:endParaRPr>
          </a:p>
        </p:txBody>
      </p:sp>
      <p:pic>
        <p:nvPicPr>
          <p:cNvPr id="48" name="" descr=""/>
          <p:cNvPicPr/>
          <p:nvPr/>
        </p:nvPicPr>
        <p:blipFill>
          <a:blip r:embed="rId1"/>
          <a:stretch/>
        </p:blipFill>
        <p:spPr>
          <a:xfrm>
            <a:off x="6843600" y="2562120"/>
            <a:ext cx="1778040" cy="1739880"/>
          </a:xfrm>
          <a:prstGeom prst="rect">
            <a:avLst/>
          </a:prstGeom>
          <a:ln>
            <a:noFill/>
          </a:ln>
        </p:spPr>
      </p:pic>
    </p:spTree>
  </p:cSld>
  <p:transition spd="slow">
    <p:comb dir="horz"/>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9"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Proxy</a:t>
            </a:r>
            <a:endParaRPr b="1" lang="nl-BE" sz="2800" spc="-1" strike="noStrike">
              <a:solidFill>
                <a:srgbClr val="000000"/>
              </a:solidFill>
              <a:latin typeface="Arial Narrow"/>
            </a:endParaRPr>
          </a:p>
        </p:txBody>
      </p:sp>
      <p:sp>
        <p:nvSpPr>
          <p:cNvPr id="50" name="TextShape 2"/>
          <p:cNvSpPr txBox="1"/>
          <p:nvPr/>
        </p:nvSpPr>
        <p:spPr>
          <a:xfrm>
            <a:off x="824040" y="1523520"/>
            <a:ext cx="7634160" cy="441972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fr-BE" sz="2400" spc="-1" strike="noStrike">
                <a:solidFill>
                  <a:srgbClr val="000000"/>
                </a:solidFill>
                <a:latin typeface="Times New Roman"/>
              </a:rPr>
              <a:t>Een </a:t>
            </a:r>
            <a:r>
              <a:rPr b="1" lang="en-GB" sz="2400" spc="-1" strike="noStrike">
                <a:solidFill>
                  <a:srgbClr val="000000"/>
                </a:solidFill>
                <a:latin typeface="Times New Roman"/>
              </a:rPr>
              <a:t>proxy server is een hulpje dat verschillende diensten voor jou kan uitvoeren op internet, zoals </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en-GB" sz="2400" spc="-1" strike="noStrike">
                <a:solidFill>
                  <a:srgbClr val="000000"/>
                </a:solidFill>
                <a:latin typeface="Times New Roman"/>
              </a:rPr>
              <a:t>HTTP </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en-GB" sz="2400" spc="-1" strike="noStrike">
                <a:solidFill>
                  <a:srgbClr val="000000"/>
                </a:solidFill>
                <a:latin typeface="Times New Roman"/>
              </a:rPr>
              <a:t>FTP</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en-GB" sz="2400" spc="-1" strike="noStrike">
                <a:solidFill>
                  <a:srgbClr val="000000"/>
                </a:solidFill>
                <a:latin typeface="Times New Roman"/>
              </a:rPr>
              <a:t>Telnet</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en-GB" sz="2400" spc="-1" strike="noStrike">
                <a:solidFill>
                  <a:srgbClr val="000000"/>
                </a:solidFill>
                <a:latin typeface="Times New Roman"/>
              </a:rPr>
              <a:t>Real Audio</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en-GB" sz="2400" spc="-1" strike="noStrike">
                <a:solidFill>
                  <a:srgbClr val="000000"/>
                </a:solidFill>
                <a:latin typeface="Times New Roman"/>
              </a:rPr>
              <a:t>DNS</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en-GB" sz="2400" spc="-1" strike="noStrike">
                <a:solidFill>
                  <a:srgbClr val="000000"/>
                </a:solidFill>
                <a:latin typeface="Times New Roman"/>
              </a:rPr>
              <a:t>SOCKS</a:t>
            </a:r>
            <a:endParaRPr b="0" lang="nl-BE" sz="2400" spc="-1" strike="noStrike">
              <a:solidFill>
                <a:srgbClr val="000000"/>
              </a:solidFill>
              <a:latin typeface="Times New Roman"/>
            </a:endParaRPr>
          </a:p>
          <a:p>
            <a:pPr marL="341280" indent="-341280">
              <a:lnSpc>
                <a:spcPct val="93000"/>
              </a:lnSpc>
              <a:spcBef>
                <a:spcPts val="598"/>
              </a:spcBef>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p:txBody>
      </p:sp>
      <p:pic>
        <p:nvPicPr>
          <p:cNvPr id="51" name="" descr=""/>
          <p:cNvPicPr/>
          <p:nvPr/>
        </p:nvPicPr>
        <p:blipFill>
          <a:blip r:embed="rId1"/>
          <a:stretch/>
        </p:blipFill>
        <p:spPr>
          <a:xfrm>
            <a:off x="3903840" y="2405160"/>
            <a:ext cx="3035160" cy="3035160"/>
          </a:xfrm>
          <a:prstGeom prst="rect">
            <a:avLst/>
          </a:prstGeom>
          <a:ln>
            <a:noFill/>
          </a:ln>
        </p:spPr>
      </p:pic>
    </p:spTree>
  </p:cSld>
  <p:transition spd="slow">
    <p:comb dir="horz"/>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2"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Werking</a:t>
            </a:r>
            <a:endParaRPr b="1" lang="nl-BE" sz="2800" spc="-1" strike="noStrike">
              <a:solidFill>
                <a:srgbClr val="000000"/>
              </a:solidFill>
              <a:latin typeface="Arial Narrow"/>
            </a:endParaRPr>
          </a:p>
        </p:txBody>
      </p:sp>
      <p:sp>
        <p:nvSpPr>
          <p:cNvPr id="53"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StarSymbol"/>
              <a:buAutoNum type="arabicParen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gebruiker stuurt een aanvraag naar het adres en de poort van de proxy</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StarSymbol"/>
              <a:buAutoNum type="arabicParen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proxy gaat namens de gebruiker het internet op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StarSymbol"/>
              <a:buAutoNum type="arabicParen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computer op internet stuurt een antwoord terug naar de proxy</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StarSymbol"/>
              <a:buAutoNum type="arabicParen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proxy maakt een nieuw antwoordpakket aan en stuurt dat door naar de gebruiker</a:t>
            </a:r>
            <a:br/>
            <a:r>
              <a:rPr b="1" lang="nl-NL" sz="2400" spc="-1" strike="noStrike">
                <a:solidFill>
                  <a:srgbClr val="000000"/>
                </a:solidFill>
                <a:latin typeface="Times New Roman"/>
              </a:rPr>
              <a:t> </a:t>
            </a:r>
            <a:endParaRPr b="1" lang="nl-BE" sz="2400" spc="-1" strike="noStrike">
              <a:solidFill>
                <a:srgbClr val="000000"/>
              </a:solidFill>
              <a:latin typeface="Times New Roman"/>
            </a:endParaRPr>
          </a:p>
          <a:p>
            <a:pPr marL="341280" indent="-341280">
              <a:lnSpc>
                <a:spcPct val="93000"/>
              </a:lnSpc>
              <a:spcBef>
                <a:spcPts val="598"/>
              </a:spcBef>
              <a:buClr>
                <a:srgbClr val="00cc99"/>
              </a:buClr>
              <a:buSzPct val="45000"/>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computer op internet communiceert enkel via de proxy met de gebruiker.</a:t>
            </a:r>
            <a:endParaRPr b="1" lang="nl-BE" sz="2400" spc="-1" strike="noStrike">
              <a:solidFill>
                <a:srgbClr val="000000"/>
              </a:solidFill>
              <a:latin typeface="Times New Roman"/>
            </a:endParaRPr>
          </a:p>
          <a:p>
            <a:pPr marL="341280" indent="-341280">
              <a:lnSpc>
                <a:spcPct val="93000"/>
              </a:lnSpc>
              <a:spcBef>
                <a:spcPts val="598"/>
              </a:spcBef>
              <a:buClr>
                <a:srgbClr val="00cc99"/>
              </a:buClr>
              <a:buSzPct val="45000"/>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Tijdens dit proces heeft de proxy de mogelijkheid om in toegangsregels of ACL's (Access Control Lists) na te gaan of een bepaalde actie geoorloofd is of niet.</a:t>
            </a:r>
            <a:endParaRPr b="1" lang="nl-BE" sz="2400" spc="-1" strike="noStrike">
              <a:solidFill>
                <a:srgbClr val="000000"/>
              </a:solidFill>
              <a:latin typeface="Times New Roman"/>
            </a:endParaRPr>
          </a:p>
        </p:txBody>
      </p:sp>
    </p:spTree>
  </p:cSld>
  <p:transition spd="slow">
    <p:comb dir="horz"/>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4"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Werking in schema</a:t>
            </a:r>
            <a:endParaRPr b="1" lang="nl-BE" sz="2800" spc="-1" strike="noStrike">
              <a:solidFill>
                <a:srgbClr val="000000"/>
              </a:solidFill>
              <a:latin typeface="Arial Narrow"/>
            </a:endParaRPr>
          </a:p>
        </p:txBody>
      </p:sp>
      <p:grpSp>
        <p:nvGrpSpPr>
          <p:cNvPr id="55" name="Group 2"/>
          <p:cNvGrpSpPr/>
          <p:nvPr/>
        </p:nvGrpSpPr>
        <p:grpSpPr>
          <a:xfrm>
            <a:off x="762120" y="2514600"/>
            <a:ext cx="7872120" cy="3061800"/>
            <a:chOff x="762120" y="2514600"/>
            <a:chExt cx="7872120" cy="3061800"/>
          </a:xfrm>
        </p:grpSpPr>
        <p:sp>
          <p:nvSpPr>
            <p:cNvPr id="56" name="CustomShape 3"/>
            <p:cNvSpPr/>
            <p:nvPr/>
          </p:nvSpPr>
          <p:spPr>
            <a:xfrm rot="10800000">
              <a:off x="1449360" y="3282480"/>
              <a:ext cx="6554880" cy="152640"/>
            </a:xfrm>
            <a:prstGeom prst="rect">
              <a:avLst/>
            </a:prstGeom>
            <a:solidFill>
              <a:srgbClr val="b2b2b2"/>
            </a:solidFill>
            <a:ln>
              <a:noFill/>
            </a:ln>
          </p:spPr>
          <p:style>
            <a:lnRef idx="0"/>
            <a:fillRef idx="0"/>
            <a:effectRef idx="0"/>
            <a:fontRef idx="minor"/>
          </p:style>
        </p:sp>
        <p:sp>
          <p:nvSpPr>
            <p:cNvPr id="57" name="CustomShape 4"/>
            <p:cNvSpPr/>
            <p:nvPr/>
          </p:nvSpPr>
          <p:spPr>
            <a:xfrm rot="18180000">
              <a:off x="1597680" y="3737520"/>
              <a:ext cx="1839960" cy="158760"/>
            </a:xfrm>
            <a:prstGeom prst="rect">
              <a:avLst/>
            </a:prstGeom>
            <a:solidFill>
              <a:srgbClr val="b2b2b2"/>
            </a:solidFill>
            <a:ln>
              <a:noFill/>
            </a:ln>
          </p:spPr>
          <p:style>
            <a:lnRef idx="0"/>
            <a:fillRef idx="0"/>
            <a:effectRef idx="0"/>
            <a:fontRef idx="minor"/>
          </p:style>
        </p:sp>
        <p:sp>
          <p:nvSpPr>
            <p:cNvPr id="58" name="CustomShape 5"/>
            <p:cNvSpPr/>
            <p:nvPr/>
          </p:nvSpPr>
          <p:spPr>
            <a:xfrm rot="16140000">
              <a:off x="2152440" y="3868200"/>
              <a:ext cx="1793880" cy="155520"/>
            </a:xfrm>
            <a:prstGeom prst="rect">
              <a:avLst/>
            </a:prstGeom>
            <a:solidFill>
              <a:srgbClr val="b2b2b2"/>
            </a:solidFill>
            <a:ln>
              <a:noFill/>
            </a:ln>
          </p:spPr>
          <p:style>
            <a:lnRef idx="0"/>
            <a:fillRef idx="0"/>
            <a:effectRef idx="0"/>
            <a:fontRef idx="minor"/>
          </p:style>
        </p:sp>
        <p:grpSp>
          <p:nvGrpSpPr>
            <p:cNvPr id="59" name="Group 6"/>
            <p:cNvGrpSpPr/>
            <p:nvPr/>
          </p:nvGrpSpPr>
          <p:grpSpPr>
            <a:xfrm>
              <a:off x="2286000" y="2666880"/>
              <a:ext cx="1523880" cy="1219320"/>
              <a:chOff x="2286000" y="2666880"/>
              <a:chExt cx="1523880" cy="1219320"/>
            </a:xfrm>
          </p:grpSpPr>
          <p:sp>
            <p:nvSpPr>
              <p:cNvPr id="60" name="CustomShape 7"/>
              <p:cNvSpPr/>
              <p:nvPr/>
            </p:nvSpPr>
            <p:spPr>
              <a:xfrm>
                <a:off x="2317680" y="2727360"/>
                <a:ext cx="1492200" cy="115884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000000"/>
                </a:solidFill>
                <a:round/>
              </a:ln>
            </p:spPr>
            <p:style>
              <a:lnRef idx="0"/>
              <a:fillRef idx="0"/>
              <a:effectRef idx="0"/>
              <a:fontRef idx="minor"/>
            </p:style>
          </p:sp>
          <p:sp>
            <p:nvSpPr>
              <p:cNvPr id="61" name="CustomShape 8"/>
              <p:cNvSpPr/>
              <p:nvPr/>
            </p:nvSpPr>
            <p:spPr>
              <a:xfrm>
                <a:off x="2286000" y="2666880"/>
                <a:ext cx="1492200" cy="115884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b2b2b2"/>
              </a:solidFill>
              <a:ln w="9360">
                <a:solidFill>
                  <a:srgbClr val="000000"/>
                </a:solidFill>
                <a:round/>
              </a:ln>
            </p:spPr>
            <p:style>
              <a:lnRef idx="0"/>
              <a:fillRef idx="0"/>
              <a:effectRef idx="0"/>
              <a:fontRef idx="minor"/>
            </p:style>
          </p:sp>
          <p:sp>
            <p:nvSpPr>
              <p:cNvPr id="62" name="CustomShape 9"/>
              <p:cNvSpPr/>
              <p:nvPr/>
            </p:nvSpPr>
            <p:spPr>
              <a:xfrm>
                <a:off x="2568600" y="2852640"/>
                <a:ext cx="83016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8040" bIns="46800">
                <a:spAutoFit/>
              </a:bodyPr>
              <a:p>
                <a:pPr algn="ctr">
                  <a:lnSpc>
                    <a:spcPct val="93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Times New Roman"/>
                  </a:rPr>
                  <a:t>LAN</a:t>
                </a:r>
                <a:endParaRPr b="0" lang="nl-BE" sz="2400" spc="-1" strike="noStrike">
                  <a:solidFill>
                    <a:srgbClr val="000000"/>
                  </a:solidFill>
                  <a:latin typeface="Times New Roman"/>
                </a:endParaRPr>
              </a:p>
            </p:txBody>
          </p:sp>
        </p:grpSp>
        <p:grpSp>
          <p:nvGrpSpPr>
            <p:cNvPr id="63" name="Group 10"/>
            <p:cNvGrpSpPr/>
            <p:nvPr/>
          </p:nvGrpSpPr>
          <p:grpSpPr>
            <a:xfrm>
              <a:off x="1447920" y="4114800"/>
              <a:ext cx="969840" cy="794880"/>
              <a:chOff x="1447920" y="4114800"/>
              <a:chExt cx="969840" cy="794880"/>
            </a:xfrm>
          </p:grpSpPr>
          <p:sp>
            <p:nvSpPr>
              <p:cNvPr id="64" name="CustomShape 11"/>
              <p:cNvSpPr/>
              <p:nvPr/>
            </p:nvSpPr>
            <p:spPr>
              <a:xfrm>
                <a:off x="1763640" y="4506840"/>
                <a:ext cx="368280" cy="76320"/>
              </a:xfrm>
              <a:custGeom>
                <a:avLst/>
                <a:gdLst/>
                <a:ahLst/>
                <a:rect l="0" t="0" r="r" b="b"/>
                <a:pathLst>
                  <a:path w="1025" h="213">
                    <a:moveTo>
                      <a:pt x="0" y="212"/>
                    </a:moveTo>
                    <a:lnTo>
                      <a:pt x="1024" y="212"/>
                    </a:lnTo>
                    <a:lnTo>
                      <a:pt x="931" y="0"/>
                    </a:lnTo>
                    <a:lnTo>
                      <a:pt x="92" y="0"/>
                    </a:lnTo>
                    <a:lnTo>
                      <a:pt x="0" y="21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sp>
            <p:nvSpPr>
              <p:cNvPr id="65" name="CustomShape 12"/>
              <p:cNvSpPr/>
              <p:nvPr/>
            </p:nvSpPr>
            <p:spPr>
              <a:xfrm>
                <a:off x="1679400" y="4114800"/>
                <a:ext cx="528840" cy="411120"/>
              </a:xfrm>
              <a:prstGeom prst="rect">
                <a:avLst/>
              </a:prstGeom>
              <a:gradFill rotWithShape="0">
                <a:gsLst>
                  <a:gs pos="0">
                    <a:srgbClr val="b2b2b2"/>
                  </a:gs>
                  <a:gs pos="100000">
                    <a:srgbClr val="464646"/>
                  </a:gs>
                </a:gsLst>
                <a:lin ang="10800000"/>
              </a:gradFill>
              <a:ln w="9360">
                <a:solidFill>
                  <a:srgbClr val="000000"/>
                </a:solidFill>
                <a:miter/>
              </a:ln>
            </p:spPr>
            <p:style>
              <a:lnRef idx="0"/>
              <a:fillRef idx="0"/>
              <a:effectRef idx="0"/>
              <a:fontRef idx="minor"/>
            </p:style>
          </p:sp>
          <p:sp>
            <p:nvSpPr>
              <p:cNvPr id="66" name="CustomShape 13"/>
              <p:cNvSpPr/>
              <p:nvPr/>
            </p:nvSpPr>
            <p:spPr>
              <a:xfrm>
                <a:off x="1738440" y="4160880"/>
                <a:ext cx="415800" cy="295200"/>
              </a:xfrm>
              <a:prstGeom prst="rect">
                <a:avLst/>
              </a:prstGeom>
              <a:solidFill>
                <a:srgbClr val="ffffff"/>
              </a:solidFill>
              <a:ln w="9360">
                <a:solidFill>
                  <a:srgbClr val="ffffff"/>
                </a:solidFill>
                <a:miter/>
              </a:ln>
            </p:spPr>
            <p:style>
              <a:lnRef idx="0"/>
              <a:fillRef idx="0"/>
              <a:effectRef idx="0"/>
              <a:fontRef idx="minor"/>
            </p:style>
          </p:sp>
          <p:sp>
            <p:nvSpPr>
              <p:cNvPr id="67" name="CustomShape 14"/>
              <p:cNvSpPr/>
              <p:nvPr/>
            </p:nvSpPr>
            <p:spPr>
              <a:xfrm>
                <a:off x="1757520" y="4176720"/>
                <a:ext cx="412560" cy="297000"/>
              </a:xfrm>
              <a:prstGeom prst="rect">
                <a:avLst/>
              </a:prstGeom>
              <a:gradFill rotWithShape="0">
                <a:gsLst>
                  <a:gs pos="0">
                    <a:srgbClr val="000000"/>
                  </a:gs>
                  <a:gs pos="100000">
                    <a:srgbClr val="b2b2b2"/>
                  </a:gs>
                </a:gsLst>
                <a:lin ang="10800000"/>
              </a:gradFill>
              <a:ln>
                <a:noFill/>
              </a:ln>
            </p:spPr>
            <p:style>
              <a:lnRef idx="0"/>
              <a:fillRef idx="0"/>
              <a:effectRef idx="0"/>
              <a:fontRef idx="minor"/>
            </p:style>
          </p:sp>
          <p:sp>
            <p:nvSpPr>
              <p:cNvPr id="68" name="CustomShape 15"/>
              <p:cNvSpPr/>
              <p:nvPr/>
            </p:nvSpPr>
            <p:spPr>
              <a:xfrm>
                <a:off x="1558800" y="4586400"/>
                <a:ext cx="763560" cy="2635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69" name="CustomShape 16"/>
              <p:cNvSpPr/>
              <p:nvPr/>
            </p:nvSpPr>
            <p:spPr>
              <a:xfrm>
                <a:off x="1447920" y="4798080"/>
                <a:ext cx="969840" cy="111240"/>
              </a:xfrm>
              <a:custGeom>
                <a:avLst/>
                <a:gdLst/>
                <a:ahLst/>
                <a:rect l="0" t="0" r="r" b="b"/>
                <a:pathLst>
                  <a:path w="2696" h="311">
                    <a:moveTo>
                      <a:pt x="0" y="310"/>
                    </a:moveTo>
                    <a:lnTo>
                      <a:pt x="2695" y="310"/>
                    </a:lnTo>
                    <a:lnTo>
                      <a:pt x="2021" y="0"/>
                    </a:lnTo>
                    <a:lnTo>
                      <a:pt x="673" y="0"/>
                    </a:lnTo>
                    <a:lnTo>
                      <a:pt x="0" y="310"/>
                    </a:lnTo>
                  </a:path>
                </a:pathLst>
              </a:custGeom>
              <a:gradFill rotWithShape="0">
                <a:gsLst>
                  <a:gs pos="0">
                    <a:srgbClr val="525252"/>
                  </a:gs>
                  <a:gs pos="50000">
                    <a:srgbClr val="b2b2b2"/>
                  </a:gs>
                  <a:gs pos="100000">
                    <a:srgbClr val="525252"/>
                  </a:gs>
                </a:gsLst>
                <a:lin ang="5400000"/>
              </a:gradFill>
              <a:ln w="9360">
                <a:solidFill>
                  <a:srgbClr val="000000"/>
                </a:solidFill>
                <a:miter/>
              </a:ln>
            </p:spPr>
            <p:style>
              <a:lnRef idx="0"/>
              <a:fillRef idx="0"/>
              <a:effectRef idx="0"/>
              <a:fontRef idx="minor"/>
            </p:style>
          </p:sp>
          <p:sp>
            <p:nvSpPr>
              <p:cNvPr id="70" name="CustomShape 17"/>
              <p:cNvSpPr/>
              <p:nvPr/>
            </p:nvSpPr>
            <p:spPr>
              <a:xfrm>
                <a:off x="1619280" y="4640400"/>
                <a:ext cx="36360" cy="126720"/>
              </a:xfrm>
              <a:prstGeom prst="rect">
                <a:avLst/>
              </a:prstGeom>
              <a:solidFill>
                <a:srgbClr val="808080"/>
              </a:solidFill>
              <a:ln w="9360">
                <a:solidFill>
                  <a:srgbClr val="000000"/>
                </a:solidFill>
                <a:miter/>
              </a:ln>
            </p:spPr>
            <p:style>
              <a:lnRef idx="0"/>
              <a:fillRef idx="0"/>
              <a:effectRef idx="0"/>
              <a:fontRef idx="minor"/>
            </p:style>
          </p:sp>
          <p:sp>
            <p:nvSpPr>
              <p:cNvPr id="71" name="CustomShape 18"/>
              <p:cNvSpPr/>
              <p:nvPr/>
            </p:nvSpPr>
            <p:spPr>
              <a:xfrm>
                <a:off x="1720800" y="4640400"/>
                <a:ext cx="36720" cy="126720"/>
              </a:xfrm>
              <a:prstGeom prst="rect">
                <a:avLst/>
              </a:prstGeom>
              <a:solidFill>
                <a:srgbClr val="808080"/>
              </a:solidFill>
              <a:ln w="9360">
                <a:solidFill>
                  <a:srgbClr val="000000"/>
                </a:solidFill>
                <a:miter/>
              </a:ln>
            </p:spPr>
            <p:style>
              <a:lnRef idx="0"/>
              <a:fillRef idx="0"/>
              <a:effectRef idx="0"/>
              <a:fontRef idx="minor"/>
            </p:style>
          </p:sp>
          <p:sp>
            <p:nvSpPr>
              <p:cNvPr id="72" name="CustomShape 19"/>
              <p:cNvSpPr/>
              <p:nvPr/>
            </p:nvSpPr>
            <p:spPr>
              <a:xfrm>
                <a:off x="1841400" y="4640400"/>
                <a:ext cx="36720" cy="126720"/>
              </a:xfrm>
              <a:prstGeom prst="rect">
                <a:avLst/>
              </a:prstGeom>
              <a:solidFill>
                <a:srgbClr val="808080"/>
              </a:solidFill>
              <a:ln w="9360">
                <a:solidFill>
                  <a:srgbClr val="000000"/>
                </a:solidFill>
                <a:miter/>
              </a:ln>
            </p:spPr>
            <p:style>
              <a:lnRef idx="0"/>
              <a:fillRef idx="0"/>
              <a:effectRef idx="0"/>
              <a:fontRef idx="minor"/>
            </p:style>
          </p:sp>
        </p:grpSp>
        <p:grpSp>
          <p:nvGrpSpPr>
            <p:cNvPr id="73" name="Group 20"/>
            <p:cNvGrpSpPr/>
            <p:nvPr/>
          </p:nvGrpSpPr>
          <p:grpSpPr>
            <a:xfrm>
              <a:off x="762120" y="2743200"/>
              <a:ext cx="969840" cy="794880"/>
              <a:chOff x="762120" y="2743200"/>
              <a:chExt cx="969840" cy="794880"/>
            </a:xfrm>
          </p:grpSpPr>
          <p:sp>
            <p:nvSpPr>
              <p:cNvPr id="74" name="CustomShape 21"/>
              <p:cNvSpPr/>
              <p:nvPr/>
            </p:nvSpPr>
            <p:spPr>
              <a:xfrm>
                <a:off x="1077840" y="3135240"/>
                <a:ext cx="368280" cy="76320"/>
              </a:xfrm>
              <a:custGeom>
                <a:avLst/>
                <a:gdLst/>
                <a:ahLst/>
                <a:rect l="0" t="0" r="r" b="b"/>
                <a:pathLst>
                  <a:path w="1025" h="213">
                    <a:moveTo>
                      <a:pt x="0" y="212"/>
                    </a:moveTo>
                    <a:lnTo>
                      <a:pt x="1024" y="212"/>
                    </a:lnTo>
                    <a:lnTo>
                      <a:pt x="931" y="0"/>
                    </a:lnTo>
                    <a:lnTo>
                      <a:pt x="92" y="0"/>
                    </a:lnTo>
                    <a:lnTo>
                      <a:pt x="0" y="21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sp>
            <p:nvSpPr>
              <p:cNvPr id="75" name="CustomShape 22"/>
              <p:cNvSpPr/>
              <p:nvPr/>
            </p:nvSpPr>
            <p:spPr>
              <a:xfrm>
                <a:off x="993600" y="2743200"/>
                <a:ext cx="528840" cy="411120"/>
              </a:xfrm>
              <a:prstGeom prst="rect">
                <a:avLst/>
              </a:prstGeom>
              <a:gradFill rotWithShape="0">
                <a:gsLst>
                  <a:gs pos="0">
                    <a:srgbClr val="b2b2b2"/>
                  </a:gs>
                  <a:gs pos="100000">
                    <a:srgbClr val="464646"/>
                  </a:gs>
                </a:gsLst>
                <a:lin ang="10800000"/>
              </a:gradFill>
              <a:ln w="9360">
                <a:solidFill>
                  <a:srgbClr val="000000"/>
                </a:solidFill>
                <a:miter/>
              </a:ln>
            </p:spPr>
            <p:style>
              <a:lnRef idx="0"/>
              <a:fillRef idx="0"/>
              <a:effectRef idx="0"/>
              <a:fontRef idx="minor"/>
            </p:style>
          </p:sp>
          <p:sp>
            <p:nvSpPr>
              <p:cNvPr id="76" name="CustomShape 23"/>
              <p:cNvSpPr/>
              <p:nvPr/>
            </p:nvSpPr>
            <p:spPr>
              <a:xfrm>
                <a:off x="1052640" y="2789280"/>
                <a:ext cx="415800" cy="295200"/>
              </a:xfrm>
              <a:prstGeom prst="rect">
                <a:avLst/>
              </a:prstGeom>
              <a:solidFill>
                <a:srgbClr val="ffffff"/>
              </a:solidFill>
              <a:ln w="9360">
                <a:solidFill>
                  <a:srgbClr val="ffffff"/>
                </a:solidFill>
                <a:miter/>
              </a:ln>
            </p:spPr>
            <p:style>
              <a:lnRef idx="0"/>
              <a:fillRef idx="0"/>
              <a:effectRef idx="0"/>
              <a:fontRef idx="minor"/>
            </p:style>
          </p:sp>
          <p:sp>
            <p:nvSpPr>
              <p:cNvPr id="77" name="CustomShape 24"/>
              <p:cNvSpPr/>
              <p:nvPr/>
            </p:nvSpPr>
            <p:spPr>
              <a:xfrm>
                <a:off x="1071720" y="2805120"/>
                <a:ext cx="412560" cy="297000"/>
              </a:xfrm>
              <a:prstGeom prst="rect">
                <a:avLst/>
              </a:prstGeom>
              <a:gradFill rotWithShape="0">
                <a:gsLst>
                  <a:gs pos="0">
                    <a:srgbClr val="000000"/>
                  </a:gs>
                  <a:gs pos="100000">
                    <a:srgbClr val="b2b2b2"/>
                  </a:gs>
                </a:gsLst>
                <a:lin ang="10800000"/>
              </a:gradFill>
              <a:ln>
                <a:noFill/>
              </a:ln>
            </p:spPr>
            <p:style>
              <a:lnRef idx="0"/>
              <a:fillRef idx="0"/>
              <a:effectRef idx="0"/>
              <a:fontRef idx="minor"/>
            </p:style>
          </p:sp>
          <p:sp>
            <p:nvSpPr>
              <p:cNvPr id="78" name="CustomShape 25"/>
              <p:cNvSpPr/>
              <p:nvPr/>
            </p:nvSpPr>
            <p:spPr>
              <a:xfrm>
                <a:off x="873000" y="3214800"/>
                <a:ext cx="763560" cy="2635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79" name="CustomShape 26"/>
              <p:cNvSpPr/>
              <p:nvPr/>
            </p:nvSpPr>
            <p:spPr>
              <a:xfrm>
                <a:off x="762120" y="3426480"/>
                <a:ext cx="969840" cy="111240"/>
              </a:xfrm>
              <a:custGeom>
                <a:avLst/>
                <a:gdLst/>
                <a:ahLst/>
                <a:rect l="0" t="0" r="r" b="b"/>
                <a:pathLst>
                  <a:path w="2696" h="311">
                    <a:moveTo>
                      <a:pt x="0" y="310"/>
                    </a:moveTo>
                    <a:lnTo>
                      <a:pt x="2695" y="310"/>
                    </a:lnTo>
                    <a:lnTo>
                      <a:pt x="2021" y="0"/>
                    </a:lnTo>
                    <a:lnTo>
                      <a:pt x="673" y="0"/>
                    </a:lnTo>
                    <a:lnTo>
                      <a:pt x="0" y="310"/>
                    </a:lnTo>
                  </a:path>
                </a:pathLst>
              </a:custGeom>
              <a:gradFill rotWithShape="0">
                <a:gsLst>
                  <a:gs pos="0">
                    <a:srgbClr val="525252"/>
                  </a:gs>
                  <a:gs pos="50000">
                    <a:srgbClr val="b2b2b2"/>
                  </a:gs>
                  <a:gs pos="100000">
                    <a:srgbClr val="525252"/>
                  </a:gs>
                </a:gsLst>
                <a:lin ang="5400000"/>
              </a:gradFill>
              <a:ln w="9360">
                <a:solidFill>
                  <a:srgbClr val="000000"/>
                </a:solidFill>
                <a:miter/>
              </a:ln>
            </p:spPr>
            <p:style>
              <a:lnRef idx="0"/>
              <a:fillRef idx="0"/>
              <a:effectRef idx="0"/>
              <a:fontRef idx="minor"/>
            </p:style>
          </p:sp>
          <p:sp>
            <p:nvSpPr>
              <p:cNvPr id="80" name="CustomShape 27"/>
              <p:cNvSpPr/>
              <p:nvPr/>
            </p:nvSpPr>
            <p:spPr>
              <a:xfrm>
                <a:off x="933480" y="3268800"/>
                <a:ext cx="36360" cy="126720"/>
              </a:xfrm>
              <a:prstGeom prst="rect">
                <a:avLst/>
              </a:prstGeom>
              <a:solidFill>
                <a:srgbClr val="808080"/>
              </a:solidFill>
              <a:ln w="9360">
                <a:solidFill>
                  <a:srgbClr val="000000"/>
                </a:solidFill>
                <a:miter/>
              </a:ln>
            </p:spPr>
            <p:style>
              <a:lnRef idx="0"/>
              <a:fillRef idx="0"/>
              <a:effectRef idx="0"/>
              <a:fontRef idx="minor"/>
            </p:style>
          </p:sp>
          <p:sp>
            <p:nvSpPr>
              <p:cNvPr id="81" name="CustomShape 28"/>
              <p:cNvSpPr/>
              <p:nvPr/>
            </p:nvSpPr>
            <p:spPr>
              <a:xfrm>
                <a:off x="1035000" y="3268800"/>
                <a:ext cx="36720" cy="126720"/>
              </a:xfrm>
              <a:prstGeom prst="rect">
                <a:avLst/>
              </a:prstGeom>
              <a:solidFill>
                <a:srgbClr val="808080"/>
              </a:solidFill>
              <a:ln w="9360">
                <a:solidFill>
                  <a:srgbClr val="000000"/>
                </a:solidFill>
                <a:miter/>
              </a:ln>
            </p:spPr>
            <p:style>
              <a:lnRef idx="0"/>
              <a:fillRef idx="0"/>
              <a:effectRef idx="0"/>
              <a:fontRef idx="minor"/>
            </p:style>
          </p:sp>
          <p:sp>
            <p:nvSpPr>
              <p:cNvPr id="82" name="CustomShape 29"/>
              <p:cNvSpPr/>
              <p:nvPr/>
            </p:nvSpPr>
            <p:spPr>
              <a:xfrm>
                <a:off x="1155600" y="3268800"/>
                <a:ext cx="36720" cy="126720"/>
              </a:xfrm>
              <a:prstGeom prst="rect">
                <a:avLst/>
              </a:prstGeom>
              <a:solidFill>
                <a:srgbClr val="808080"/>
              </a:solidFill>
              <a:ln w="9360">
                <a:solidFill>
                  <a:srgbClr val="000000"/>
                </a:solidFill>
                <a:miter/>
              </a:ln>
            </p:spPr>
            <p:style>
              <a:lnRef idx="0"/>
              <a:fillRef idx="0"/>
              <a:effectRef idx="0"/>
              <a:fontRef idx="minor"/>
            </p:style>
          </p:sp>
        </p:grpSp>
        <p:grpSp>
          <p:nvGrpSpPr>
            <p:cNvPr id="83" name="Group 30"/>
            <p:cNvGrpSpPr/>
            <p:nvPr/>
          </p:nvGrpSpPr>
          <p:grpSpPr>
            <a:xfrm>
              <a:off x="2666880" y="4267080"/>
              <a:ext cx="970200" cy="794880"/>
              <a:chOff x="2666880" y="4267080"/>
              <a:chExt cx="970200" cy="794880"/>
            </a:xfrm>
          </p:grpSpPr>
          <p:sp>
            <p:nvSpPr>
              <p:cNvPr id="84" name="CustomShape 31"/>
              <p:cNvSpPr/>
              <p:nvPr/>
            </p:nvSpPr>
            <p:spPr>
              <a:xfrm>
                <a:off x="2982960" y="4653720"/>
                <a:ext cx="368280" cy="75960"/>
              </a:xfrm>
              <a:custGeom>
                <a:avLst/>
                <a:gdLst/>
                <a:ahLst/>
                <a:rect l="0" t="0" r="r" b="b"/>
                <a:pathLst>
                  <a:path w="1025" h="213">
                    <a:moveTo>
                      <a:pt x="0" y="212"/>
                    </a:moveTo>
                    <a:lnTo>
                      <a:pt x="1024" y="212"/>
                    </a:lnTo>
                    <a:lnTo>
                      <a:pt x="931" y="0"/>
                    </a:lnTo>
                    <a:lnTo>
                      <a:pt x="92" y="0"/>
                    </a:lnTo>
                    <a:lnTo>
                      <a:pt x="0" y="21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sp>
            <p:nvSpPr>
              <p:cNvPr id="85" name="CustomShape 32"/>
              <p:cNvSpPr/>
              <p:nvPr/>
            </p:nvSpPr>
            <p:spPr>
              <a:xfrm>
                <a:off x="2898720" y="4267080"/>
                <a:ext cx="528840" cy="411120"/>
              </a:xfrm>
              <a:prstGeom prst="rect">
                <a:avLst/>
              </a:prstGeom>
              <a:gradFill rotWithShape="0">
                <a:gsLst>
                  <a:gs pos="0">
                    <a:srgbClr val="b2b2b2"/>
                  </a:gs>
                  <a:gs pos="100000">
                    <a:srgbClr val="464646"/>
                  </a:gs>
                </a:gsLst>
                <a:lin ang="10800000"/>
              </a:gradFill>
              <a:ln w="9360">
                <a:solidFill>
                  <a:srgbClr val="000000"/>
                </a:solidFill>
                <a:miter/>
              </a:ln>
            </p:spPr>
            <p:style>
              <a:lnRef idx="0"/>
              <a:fillRef idx="0"/>
              <a:effectRef idx="0"/>
              <a:fontRef idx="minor"/>
            </p:style>
          </p:sp>
          <p:sp>
            <p:nvSpPr>
              <p:cNvPr id="86" name="CustomShape 33"/>
              <p:cNvSpPr/>
              <p:nvPr/>
            </p:nvSpPr>
            <p:spPr>
              <a:xfrm>
                <a:off x="2957400" y="4313160"/>
                <a:ext cx="416160" cy="295200"/>
              </a:xfrm>
              <a:prstGeom prst="rect">
                <a:avLst/>
              </a:prstGeom>
              <a:solidFill>
                <a:srgbClr val="ffffff"/>
              </a:solidFill>
              <a:ln w="9360">
                <a:solidFill>
                  <a:srgbClr val="ffffff"/>
                </a:solidFill>
                <a:miter/>
              </a:ln>
            </p:spPr>
            <p:style>
              <a:lnRef idx="0"/>
              <a:fillRef idx="0"/>
              <a:effectRef idx="0"/>
              <a:fontRef idx="minor"/>
            </p:style>
          </p:sp>
          <p:sp>
            <p:nvSpPr>
              <p:cNvPr id="87" name="CustomShape 34"/>
              <p:cNvSpPr/>
              <p:nvPr/>
            </p:nvSpPr>
            <p:spPr>
              <a:xfrm>
                <a:off x="2976480" y="4329000"/>
                <a:ext cx="412920" cy="297000"/>
              </a:xfrm>
              <a:prstGeom prst="rect">
                <a:avLst/>
              </a:prstGeom>
              <a:gradFill rotWithShape="0">
                <a:gsLst>
                  <a:gs pos="0">
                    <a:srgbClr val="000000"/>
                  </a:gs>
                  <a:gs pos="100000">
                    <a:srgbClr val="b2b2b2"/>
                  </a:gs>
                </a:gsLst>
                <a:lin ang="10800000"/>
              </a:gradFill>
              <a:ln>
                <a:noFill/>
              </a:ln>
            </p:spPr>
            <p:style>
              <a:lnRef idx="0"/>
              <a:fillRef idx="0"/>
              <a:effectRef idx="0"/>
              <a:fontRef idx="minor"/>
            </p:style>
          </p:sp>
          <p:sp>
            <p:nvSpPr>
              <p:cNvPr id="88" name="CustomShape 35"/>
              <p:cNvSpPr/>
              <p:nvPr/>
            </p:nvSpPr>
            <p:spPr>
              <a:xfrm>
                <a:off x="2778120" y="4738680"/>
                <a:ext cx="763560" cy="2635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89" name="CustomShape 36"/>
              <p:cNvSpPr/>
              <p:nvPr/>
            </p:nvSpPr>
            <p:spPr>
              <a:xfrm>
                <a:off x="2666880" y="4950360"/>
                <a:ext cx="970200" cy="111240"/>
              </a:xfrm>
              <a:custGeom>
                <a:avLst/>
                <a:gdLst/>
                <a:ahLst/>
                <a:rect l="0" t="0" r="r" b="b"/>
                <a:pathLst>
                  <a:path w="2697" h="311">
                    <a:moveTo>
                      <a:pt x="0" y="310"/>
                    </a:moveTo>
                    <a:lnTo>
                      <a:pt x="2696" y="310"/>
                    </a:lnTo>
                    <a:lnTo>
                      <a:pt x="2022" y="0"/>
                    </a:lnTo>
                    <a:lnTo>
                      <a:pt x="674" y="0"/>
                    </a:lnTo>
                    <a:lnTo>
                      <a:pt x="0" y="310"/>
                    </a:lnTo>
                  </a:path>
                </a:pathLst>
              </a:custGeom>
              <a:gradFill rotWithShape="0">
                <a:gsLst>
                  <a:gs pos="0">
                    <a:srgbClr val="525252"/>
                  </a:gs>
                  <a:gs pos="50000">
                    <a:srgbClr val="b2b2b2"/>
                  </a:gs>
                  <a:gs pos="100000">
                    <a:srgbClr val="525252"/>
                  </a:gs>
                </a:gsLst>
                <a:lin ang="5400000"/>
              </a:gradFill>
              <a:ln w="9360">
                <a:solidFill>
                  <a:srgbClr val="000000"/>
                </a:solidFill>
                <a:miter/>
              </a:ln>
            </p:spPr>
            <p:style>
              <a:lnRef idx="0"/>
              <a:fillRef idx="0"/>
              <a:effectRef idx="0"/>
              <a:fontRef idx="minor"/>
            </p:style>
          </p:sp>
          <p:sp>
            <p:nvSpPr>
              <p:cNvPr id="90" name="CustomShape 37"/>
              <p:cNvSpPr/>
              <p:nvPr/>
            </p:nvSpPr>
            <p:spPr>
              <a:xfrm>
                <a:off x="2838600" y="4792680"/>
                <a:ext cx="36360" cy="127080"/>
              </a:xfrm>
              <a:prstGeom prst="rect">
                <a:avLst/>
              </a:prstGeom>
              <a:solidFill>
                <a:srgbClr val="808080"/>
              </a:solidFill>
              <a:ln w="9360">
                <a:solidFill>
                  <a:srgbClr val="000000"/>
                </a:solidFill>
                <a:miter/>
              </a:ln>
            </p:spPr>
            <p:style>
              <a:lnRef idx="0"/>
              <a:fillRef idx="0"/>
              <a:effectRef idx="0"/>
              <a:fontRef idx="minor"/>
            </p:style>
          </p:sp>
          <p:sp>
            <p:nvSpPr>
              <p:cNvPr id="91" name="CustomShape 38"/>
              <p:cNvSpPr/>
              <p:nvPr/>
            </p:nvSpPr>
            <p:spPr>
              <a:xfrm>
                <a:off x="2940120" y="4792680"/>
                <a:ext cx="36360" cy="127080"/>
              </a:xfrm>
              <a:prstGeom prst="rect">
                <a:avLst/>
              </a:prstGeom>
              <a:solidFill>
                <a:srgbClr val="808080"/>
              </a:solidFill>
              <a:ln w="9360">
                <a:solidFill>
                  <a:srgbClr val="000000"/>
                </a:solidFill>
                <a:miter/>
              </a:ln>
            </p:spPr>
            <p:style>
              <a:lnRef idx="0"/>
              <a:fillRef idx="0"/>
              <a:effectRef idx="0"/>
              <a:fontRef idx="minor"/>
            </p:style>
          </p:sp>
          <p:sp>
            <p:nvSpPr>
              <p:cNvPr id="92" name="CustomShape 39"/>
              <p:cNvSpPr/>
              <p:nvPr/>
            </p:nvSpPr>
            <p:spPr>
              <a:xfrm>
                <a:off x="3060720" y="4792680"/>
                <a:ext cx="36360" cy="127080"/>
              </a:xfrm>
              <a:prstGeom prst="rect">
                <a:avLst/>
              </a:prstGeom>
              <a:solidFill>
                <a:srgbClr val="808080"/>
              </a:solidFill>
              <a:ln w="9360">
                <a:solidFill>
                  <a:srgbClr val="000000"/>
                </a:solidFill>
                <a:miter/>
              </a:ln>
            </p:spPr>
            <p:style>
              <a:lnRef idx="0"/>
              <a:fillRef idx="0"/>
              <a:effectRef idx="0"/>
              <a:fontRef idx="minor"/>
            </p:style>
          </p:sp>
        </p:grpSp>
        <p:grpSp>
          <p:nvGrpSpPr>
            <p:cNvPr id="93" name="Group 40"/>
            <p:cNvGrpSpPr/>
            <p:nvPr/>
          </p:nvGrpSpPr>
          <p:grpSpPr>
            <a:xfrm>
              <a:off x="4572000" y="2664000"/>
              <a:ext cx="523800" cy="1166760"/>
              <a:chOff x="4572000" y="2664000"/>
              <a:chExt cx="523800" cy="1166760"/>
            </a:xfrm>
          </p:grpSpPr>
          <p:grpSp>
            <p:nvGrpSpPr>
              <p:cNvPr id="94" name="Group 41"/>
              <p:cNvGrpSpPr/>
              <p:nvPr/>
            </p:nvGrpSpPr>
            <p:grpSpPr>
              <a:xfrm>
                <a:off x="4665600" y="2664000"/>
                <a:ext cx="347760" cy="1166760"/>
                <a:chOff x="4665600" y="2664000"/>
                <a:chExt cx="347760" cy="1166760"/>
              </a:xfrm>
            </p:grpSpPr>
            <p:sp>
              <p:nvSpPr>
                <p:cNvPr id="95" name="CustomShape 42"/>
                <p:cNvSpPr/>
                <p:nvPr/>
              </p:nvSpPr>
              <p:spPr>
                <a:xfrm rot="5400000">
                  <a:off x="4255920" y="3073320"/>
                  <a:ext cx="1166760" cy="34776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96" name="CustomShape 43"/>
                <p:cNvSpPr/>
                <p:nvPr/>
              </p:nvSpPr>
              <p:spPr>
                <a:xfrm rot="5400000">
                  <a:off x="4830120" y="2703240"/>
                  <a:ext cx="55440" cy="166680"/>
                </a:xfrm>
                <a:prstGeom prst="rect">
                  <a:avLst/>
                </a:prstGeom>
                <a:solidFill>
                  <a:srgbClr val="808080"/>
                </a:solidFill>
                <a:ln w="9360">
                  <a:solidFill>
                    <a:srgbClr val="000000"/>
                  </a:solidFill>
                  <a:miter/>
                </a:ln>
              </p:spPr>
              <p:style>
                <a:lnRef idx="0"/>
                <a:fillRef idx="0"/>
                <a:effectRef idx="0"/>
                <a:fontRef idx="minor"/>
              </p:style>
            </p:sp>
            <p:sp>
              <p:nvSpPr>
                <p:cNvPr id="97" name="CustomShape 44"/>
                <p:cNvSpPr/>
                <p:nvPr/>
              </p:nvSpPr>
              <p:spPr>
                <a:xfrm rot="5400000">
                  <a:off x="4828320" y="2857320"/>
                  <a:ext cx="59040" cy="166680"/>
                </a:xfrm>
                <a:prstGeom prst="rect">
                  <a:avLst/>
                </a:prstGeom>
                <a:solidFill>
                  <a:srgbClr val="808080"/>
                </a:solidFill>
                <a:ln w="9360">
                  <a:solidFill>
                    <a:srgbClr val="000000"/>
                  </a:solidFill>
                  <a:miter/>
                </a:ln>
              </p:spPr>
              <p:style>
                <a:lnRef idx="0"/>
                <a:fillRef idx="0"/>
                <a:effectRef idx="0"/>
                <a:fontRef idx="minor"/>
              </p:style>
            </p:sp>
            <p:sp>
              <p:nvSpPr>
                <p:cNvPr id="98" name="CustomShape 45"/>
                <p:cNvSpPr/>
                <p:nvPr/>
              </p:nvSpPr>
              <p:spPr>
                <a:xfrm rot="5400000">
                  <a:off x="4830120" y="3039840"/>
                  <a:ext cx="55440" cy="166680"/>
                </a:xfrm>
                <a:prstGeom prst="rect">
                  <a:avLst/>
                </a:prstGeom>
                <a:solidFill>
                  <a:srgbClr val="808080"/>
                </a:solidFill>
                <a:ln w="9360">
                  <a:solidFill>
                    <a:srgbClr val="000000"/>
                  </a:solidFill>
                  <a:miter/>
                </a:ln>
              </p:spPr>
              <p:style>
                <a:lnRef idx="0"/>
                <a:fillRef idx="0"/>
                <a:effectRef idx="0"/>
                <a:fontRef idx="minor"/>
              </p:style>
            </p:sp>
          </p:grpSp>
          <p:sp>
            <p:nvSpPr>
              <p:cNvPr id="99" name="CustomShape 46"/>
              <p:cNvSpPr/>
              <p:nvPr/>
            </p:nvSpPr>
            <p:spPr>
              <a:xfrm>
                <a:off x="4572000" y="3707280"/>
                <a:ext cx="523800" cy="93960"/>
              </a:xfrm>
              <a:custGeom>
                <a:avLst/>
                <a:gdLst/>
                <a:ahLst/>
                <a:rect l="0" t="0" r="r" b="b"/>
                <a:pathLst>
                  <a:path w="1456" h="263">
                    <a:moveTo>
                      <a:pt x="0" y="262"/>
                    </a:moveTo>
                    <a:lnTo>
                      <a:pt x="1455" y="262"/>
                    </a:lnTo>
                    <a:lnTo>
                      <a:pt x="1324" y="0"/>
                    </a:lnTo>
                    <a:lnTo>
                      <a:pt x="131" y="0"/>
                    </a:lnTo>
                    <a:lnTo>
                      <a:pt x="0" y="26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grpSp>
          <p:nvGrpSpPr>
            <p:cNvPr id="100" name="Group 47"/>
            <p:cNvGrpSpPr/>
            <p:nvPr/>
          </p:nvGrpSpPr>
          <p:grpSpPr>
            <a:xfrm>
              <a:off x="7848720" y="2664000"/>
              <a:ext cx="523800" cy="1166760"/>
              <a:chOff x="7848720" y="2664000"/>
              <a:chExt cx="523800" cy="1166760"/>
            </a:xfrm>
          </p:grpSpPr>
          <p:grpSp>
            <p:nvGrpSpPr>
              <p:cNvPr id="101" name="Group 48"/>
              <p:cNvGrpSpPr/>
              <p:nvPr/>
            </p:nvGrpSpPr>
            <p:grpSpPr>
              <a:xfrm>
                <a:off x="7942320" y="2664000"/>
                <a:ext cx="347760" cy="1166760"/>
                <a:chOff x="7942320" y="2664000"/>
                <a:chExt cx="347760" cy="1166760"/>
              </a:xfrm>
            </p:grpSpPr>
            <p:sp>
              <p:nvSpPr>
                <p:cNvPr id="102" name="CustomShape 49"/>
                <p:cNvSpPr/>
                <p:nvPr/>
              </p:nvSpPr>
              <p:spPr>
                <a:xfrm rot="5400000">
                  <a:off x="7532640" y="3073320"/>
                  <a:ext cx="1166760" cy="34776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03" name="CustomShape 50"/>
                <p:cNvSpPr/>
                <p:nvPr/>
              </p:nvSpPr>
              <p:spPr>
                <a:xfrm rot="5400000">
                  <a:off x="8106840" y="2703240"/>
                  <a:ext cx="55440" cy="166680"/>
                </a:xfrm>
                <a:prstGeom prst="rect">
                  <a:avLst/>
                </a:prstGeom>
                <a:solidFill>
                  <a:srgbClr val="808080"/>
                </a:solidFill>
                <a:ln w="9360">
                  <a:solidFill>
                    <a:srgbClr val="000000"/>
                  </a:solidFill>
                  <a:miter/>
                </a:ln>
              </p:spPr>
              <p:style>
                <a:lnRef idx="0"/>
                <a:fillRef idx="0"/>
                <a:effectRef idx="0"/>
                <a:fontRef idx="minor"/>
              </p:style>
            </p:sp>
            <p:sp>
              <p:nvSpPr>
                <p:cNvPr id="104" name="CustomShape 51"/>
                <p:cNvSpPr/>
                <p:nvPr/>
              </p:nvSpPr>
              <p:spPr>
                <a:xfrm rot="5400000">
                  <a:off x="8105040" y="2857320"/>
                  <a:ext cx="59040" cy="166680"/>
                </a:xfrm>
                <a:prstGeom prst="rect">
                  <a:avLst/>
                </a:prstGeom>
                <a:solidFill>
                  <a:srgbClr val="808080"/>
                </a:solidFill>
                <a:ln w="9360">
                  <a:solidFill>
                    <a:srgbClr val="000000"/>
                  </a:solidFill>
                  <a:miter/>
                </a:ln>
              </p:spPr>
              <p:style>
                <a:lnRef idx="0"/>
                <a:fillRef idx="0"/>
                <a:effectRef idx="0"/>
                <a:fontRef idx="minor"/>
              </p:style>
            </p:sp>
            <p:sp>
              <p:nvSpPr>
                <p:cNvPr id="105" name="CustomShape 52"/>
                <p:cNvSpPr/>
                <p:nvPr/>
              </p:nvSpPr>
              <p:spPr>
                <a:xfrm rot="5400000">
                  <a:off x="8106840" y="3039840"/>
                  <a:ext cx="55440" cy="166680"/>
                </a:xfrm>
                <a:prstGeom prst="rect">
                  <a:avLst/>
                </a:prstGeom>
                <a:solidFill>
                  <a:srgbClr val="808080"/>
                </a:solidFill>
                <a:ln w="9360">
                  <a:solidFill>
                    <a:srgbClr val="000000"/>
                  </a:solidFill>
                  <a:miter/>
                </a:ln>
              </p:spPr>
              <p:style>
                <a:lnRef idx="0"/>
                <a:fillRef idx="0"/>
                <a:effectRef idx="0"/>
                <a:fontRef idx="minor"/>
              </p:style>
            </p:sp>
          </p:grpSp>
          <p:sp>
            <p:nvSpPr>
              <p:cNvPr id="106" name="CustomShape 53"/>
              <p:cNvSpPr/>
              <p:nvPr/>
            </p:nvSpPr>
            <p:spPr>
              <a:xfrm>
                <a:off x="7848720" y="3707280"/>
                <a:ext cx="523800" cy="93960"/>
              </a:xfrm>
              <a:custGeom>
                <a:avLst/>
                <a:gdLst/>
                <a:ahLst/>
                <a:rect l="0" t="0" r="r" b="b"/>
                <a:pathLst>
                  <a:path w="1456" h="263">
                    <a:moveTo>
                      <a:pt x="0" y="262"/>
                    </a:moveTo>
                    <a:lnTo>
                      <a:pt x="1455" y="262"/>
                    </a:lnTo>
                    <a:lnTo>
                      <a:pt x="1324" y="0"/>
                    </a:lnTo>
                    <a:lnTo>
                      <a:pt x="131" y="0"/>
                    </a:lnTo>
                    <a:lnTo>
                      <a:pt x="0" y="26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sp>
          <p:nvSpPr>
            <p:cNvPr id="107" name="CustomShape 54"/>
            <p:cNvSpPr/>
            <p:nvPr/>
          </p:nvSpPr>
          <p:spPr>
            <a:xfrm>
              <a:off x="1600200" y="5181480"/>
              <a:ext cx="872640" cy="39492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44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2000" spc="-1" strike="noStrike">
                  <a:solidFill>
                    <a:srgbClr val="000000"/>
                  </a:solidFill>
                  <a:latin typeface="Times New Roman"/>
                </a:rPr>
                <a:t>client</a:t>
              </a:r>
              <a:r>
                <a:rPr b="1" lang="fr-BE" sz="2000" spc="-1" strike="noStrike">
                  <a:solidFill>
                    <a:srgbClr val="000000"/>
                  </a:solidFill>
                  <a:latin typeface="Times New Roman"/>
                </a:rPr>
                <a:t>s</a:t>
              </a:r>
              <a:endParaRPr b="0" lang="nl-BE" sz="2000" spc="-1" strike="noStrike">
                <a:solidFill>
                  <a:srgbClr val="000000"/>
                </a:solidFill>
                <a:latin typeface="Times New Roman"/>
              </a:endParaRPr>
            </a:p>
          </p:txBody>
        </p:sp>
        <p:sp>
          <p:nvSpPr>
            <p:cNvPr id="108" name="CustomShape 55"/>
            <p:cNvSpPr/>
            <p:nvPr/>
          </p:nvSpPr>
          <p:spPr>
            <a:xfrm>
              <a:off x="7697520" y="4038480"/>
              <a:ext cx="936720" cy="6782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44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HTTP </a:t>
              </a:r>
              <a:br/>
              <a:r>
                <a:rPr b="1" lang="nl-NL" sz="2000" spc="-1" strike="noStrike">
                  <a:solidFill>
                    <a:srgbClr val="000000"/>
                  </a:solidFill>
                  <a:latin typeface="Times New Roman"/>
                </a:rPr>
                <a:t>Server</a:t>
              </a:r>
              <a:endParaRPr b="0" lang="nl-BE" sz="2000" spc="-1" strike="noStrike">
                <a:solidFill>
                  <a:srgbClr val="000000"/>
                </a:solidFill>
                <a:latin typeface="Times New Roman"/>
              </a:endParaRPr>
            </a:p>
          </p:txBody>
        </p:sp>
        <p:grpSp>
          <p:nvGrpSpPr>
            <p:cNvPr id="109" name="Group 56"/>
            <p:cNvGrpSpPr/>
            <p:nvPr/>
          </p:nvGrpSpPr>
          <p:grpSpPr>
            <a:xfrm>
              <a:off x="5638680" y="2514600"/>
              <a:ext cx="1679760" cy="1295280"/>
              <a:chOff x="5638680" y="2514600"/>
              <a:chExt cx="1679760" cy="1295280"/>
            </a:xfrm>
          </p:grpSpPr>
          <p:sp>
            <p:nvSpPr>
              <p:cNvPr id="110" name="CustomShape 57"/>
              <p:cNvSpPr/>
              <p:nvPr/>
            </p:nvSpPr>
            <p:spPr>
              <a:xfrm>
                <a:off x="5673600" y="2579760"/>
                <a:ext cx="1644840" cy="123012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000000"/>
                </a:solidFill>
                <a:round/>
              </a:ln>
            </p:spPr>
            <p:style>
              <a:lnRef idx="0"/>
              <a:fillRef idx="0"/>
              <a:effectRef idx="0"/>
              <a:fontRef idx="minor"/>
            </p:style>
          </p:sp>
          <p:sp>
            <p:nvSpPr>
              <p:cNvPr id="111" name="CustomShape 58"/>
              <p:cNvSpPr/>
              <p:nvPr/>
            </p:nvSpPr>
            <p:spPr>
              <a:xfrm>
                <a:off x="5638680" y="2514600"/>
                <a:ext cx="1644840" cy="12304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b2b2b2"/>
              </a:solidFill>
              <a:ln w="9360">
                <a:solidFill>
                  <a:srgbClr val="000000"/>
                </a:solidFill>
                <a:round/>
              </a:ln>
            </p:spPr>
            <p:style>
              <a:lnRef idx="0"/>
              <a:fillRef idx="0"/>
              <a:effectRef idx="0"/>
              <a:fontRef idx="minor"/>
            </p:style>
          </p:sp>
          <p:sp>
            <p:nvSpPr>
              <p:cNvPr id="112" name="CustomShape 59"/>
              <p:cNvSpPr/>
              <p:nvPr/>
            </p:nvSpPr>
            <p:spPr>
              <a:xfrm>
                <a:off x="6012000" y="2712960"/>
                <a:ext cx="91584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8040" bIns="46800">
                <a:spAutoFit/>
              </a:bodyPr>
              <a:p>
                <a:pPr algn="ctr">
                  <a:lnSpc>
                    <a:spcPct val="93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000000"/>
                    </a:solidFill>
                    <a:latin typeface="Times New Roman"/>
                  </a:rPr>
                  <a:t>www</a:t>
                </a:r>
                <a:endParaRPr b="0" lang="nl-BE" sz="2400" spc="-1" strike="noStrike">
                  <a:solidFill>
                    <a:srgbClr val="000000"/>
                  </a:solidFill>
                  <a:latin typeface="Times New Roman"/>
                </a:endParaRPr>
              </a:p>
            </p:txBody>
          </p:sp>
        </p:grpSp>
        <p:sp>
          <p:nvSpPr>
            <p:cNvPr id="113" name="CustomShape 60"/>
            <p:cNvSpPr/>
            <p:nvPr/>
          </p:nvSpPr>
          <p:spPr>
            <a:xfrm>
              <a:off x="4421160" y="3962520"/>
              <a:ext cx="901440" cy="6782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44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Proxy</a:t>
              </a:r>
              <a:br/>
              <a:r>
                <a:rPr b="1" lang="nl-NL" sz="2000" spc="-1" strike="noStrike">
                  <a:solidFill>
                    <a:srgbClr val="000000"/>
                  </a:solidFill>
                  <a:latin typeface="Times New Roman"/>
                </a:rPr>
                <a:t>Server</a:t>
              </a:r>
              <a:endParaRPr b="0" lang="nl-BE" sz="2000" spc="-1" strike="noStrike">
                <a:solidFill>
                  <a:srgbClr val="000000"/>
                </a:solidFill>
                <a:latin typeface="Times New Roman"/>
              </a:endParaRPr>
            </a:p>
          </p:txBody>
        </p:sp>
        <p:sp>
          <p:nvSpPr>
            <p:cNvPr id="114" name="Line 61"/>
            <p:cNvSpPr/>
            <p:nvPr/>
          </p:nvSpPr>
          <p:spPr>
            <a:xfrm>
              <a:off x="1752480" y="3276720"/>
              <a:ext cx="2743200" cy="1440"/>
            </a:xfrm>
            <a:prstGeom prst="line">
              <a:avLst/>
            </a:prstGeom>
            <a:ln w="38160">
              <a:solidFill>
                <a:srgbClr val="3333cc"/>
              </a:solidFill>
              <a:miter/>
              <a:tailEnd len="med" type="triangle" w="med"/>
            </a:ln>
          </p:spPr>
          <p:style>
            <a:lnRef idx="0"/>
            <a:fillRef idx="0"/>
            <a:effectRef idx="0"/>
            <a:fontRef idx="minor"/>
          </p:style>
        </p:sp>
        <p:sp>
          <p:nvSpPr>
            <p:cNvPr id="115" name="CustomShape 62"/>
            <p:cNvSpPr/>
            <p:nvPr/>
          </p:nvSpPr>
          <p:spPr>
            <a:xfrm>
              <a:off x="3887640" y="2743200"/>
              <a:ext cx="33300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pc="-1" strike="noStrike">
                  <a:solidFill>
                    <a:srgbClr val="3333cc"/>
                  </a:solidFill>
                  <a:latin typeface="Times New Roman"/>
                </a:rPr>
                <a:t>1</a:t>
              </a:r>
              <a:endParaRPr b="0" lang="nl-BE" sz="2400" spc="-1" strike="noStrike">
                <a:solidFill>
                  <a:srgbClr val="000000"/>
                </a:solidFill>
                <a:latin typeface="Times New Roman"/>
              </a:endParaRPr>
            </a:p>
          </p:txBody>
        </p:sp>
        <p:sp>
          <p:nvSpPr>
            <p:cNvPr id="116" name="CustomShape 63"/>
            <p:cNvSpPr/>
            <p:nvPr/>
          </p:nvSpPr>
          <p:spPr>
            <a:xfrm>
              <a:off x="7240680" y="2666880"/>
              <a:ext cx="33300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pc="-1" strike="noStrike">
                  <a:solidFill>
                    <a:srgbClr val="ff0000"/>
                  </a:solidFill>
                  <a:latin typeface="Times New Roman"/>
                </a:rPr>
                <a:t>2</a:t>
              </a:r>
              <a:endParaRPr b="0" lang="nl-BE" sz="2400" spc="-1" strike="noStrike">
                <a:solidFill>
                  <a:srgbClr val="000000"/>
                </a:solidFill>
                <a:latin typeface="Times New Roman"/>
              </a:endParaRPr>
            </a:p>
          </p:txBody>
        </p:sp>
        <p:sp>
          <p:nvSpPr>
            <p:cNvPr id="117" name="CustomShape 64"/>
            <p:cNvSpPr/>
            <p:nvPr/>
          </p:nvSpPr>
          <p:spPr>
            <a:xfrm>
              <a:off x="1906560" y="3505320"/>
              <a:ext cx="33300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pc="-1" strike="noStrike">
                  <a:solidFill>
                    <a:srgbClr val="3333cc"/>
                  </a:solidFill>
                  <a:latin typeface="Times New Roman"/>
                </a:rPr>
                <a:t>4</a:t>
              </a:r>
              <a:endParaRPr b="0" lang="nl-BE" sz="2400" spc="-1" strike="noStrike">
                <a:solidFill>
                  <a:srgbClr val="000000"/>
                </a:solidFill>
                <a:latin typeface="Times New Roman"/>
              </a:endParaRPr>
            </a:p>
          </p:txBody>
        </p:sp>
        <p:sp>
          <p:nvSpPr>
            <p:cNvPr id="118" name="CustomShape 65"/>
            <p:cNvSpPr/>
            <p:nvPr/>
          </p:nvSpPr>
          <p:spPr>
            <a:xfrm>
              <a:off x="5259240" y="3505320"/>
              <a:ext cx="33300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pc="-1" strike="noStrike">
                  <a:solidFill>
                    <a:srgbClr val="ff0000"/>
                  </a:solidFill>
                  <a:latin typeface="Times New Roman"/>
                </a:rPr>
                <a:t>3</a:t>
              </a:r>
              <a:endParaRPr b="0" lang="nl-BE" sz="2400" spc="-1" strike="noStrike">
                <a:solidFill>
                  <a:srgbClr val="000000"/>
                </a:solidFill>
                <a:latin typeface="Times New Roman"/>
              </a:endParaRPr>
            </a:p>
          </p:txBody>
        </p:sp>
        <p:sp>
          <p:nvSpPr>
            <p:cNvPr id="119" name="Line 66"/>
            <p:cNvSpPr/>
            <p:nvPr/>
          </p:nvSpPr>
          <p:spPr>
            <a:xfrm>
              <a:off x="5181480" y="3276720"/>
              <a:ext cx="2743200" cy="1440"/>
            </a:xfrm>
            <a:prstGeom prst="line">
              <a:avLst/>
            </a:prstGeom>
            <a:ln w="38160">
              <a:solidFill>
                <a:srgbClr val="ff0000"/>
              </a:solidFill>
              <a:miter/>
              <a:tailEnd len="med" type="triangle" w="med"/>
            </a:ln>
          </p:spPr>
          <p:style>
            <a:lnRef idx="0"/>
            <a:fillRef idx="0"/>
            <a:effectRef idx="0"/>
            <a:fontRef idx="minor"/>
          </p:style>
        </p:sp>
        <p:sp>
          <p:nvSpPr>
            <p:cNvPr id="120" name="Line 67"/>
            <p:cNvSpPr/>
            <p:nvPr/>
          </p:nvSpPr>
          <p:spPr>
            <a:xfrm flipH="1">
              <a:off x="5103360" y="3429000"/>
              <a:ext cx="2746440" cy="1440"/>
            </a:xfrm>
            <a:prstGeom prst="line">
              <a:avLst/>
            </a:prstGeom>
            <a:ln w="38160">
              <a:solidFill>
                <a:srgbClr val="ff0000"/>
              </a:solidFill>
              <a:miter/>
              <a:tailEnd len="med" type="triangle" w="med"/>
            </a:ln>
          </p:spPr>
          <p:style>
            <a:lnRef idx="0"/>
            <a:fillRef idx="0"/>
            <a:effectRef idx="0"/>
            <a:fontRef idx="minor"/>
          </p:style>
        </p:sp>
        <p:sp>
          <p:nvSpPr>
            <p:cNvPr id="121" name="Line 68"/>
            <p:cNvSpPr/>
            <p:nvPr/>
          </p:nvSpPr>
          <p:spPr>
            <a:xfrm flipH="1">
              <a:off x="1674360" y="3429000"/>
              <a:ext cx="2746440" cy="1440"/>
            </a:xfrm>
            <a:prstGeom prst="line">
              <a:avLst/>
            </a:prstGeom>
            <a:ln w="38160">
              <a:solidFill>
                <a:srgbClr val="3333cc"/>
              </a:solidFill>
              <a:miter/>
              <a:tailEnd len="med" type="triangle" w="med"/>
            </a:ln>
          </p:spPr>
          <p:style>
            <a:lnRef idx="0"/>
            <a:fillRef idx="0"/>
            <a:effectRef idx="0"/>
            <a:fontRef idx="minor"/>
          </p:style>
        </p:sp>
      </p:grpSp>
    </p:spTree>
  </p:cSld>
  <p:transition spd="slow">
    <p:comb dir="horz"/>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2" name="TextShape 1"/>
          <p:cNvSpPr txBox="1"/>
          <p:nvPr/>
        </p:nvSpPr>
        <p:spPr>
          <a:xfrm>
            <a:off x="864720" y="442800"/>
            <a:ext cx="7954920" cy="109764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Disk cache</a:t>
            </a:r>
            <a:endParaRPr b="1" lang="nl-BE" sz="2800" spc="-1" strike="noStrike">
              <a:solidFill>
                <a:srgbClr val="000000"/>
              </a:solidFill>
              <a:latin typeface="Arial Narrow"/>
            </a:endParaRPr>
          </a:p>
        </p:txBody>
      </p:sp>
      <p:sp>
        <p:nvSpPr>
          <p:cNvPr id="123" name="TextShape 2"/>
          <p:cNvSpPr txBox="1"/>
          <p:nvPr/>
        </p:nvSpPr>
        <p:spPr>
          <a:xfrm>
            <a:off x="457200" y="1604520"/>
            <a:ext cx="8229240" cy="452592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Dit is ruimte op </a:t>
            </a:r>
            <a:r>
              <a:rPr b="1" lang="fr-BE" sz="2400" spc="-1" strike="noStrike">
                <a:solidFill>
                  <a:srgbClr val="000000"/>
                </a:solidFill>
                <a:latin typeface="Times New Roman"/>
              </a:rPr>
              <a:t>de</a:t>
            </a:r>
            <a:r>
              <a:rPr b="1" lang="nl-NL" sz="2400" spc="-1" strike="noStrike">
                <a:solidFill>
                  <a:srgbClr val="000000"/>
                </a:solidFill>
                <a:latin typeface="Times New Roman"/>
              </a:rPr>
              <a:t> harde schijf </a:t>
            </a:r>
            <a:r>
              <a:rPr b="1" lang="fr-BE" sz="2400" spc="-1" strike="noStrike">
                <a:solidFill>
                  <a:srgbClr val="000000"/>
                </a:solidFill>
                <a:latin typeface="Times New Roman"/>
              </a:rPr>
              <a:t>van de proxyserver waar</a:t>
            </a:r>
            <a:r>
              <a:rPr b="1" lang="nl-NL" sz="2400" spc="-1" strike="noStrike">
                <a:solidFill>
                  <a:srgbClr val="000000"/>
                </a:solidFill>
                <a:latin typeface="Times New Roman"/>
              </a:rPr>
              <a:t> tijdelijk bestanden en HTTP documenten </a:t>
            </a:r>
            <a:r>
              <a:rPr b="1" lang="fr-BE" sz="2400" spc="-1" strike="noStrike">
                <a:solidFill>
                  <a:srgbClr val="000000"/>
                </a:solidFill>
                <a:latin typeface="Times New Roman"/>
              </a:rPr>
              <a:t>worden weggeschreven</a:t>
            </a:r>
            <a:r>
              <a:rPr b="1" lang="nl-NL" sz="2400" spc="-1" strike="noStrike">
                <a:solidFill>
                  <a:srgbClr val="000000"/>
                </a:solidFill>
                <a:latin typeface="Times New Roman"/>
              </a:rPr>
              <a:t>.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Hiervoor moet een bepaalde grootte in MB opgegeven worden. Wanneer de disk cache vol zit, worden de oudste bestanden vervangen door nieuwe bestanden. Een FIFO (First In First Out) systeem dus.</a:t>
            </a:r>
            <a:endParaRPr b="1" lang="nl-BE" sz="2400" spc="-1" strike="noStrike">
              <a:solidFill>
                <a:srgbClr val="000000"/>
              </a:solidFill>
              <a:latin typeface="Times New Roman"/>
            </a:endParaRPr>
          </a:p>
        </p:txBody>
      </p:sp>
    </p:spTree>
  </p:cSld>
  <p:transition spd="slow">
    <p:comb dir="horz"/>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4"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Disk cache 2</a:t>
            </a:r>
            <a:endParaRPr b="1" lang="nl-BE" sz="2800" spc="-1" strike="noStrike">
              <a:solidFill>
                <a:srgbClr val="000000"/>
              </a:solidFill>
              <a:latin typeface="Arial Narrow"/>
            </a:endParaRPr>
          </a:p>
        </p:txBody>
      </p:sp>
      <p:sp>
        <p:nvSpPr>
          <p:cNvPr id="125"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Doordat de gegevens in de disk cache staan, moeten ze niet opnieuw afgehaald worden van een andere server op het netwerk, maar kunnen ze rechtstreeks van de schijf van de proxy server gehaald worden.Wanneer een tweede gebruiker dus hetzelfde document ophaalt, hoeven we dus niet meer de computer op internet te raadplegen.</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Wanneer de proxy server een pagina terug vindt in zijn disk cache, dan spreken we van een </a:t>
            </a:r>
            <a:r>
              <a:rPr b="1" lang="nl-NL" sz="2400" spc="-1" strike="noStrike">
                <a:solidFill>
                  <a:srgbClr val="0000ff"/>
                </a:solidFill>
                <a:latin typeface="Times New Roman"/>
              </a:rPr>
              <a:t>HIT</a:t>
            </a:r>
            <a:r>
              <a:rPr b="1" lang="nl-NL" sz="2400" spc="-1" strike="noStrike">
                <a:solidFill>
                  <a:srgbClr val="000000"/>
                </a:solidFill>
                <a:latin typeface="Times New Roman"/>
              </a:rPr>
              <a:t>. Is dit niet zo, dan spreken we van een </a:t>
            </a:r>
            <a:r>
              <a:rPr b="1" lang="nl-NL" sz="2400" spc="-1" strike="noStrike">
                <a:solidFill>
                  <a:srgbClr val="ff0000"/>
                </a:solidFill>
                <a:latin typeface="Times New Roman"/>
              </a:rPr>
              <a:t>MISS</a:t>
            </a:r>
            <a:r>
              <a:rPr b="1" lang="nl-NL" sz="2400" spc="-1" strike="noStrike">
                <a:solidFill>
                  <a:srgbClr val="000000"/>
                </a:solidFill>
                <a:latin typeface="Times New Roman"/>
              </a:rPr>
              <a:t>.</a:t>
            </a:r>
            <a:endParaRPr b="1" lang="nl-BE" sz="2400" spc="-1" strike="noStrike">
              <a:solidFill>
                <a:srgbClr val="000000"/>
              </a:solidFill>
              <a:latin typeface="Times New Roman"/>
            </a:endParaRPr>
          </a:p>
        </p:txBody>
      </p:sp>
    </p:spTree>
  </p:cSld>
  <p:transition spd="slow">
    <p:comb dir="horz"/>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6"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Disk cache &lt;&gt; cache</a:t>
            </a:r>
            <a:endParaRPr b="1" lang="nl-BE" sz="2800" spc="-1" strike="noStrike">
              <a:solidFill>
                <a:srgbClr val="000000"/>
              </a:solidFill>
              <a:latin typeface="Arial Narrow"/>
            </a:endParaRPr>
          </a:p>
        </p:txBody>
      </p:sp>
      <p:sp>
        <p:nvSpPr>
          <p:cNvPr id="127"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Voor de duidelijkheid: Disk cache heeft niets te maken met de hardware cache van een systeem. (Hardware cache is enkele honderden kiloBytes bv 256kB of 512kB, disk cache is enkele honderden MegaBytes tot Gigabytes).</a:t>
            </a:r>
            <a:endParaRPr b="1" lang="nl-BE" sz="2400" spc="-1" strike="noStrike">
              <a:solidFill>
                <a:srgbClr val="000000"/>
              </a:solidFill>
              <a:latin typeface="Times New Roman"/>
            </a:endParaRPr>
          </a:p>
        </p:txBody>
      </p:sp>
    </p:spTree>
  </p:cSld>
  <p:transition spd="slow">
    <p:comb dir="horz"/>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8"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Disk cache MISS</a:t>
            </a:r>
            <a:endParaRPr b="1" lang="nl-BE" sz="2800" spc="-1" strike="noStrike">
              <a:solidFill>
                <a:srgbClr val="000000"/>
              </a:solidFill>
              <a:latin typeface="Arial Narrow"/>
            </a:endParaRPr>
          </a:p>
        </p:txBody>
      </p:sp>
      <p:sp>
        <p:nvSpPr>
          <p:cNvPr id="129" name="CustomShape 2"/>
          <p:cNvSpPr/>
          <p:nvPr/>
        </p:nvSpPr>
        <p:spPr>
          <a:xfrm rot="10800000">
            <a:off x="1449360" y="3282480"/>
            <a:ext cx="6554880" cy="152640"/>
          </a:xfrm>
          <a:prstGeom prst="rect">
            <a:avLst/>
          </a:prstGeom>
          <a:solidFill>
            <a:srgbClr val="b2b2b2"/>
          </a:solidFill>
          <a:ln>
            <a:noFill/>
          </a:ln>
        </p:spPr>
        <p:style>
          <a:lnRef idx="0"/>
          <a:fillRef idx="0"/>
          <a:effectRef idx="0"/>
          <a:fontRef idx="minor"/>
        </p:style>
      </p:sp>
      <p:grpSp>
        <p:nvGrpSpPr>
          <p:cNvPr id="130" name="Group 3"/>
          <p:cNvGrpSpPr/>
          <p:nvPr/>
        </p:nvGrpSpPr>
        <p:grpSpPr>
          <a:xfrm>
            <a:off x="1952640" y="3087720"/>
            <a:ext cx="1335240" cy="754200"/>
            <a:chOff x="1952640" y="3087720"/>
            <a:chExt cx="1335240" cy="754200"/>
          </a:xfrm>
        </p:grpSpPr>
        <p:sp>
          <p:nvSpPr>
            <p:cNvPr id="131" name="CustomShape 4"/>
            <p:cNvSpPr/>
            <p:nvPr/>
          </p:nvSpPr>
          <p:spPr>
            <a:xfrm>
              <a:off x="1981080" y="3124080"/>
              <a:ext cx="1306800" cy="71784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808080"/>
              </a:solidFill>
              <a:round/>
            </a:ln>
          </p:spPr>
          <p:style>
            <a:lnRef idx="0"/>
            <a:fillRef idx="0"/>
            <a:effectRef idx="0"/>
            <a:fontRef idx="minor"/>
          </p:style>
        </p:sp>
        <p:sp>
          <p:nvSpPr>
            <p:cNvPr id="132" name="CustomShape 5"/>
            <p:cNvSpPr/>
            <p:nvPr/>
          </p:nvSpPr>
          <p:spPr>
            <a:xfrm>
              <a:off x="1952640" y="3087720"/>
              <a:ext cx="1308240" cy="7174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eaeaea"/>
            </a:solidFill>
            <a:ln w="9360">
              <a:solidFill>
                <a:srgbClr val="000000"/>
              </a:solidFill>
              <a:round/>
            </a:ln>
          </p:spPr>
          <p:style>
            <a:lnRef idx="0"/>
            <a:fillRef idx="0"/>
            <a:effectRef idx="0"/>
            <a:fontRef idx="minor"/>
          </p:style>
        </p:sp>
        <p:sp>
          <p:nvSpPr>
            <p:cNvPr id="133" name="CustomShape 6"/>
            <p:cNvSpPr/>
            <p:nvPr/>
          </p:nvSpPr>
          <p:spPr>
            <a:xfrm>
              <a:off x="2200320" y="3203640"/>
              <a:ext cx="727200" cy="3682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46800" bIns="46800">
              <a:spAutoFit/>
            </a:bodyPr>
            <a:p>
              <a:pPr algn="ctr">
                <a:spcBef>
                  <a:spcPts val="112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Times New Roman"/>
                </a:rPr>
                <a:t>LAN</a:t>
              </a:r>
              <a:endParaRPr b="0" lang="nl-BE" sz="1800" spc="-1" strike="noStrike">
                <a:solidFill>
                  <a:srgbClr val="000000"/>
                </a:solidFill>
                <a:latin typeface="Times New Roman"/>
              </a:endParaRPr>
            </a:p>
          </p:txBody>
        </p:sp>
      </p:grpSp>
      <p:grpSp>
        <p:nvGrpSpPr>
          <p:cNvPr id="134" name="Group 7"/>
          <p:cNvGrpSpPr/>
          <p:nvPr/>
        </p:nvGrpSpPr>
        <p:grpSpPr>
          <a:xfrm>
            <a:off x="746280" y="2859120"/>
            <a:ext cx="969840" cy="793080"/>
            <a:chOff x="746280" y="2859120"/>
            <a:chExt cx="969840" cy="793080"/>
          </a:xfrm>
        </p:grpSpPr>
        <p:sp>
          <p:nvSpPr>
            <p:cNvPr id="135" name="CustomShape 8"/>
            <p:cNvSpPr/>
            <p:nvPr/>
          </p:nvSpPr>
          <p:spPr>
            <a:xfrm>
              <a:off x="1062000" y="3251160"/>
              <a:ext cx="368280" cy="76320"/>
            </a:xfrm>
            <a:custGeom>
              <a:avLst/>
              <a:gdLst/>
              <a:ahLst/>
              <a:rect l="0" t="0" r="r" b="b"/>
              <a:pathLst>
                <a:path w="1025" h="213">
                  <a:moveTo>
                    <a:pt x="0" y="212"/>
                  </a:moveTo>
                  <a:lnTo>
                    <a:pt x="1024" y="212"/>
                  </a:lnTo>
                  <a:lnTo>
                    <a:pt x="931" y="0"/>
                  </a:lnTo>
                  <a:lnTo>
                    <a:pt x="92" y="0"/>
                  </a:lnTo>
                  <a:lnTo>
                    <a:pt x="0" y="21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sp>
          <p:nvSpPr>
            <p:cNvPr id="136" name="CustomShape 9"/>
            <p:cNvSpPr/>
            <p:nvPr/>
          </p:nvSpPr>
          <p:spPr>
            <a:xfrm>
              <a:off x="977760" y="2859120"/>
              <a:ext cx="528840" cy="411120"/>
            </a:xfrm>
            <a:prstGeom prst="rect">
              <a:avLst/>
            </a:prstGeom>
            <a:gradFill rotWithShape="0">
              <a:gsLst>
                <a:gs pos="0">
                  <a:srgbClr val="b2b2b2"/>
                </a:gs>
                <a:gs pos="100000">
                  <a:srgbClr val="464646"/>
                </a:gs>
              </a:gsLst>
              <a:lin ang="10800000"/>
            </a:gradFill>
            <a:ln w="9360">
              <a:solidFill>
                <a:srgbClr val="000000"/>
              </a:solidFill>
              <a:miter/>
            </a:ln>
          </p:spPr>
          <p:style>
            <a:lnRef idx="0"/>
            <a:fillRef idx="0"/>
            <a:effectRef idx="0"/>
            <a:fontRef idx="minor"/>
          </p:style>
        </p:sp>
        <p:sp>
          <p:nvSpPr>
            <p:cNvPr id="137" name="CustomShape 10"/>
            <p:cNvSpPr/>
            <p:nvPr/>
          </p:nvSpPr>
          <p:spPr>
            <a:xfrm>
              <a:off x="1036800" y="2905200"/>
              <a:ext cx="415800" cy="295200"/>
            </a:xfrm>
            <a:prstGeom prst="rect">
              <a:avLst/>
            </a:prstGeom>
            <a:solidFill>
              <a:srgbClr val="ffffff"/>
            </a:solidFill>
            <a:ln w="9360">
              <a:solidFill>
                <a:srgbClr val="ffffff"/>
              </a:solidFill>
              <a:miter/>
            </a:ln>
          </p:spPr>
          <p:style>
            <a:lnRef idx="0"/>
            <a:fillRef idx="0"/>
            <a:effectRef idx="0"/>
            <a:fontRef idx="minor"/>
          </p:style>
        </p:sp>
        <p:sp>
          <p:nvSpPr>
            <p:cNvPr id="138" name="CustomShape 11"/>
            <p:cNvSpPr/>
            <p:nvPr/>
          </p:nvSpPr>
          <p:spPr>
            <a:xfrm>
              <a:off x="1055520" y="2921040"/>
              <a:ext cx="412920" cy="297000"/>
            </a:xfrm>
            <a:prstGeom prst="rect">
              <a:avLst/>
            </a:prstGeom>
            <a:gradFill rotWithShape="0">
              <a:gsLst>
                <a:gs pos="0">
                  <a:srgbClr val="000000"/>
                </a:gs>
                <a:gs pos="100000">
                  <a:srgbClr val="b2b2b2"/>
                </a:gs>
              </a:gsLst>
              <a:lin ang="10800000"/>
            </a:gradFill>
            <a:ln>
              <a:noFill/>
            </a:ln>
          </p:spPr>
          <p:style>
            <a:lnRef idx="0"/>
            <a:fillRef idx="0"/>
            <a:effectRef idx="0"/>
            <a:fontRef idx="minor"/>
          </p:style>
        </p:sp>
        <p:sp>
          <p:nvSpPr>
            <p:cNvPr id="139" name="CustomShape 12"/>
            <p:cNvSpPr/>
            <p:nvPr/>
          </p:nvSpPr>
          <p:spPr>
            <a:xfrm>
              <a:off x="858960" y="3330720"/>
              <a:ext cx="763560" cy="2635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40" name="CustomShape 13"/>
            <p:cNvSpPr/>
            <p:nvPr/>
          </p:nvSpPr>
          <p:spPr>
            <a:xfrm>
              <a:off x="746280" y="3540600"/>
              <a:ext cx="969840" cy="111240"/>
            </a:xfrm>
            <a:custGeom>
              <a:avLst/>
              <a:gdLst/>
              <a:ahLst/>
              <a:rect l="0" t="0" r="r" b="b"/>
              <a:pathLst>
                <a:path w="2696" h="311">
                  <a:moveTo>
                    <a:pt x="0" y="310"/>
                  </a:moveTo>
                  <a:lnTo>
                    <a:pt x="2695" y="310"/>
                  </a:lnTo>
                  <a:lnTo>
                    <a:pt x="2021" y="0"/>
                  </a:lnTo>
                  <a:lnTo>
                    <a:pt x="673" y="0"/>
                  </a:lnTo>
                  <a:lnTo>
                    <a:pt x="0" y="310"/>
                  </a:lnTo>
                </a:path>
              </a:pathLst>
            </a:custGeom>
            <a:gradFill rotWithShape="0">
              <a:gsLst>
                <a:gs pos="0">
                  <a:srgbClr val="525252"/>
                </a:gs>
                <a:gs pos="50000">
                  <a:srgbClr val="b2b2b2"/>
                </a:gs>
                <a:gs pos="100000">
                  <a:srgbClr val="525252"/>
                </a:gs>
              </a:gsLst>
              <a:lin ang="5400000"/>
            </a:gradFill>
            <a:ln w="9360">
              <a:solidFill>
                <a:srgbClr val="000000"/>
              </a:solidFill>
              <a:miter/>
            </a:ln>
          </p:spPr>
          <p:style>
            <a:lnRef idx="0"/>
            <a:fillRef idx="0"/>
            <a:effectRef idx="0"/>
            <a:fontRef idx="minor"/>
          </p:style>
        </p:sp>
        <p:sp>
          <p:nvSpPr>
            <p:cNvPr id="141" name="CustomShape 14"/>
            <p:cNvSpPr/>
            <p:nvPr/>
          </p:nvSpPr>
          <p:spPr>
            <a:xfrm>
              <a:off x="919080" y="3384720"/>
              <a:ext cx="36720" cy="126720"/>
            </a:xfrm>
            <a:prstGeom prst="rect">
              <a:avLst/>
            </a:prstGeom>
            <a:solidFill>
              <a:srgbClr val="808080"/>
            </a:solidFill>
            <a:ln w="9360">
              <a:solidFill>
                <a:srgbClr val="000000"/>
              </a:solidFill>
              <a:miter/>
            </a:ln>
          </p:spPr>
          <p:style>
            <a:lnRef idx="0"/>
            <a:fillRef idx="0"/>
            <a:effectRef idx="0"/>
            <a:fontRef idx="minor"/>
          </p:style>
        </p:sp>
        <p:sp>
          <p:nvSpPr>
            <p:cNvPr id="142" name="CustomShape 15"/>
            <p:cNvSpPr/>
            <p:nvPr/>
          </p:nvSpPr>
          <p:spPr>
            <a:xfrm>
              <a:off x="1020600" y="3384720"/>
              <a:ext cx="36720" cy="126720"/>
            </a:xfrm>
            <a:prstGeom prst="rect">
              <a:avLst/>
            </a:prstGeom>
            <a:solidFill>
              <a:srgbClr val="808080"/>
            </a:solidFill>
            <a:ln w="9360">
              <a:solidFill>
                <a:srgbClr val="000000"/>
              </a:solidFill>
              <a:miter/>
            </a:ln>
          </p:spPr>
          <p:style>
            <a:lnRef idx="0"/>
            <a:fillRef idx="0"/>
            <a:effectRef idx="0"/>
            <a:fontRef idx="minor"/>
          </p:style>
        </p:sp>
        <p:sp>
          <p:nvSpPr>
            <p:cNvPr id="143" name="CustomShape 16"/>
            <p:cNvSpPr/>
            <p:nvPr/>
          </p:nvSpPr>
          <p:spPr>
            <a:xfrm>
              <a:off x="1139760" y="3384720"/>
              <a:ext cx="36720" cy="126720"/>
            </a:xfrm>
            <a:prstGeom prst="rect">
              <a:avLst/>
            </a:prstGeom>
            <a:solidFill>
              <a:srgbClr val="808080"/>
            </a:solidFill>
            <a:ln w="9360">
              <a:solidFill>
                <a:srgbClr val="000000"/>
              </a:solidFill>
              <a:miter/>
            </a:ln>
          </p:spPr>
          <p:style>
            <a:lnRef idx="0"/>
            <a:fillRef idx="0"/>
            <a:effectRef idx="0"/>
            <a:fontRef idx="minor"/>
          </p:style>
        </p:sp>
      </p:grpSp>
      <p:grpSp>
        <p:nvGrpSpPr>
          <p:cNvPr id="144" name="Group 17"/>
          <p:cNvGrpSpPr/>
          <p:nvPr/>
        </p:nvGrpSpPr>
        <p:grpSpPr>
          <a:xfrm>
            <a:off x="4429080" y="1339920"/>
            <a:ext cx="914400" cy="3554280"/>
            <a:chOff x="4429080" y="1339920"/>
            <a:chExt cx="914400" cy="3554280"/>
          </a:xfrm>
        </p:grpSpPr>
        <p:sp>
          <p:nvSpPr>
            <p:cNvPr id="145" name="CustomShape 18"/>
            <p:cNvSpPr/>
            <p:nvPr/>
          </p:nvSpPr>
          <p:spPr>
            <a:xfrm rot="5400000">
              <a:off x="3108960" y="2659680"/>
              <a:ext cx="3554280" cy="91440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46" name="CustomShape 19"/>
            <p:cNvSpPr/>
            <p:nvPr/>
          </p:nvSpPr>
          <p:spPr>
            <a:xfrm rot="5400000">
              <a:off x="4850640" y="1492920"/>
              <a:ext cx="169920" cy="441360"/>
            </a:xfrm>
            <a:prstGeom prst="rect">
              <a:avLst/>
            </a:prstGeom>
            <a:solidFill>
              <a:srgbClr val="808080"/>
            </a:solidFill>
            <a:ln w="9360">
              <a:solidFill>
                <a:srgbClr val="000000"/>
              </a:solidFill>
              <a:miter/>
            </a:ln>
          </p:spPr>
          <p:style>
            <a:lnRef idx="0"/>
            <a:fillRef idx="0"/>
            <a:effectRef idx="0"/>
            <a:fontRef idx="minor"/>
          </p:style>
        </p:sp>
        <p:sp>
          <p:nvSpPr>
            <p:cNvPr id="147" name="CustomShape 20"/>
            <p:cNvSpPr/>
            <p:nvPr/>
          </p:nvSpPr>
          <p:spPr>
            <a:xfrm rot="5400000">
              <a:off x="4846680" y="1962000"/>
              <a:ext cx="177840" cy="441360"/>
            </a:xfrm>
            <a:prstGeom prst="rect">
              <a:avLst/>
            </a:prstGeom>
            <a:solidFill>
              <a:srgbClr val="808080"/>
            </a:solidFill>
            <a:ln w="9360">
              <a:solidFill>
                <a:srgbClr val="000000"/>
              </a:solidFill>
              <a:miter/>
            </a:ln>
          </p:spPr>
          <p:style>
            <a:lnRef idx="0"/>
            <a:fillRef idx="0"/>
            <a:effectRef idx="0"/>
            <a:fontRef idx="minor"/>
          </p:style>
        </p:sp>
        <p:sp>
          <p:nvSpPr>
            <p:cNvPr id="148" name="CustomShape 21"/>
            <p:cNvSpPr/>
            <p:nvPr/>
          </p:nvSpPr>
          <p:spPr>
            <a:xfrm rot="5400000">
              <a:off x="4850640" y="2516760"/>
              <a:ext cx="169560" cy="441360"/>
            </a:xfrm>
            <a:prstGeom prst="rect">
              <a:avLst/>
            </a:prstGeom>
            <a:solidFill>
              <a:srgbClr val="808080"/>
            </a:solidFill>
            <a:ln w="9360">
              <a:solidFill>
                <a:srgbClr val="000000"/>
              </a:solidFill>
              <a:miter/>
            </a:ln>
          </p:spPr>
          <p:style>
            <a:lnRef idx="0"/>
            <a:fillRef idx="0"/>
            <a:effectRef idx="0"/>
            <a:fontRef idx="minor"/>
          </p:style>
        </p:sp>
      </p:grpSp>
      <p:sp>
        <p:nvSpPr>
          <p:cNvPr id="149" name="CustomShape 22"/>
          <p:cNvSpPr/>
          <p:nvPr/>
        </p:nvSpPr>
        <p:spPr>
          <a:xfrm>
            <a:off x="4121280" y="4676400"/>
            <a:ext cx="1596960" cy="246240"/>
          </a:xfrm>
          <a:custGeom>
            <a:avLst/>
            <a:gdLst/>
            <a:ahLst/>
            <a:rect l="0" t="0" r="r" b="b"/>
            <a:pathLst>
              <a:path w="4438" h="686">
                <a:moveTo>
                  <a:pt x="0" y="685"/>
                </a:moveTo>
                <a:lnTo>
                  <a:pt x="4437" y="685"/>
                </a:lnTo>
                <a:lnTo>
                  <a:pt x="4037" y="0"/>
                </a:lnTo>
                <a:lnTo>
                  <a:pt x="399" y="0"/>
                </a:lnTo>
                <a:lnTo>
                  <a:pt x="0" y="685"/>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nvGrpSpPr>
          <p:cNvPr id="150" name="Group 23"/>
          <p:cNvGrpSpPr/>
          <p:nvPr/>
        </p:nvGrpSpPr>
        <p:grpSpPr>
          <a:xfrm>
            <a:off x="7935840" y="2693880"/>
            <a:ext cx="523800" cy="1166760"/>
            <a:chOff x="7935840" y="2693880"/>
            <a:chExt cx="523800" cy="1166760"/>
          </a:xfrm>
        </p:grpSpPr>
        <p:grpSp>
          <p:nvGrpSpPr>
            <p:cNvPr id="151" name="Group 24"/>
            <p:cNvGrpSpPr/>
            <p:nvPr/>
          </p:nvGrpSpPr>
          <p:grpSpPr>
            <a:xfrm>
              <a:off x="8029440" y="2693880"/>
              <a:ext cx="346320" cy="1166760"/>
              <a:chOff x="8029440" y="2693880"/>
              <a:chExt cx="346320" cy="1166760"/>
            </a:xfrm>
          </p:grpSpPr>
          <p:sp>
            <p:nvSpPr>
              <p:cNvPr id="152" name="CustomShape 25"/>
              <p:cNvSpPr/>
              <p:nvPr/>
            </p:nvSpPr>
            <p:spPr>
              <a:xfrm rot="5400000">
                <a:off x="7619040" y="3103920"/>
                <a:ext cx="1166760" cy="3463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53" name="CustomShape 26"/>
              <p:cNvSpPr/>
              <p:nvPr/>
            </p:nvSpPr>
            <p:spPr>
              <a:xfrm rot="5400000">
                <a:off x="8194320" y="2733480"/>
                <a:ext cx="55440" cy="166680"/>
              </a:xfrm>
              <a:prstGeom prst="rect">
                <a:avLst/>
              </a:prstGeom>
              <a:solidFill>
                <a:srgbClr val="808080"/>
              </a:solidFill>
              <a:ln w="9360">
                <a:solidFill>
                  <a:srgbClr val="000000"/>
                </a:solidFill>
                <a:miter/>
              </a:ln>
            </p:spPr>
            <p:style>
              <a:lnRef idx="0"/>
              <a:fillRef idx="0"/>
              <a:effectRef idx="0"/>
              <a:fontRef idx="minor"/>
            </p:style>
          </p:sp>
          <p:sp>
            <p:nvSpPr>
              <p:cNvPr id="154" name="CustomShape 27"/>
              <p:cNvSpPr/>
              <p:nvPr/>
            </p:nvSpPr>
            <p:spPr>
              <a:xfrm rot="5400000">
                <a:off x="8192880" y="2887560"/>
                <a:ext cx="58680" cy="166680"/>
              </a:xfrm>
              <a:prstGeom prst="rect">
                <a:avLst/>
              </a:prstGeom>
              <a:solidFill>
                <a:srgbClr val="808080"/>
              </a:solidFill>
              <a:ln w="9360">
                <a:solidFill>
                  <a:srgbClr val="000000"/>
                </a:solidFill>
                <a:miter/>
              </a:ln>
            </p:spPr>
            <p:style>
              <a:lnRef idx="0"/>
              <a:fillRef idx="0"/>
              <a:effectRef idx="0"/>
              <a:fontRef idx="minor"/>
            </p:style>
          </p:sp>
          <p:sp>
            <p:nvSpPr>
              <p:cNvPr id="155" name="CustomShape 28"/>
              <p:cNvSpPr/>
              <p:nvPr/>
            </p:nvSpPr>
            <p:spPr>
              <a:xfrm rot="5400000">
                <a:off x="8194320" y="3070080"/>
                <a:ext cx="55440" cy="166680"/>
              </a:xfrm>
              <a:prstGeom prst="rect">
                <a:avLst/>
              </a:prstGeom>
              <a:solidFill>
                <a:srgbClr val="808080"/>
              </a:solidFill>
              <a:ln w="9360">
                <a:solidFill>
                  <a:srgbClr val="000000"/>
                </a:solidFill>
                <a:miter/>
              </a:ln>
            </p:spPr>
            <p:style>
              <a:lnRef idx="0"/>
              <a:fillRef idx="0"/>
              <a:effectRef idx="0"/>
              <a:fontRef idx="minor"/>
            </p:style>
          </p:sp>
        </p:grpSp>
        <p:sp>
          <p:nvSpPr>
            <p:cNvPr id="156" name="CustomShape 29"/>
            <p:cNvSpPr/>
            <p:nvPr/>
          </p:nvSpPr>
          <p:spPr>
            <a:xfrm>
              <a:off x="7935840" y="3740040"/>
              <a:ext cx="523800" cy="93600"/>
            </a:xfrm>
            <a:custGeom>
              <a:avLst/>
              <a:gdLst/>
              <a:ahLst/>
              <a:rect l="0" t="0" r="r" b="b"/>
              <a:pathLst>
                <a:path w="1456" h="262">
                  <a:moveTo>
                    <a:pt x="0" y="261"/>
                  </a:moveTo>
                  <a:lnTo>
                    <a:pt x="1455" y="261"/>
                  </a:lnTo>
                  <a:lnTo>
                    <a:pt x="1324" y="0"/>
                  </a:lnTo>
                  <a:lnTo>
                    <a:pt x="131" y="0"/>
                  </a:lnTo>
                  <a:lnTo>
                    <a:pt x="0" y="261"/>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sp>
        <p:nvSpPr>
          <p:cNvPr id="157" name="CustomShape 30"/>
          <p:cNvSpPr/>
          <p:nvPr/>
        </p:nvSpPr>
        <p:spPr>
          <a:xfrm>
            <a:off x="976320" y="3787920"/>
            <a:ext cx="773640" cy="3988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46800" bIns="46800">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2000" spc="-1" strike="noStrike">
                <a:solidFill>
                  <a:srgbClr val="000000"/>
                </a:solidFill>
                <a:latin typeface="Times New Roman"/>
              </a:rPr>
              <a:t>client</a:t>
            </a:r>
            <a:endParaRPr b="0" lang="nl-BE" sz="2000" spc="-1" strike="noStrike">
              <a:solidFill>
                <a:srgbClr val="000000"/>
              </a:solidFill>
              <a:latin typeface="Times New Roman"/>
            </a:endParaRPr>
          </a:p>
        </p:txBody>
      </p:sp>
      <p:sp>
        <p:nvSpPr>
          <p:cNvPr id="158" name="CustomShape 31"/>
          <p:cNvSpPr/>
          <p:nvPr/>
        </p:nvSpPr>
        <p:spPr>
          <a:xfrm>
            <a:off x="7697520" y="4038480"/>
            <a:ext cx="936720" cy="70380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46800" bIns="46800">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HTTP </a:t>
            </a:r>
            <a:br/>
            <a:r>
              <a:rPr b="1" lang="nl-NL" sz="2000" spc="-1" strike="noStrike">
                <a:solidFill>
                  <a:srgbClr val="000000"/>
                </a:solidFill>
                <a:latin typeface="Times New Roman"/>
              </a:rPr>
              <a:t>Server</a:t>
            </a:r>
            <a:endParaRPr b="0" lang="nl-BE" sz="2000" spc="-1" strike="noStrike">
              <a:solidFill>
                <a:srgbClr val="000000"/>
              </a:solidFill>
              <a:latin typeface="Times New Roman"/>
            </a:endParaRPr>
          </a:p>
        </p:txBody>
      </p:sp>
      <p:grpSp>
        <p:nvGrpSpPr>
          <p:cNvPr id="159" name="Group 32"/>
          <p:cNvGrpSpPr/>
          <p:nvPr/>
        </p:nvGrpSpPr>
        <p:grpSpPr>
          <a:xfrm>
            <a:off x="6105600" y="3124080"/>
            <a:ext cx="1417680" cy="700200"/>
            <a:chOff x="6105600" y="3124080"/>
            <a:chExt cx="1417680" cy="700200"/>
          </a:xfrm>
        </p:grpSpPr>
        <p:sp>
          <p:nvSpPr>
            <p:cNvPr id="160" name="CustomShape 33"/>
            <p:cNvSpPr/>
            <p:nvPr/>
          </p:nvSpPr>
          <p:spPr>
            <a:xfrm>
              <a:off x="6135840" y="3159000"/>
              <a:ext cx="1387440" cy="6652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000000"/>
              </a:solidFill>
              <a:round/>
            </a:ln>
          </p:spPr>
          <p:style>
            <a:lnRef idx="0"/>
            <a:fillRef idx="0"/>
            <a:effectRef idx="0"/>
            <a:fontRef idx="minor"/>
          </p:style>
        </p:sp>
        <p:sp>
          <p:nvSpPr>
            <p:cNvPr id="161" name="CustomShape 34"/>
            <p:cNvSpPr/>
            <p:nvPr/>
          </p:nvSpPr>
          <p:spPr>
            <a:xfrm>
              <a:off x="6105600" y="3124080"/>
              <a:ext cx="1387440" cy="6652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eaeaea"/>
            </a:solidFill>
            <a:ln w="9360">
              <a:solidFill>
                <a:srgbClr val="808080"/>
              </a:solidFill>
              <a:round/>
            </a:ln>
          </p:spPr>
          <p:style>
            <a:lnRef idx="0"/>
            <a:fillRef idx="0"/>
            <a:effectRef idx="0"/>
            <a:fontRef idx="minor"/>
          </p:style>
        </p:sp>
        <p:sp>
          <p:nvSpPr>
            <p:cNvPr id="162" name="CustomShape 35"/>
            <p:cNvSpPr/>
            <p:nvPr/>
          </p:nvSpPr>
          <p:spPr>
            <a:xfrm>
              <a:off x="6419880" y="3232080"/>
              <a:ext cx="772920" cy="3682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46800" bIns="46800">
              <a:spAutoFit/>
            </a:bodyPr>
            <a:p>
              <a:pPr algn="ctr">
                <a:spcBef>
                  <a:spcPts val="112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1800" spc="-1" strike="noStrike">
                  <a:solidFill>
                    <a:srgbClr val="000000"/>
                  </a:solidFill>
                  <a:latin typeface="Times New Roman"/>
                </a:rPr>
                <a:t>www</a:t>
              </a:r>
              <a:endParaRPr b="0" lang="nl-BE" sz="1800" spc="-1" strike="noStrike">
                <a:solidFill>
                  <a:srgbClr val="000000"/>
                </a:solidFill>
                <a:latin typeface="Times New Roman"/>
              </a:endParaRPr>
            </a:p>
          </p:txBody>
        </p:sp>
      </p:grpSp>
      <p:sp>
        <p:nvSpPr>
          <p:cNvPr id="163" name="CustomShape 36"/>
          <p:cNvSpPr/>
          <p:nvPr/>
        </p:nvSpPr>
        <p:spPr>
          <a:xfrm>
            <a:off x="4057560" y="4944960"/>
            <a:ext cx="1629000" cy="3988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46800" bIns="46800">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Proxy </a:t>
            </a:r>
            <a:r>
              <a:rPr b="1" lang="nl-NL" sz="2000" spc="-1" strike="noStrike">
                <a:solidFill>
                  <a:srgbClr val="000000"/>
                </a:solidFill>
                <a:latin typeface="Times New Roman"/>
              </a:rPr>
              <a:t>Server</a:t>
            </a:r>
            <a:endParaRPr b="0" lang="nl-BE" sz="2000" spc="-1" strike="noStrike">
              <a:solidFill>
                <a:srgbClr val="000000"/>
              </a:solidFill>
              <a:latin typeface="Times New Roman"/>
            </a:endParaRPr>
          </a:p>
        </p:txBody>
      </p:sp>
      <p:sp>
        <p:nvSpPr>
          <p:cNvPr id="164" name="Line 37"/>
          <p:cNvSpPr/>
          <p:nvPr/>
        </p:nvSpPr>
        <p:spPr>
          <a:xfrm flipV="1">
            <a:off x="1751040" y="2999880"/>
            <a:ext cx="2251080" cy="17640"/>
          </a:xfrm>
          <a:prstGeom prst="line">
            <a:avLst/>
          </a:prstGeom>
          <a:ln w="38160">
            <a:solidFill>
              <a:srgbClr val="3333cc"/>
            </a:solidFill>
            <a:miter/>
            <a:tailEnd len="med" type="triangle" w="med"/>
          </a:ln>
        </p:spPr>
        <p:style>
          <a:lnRef idx="0"/>
          <a:fillRef idx="0"/>
          <a:effectRef idx="0"/>
          <a:fontRef idx="minor"/>
        </p:style>
      </p:sp>
      <p:sp>
        <p:nvSpPr>
          <p:cNvPr id="165" name="CustomShape 38"/>
          <p:cNvSpPr/>
          <p:nvPr/>
        </p:nvSpPr>
        <p:spPr>
          <a:xfrm>
            <a:off x="1284480" y="2233440"/>
            <a:ext cx="2955960" cy="45972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46800" bIns="46800">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3333cc"/>
                </a:solidFill>
                <a:latin typeface="Times New Roman"/>
              </a:rPr>
              <a:t>1</a:t>
            </a:r>
            <a:r>
              <a:rPr b="0" lang="fr-BE" sz="1800" spc="-1" strike="noStrike">
                <a:solidFill>
                  <a:srgbClr val="3333cc"/>
                </a:solidFill>
                <a:latin typeface="Times New Roman"/>
              </a:rPr>
              <a:t> http://www.kdg.be/info.htm</a:t>
            </a:r>
            <a:endParaRPr b="0" lang="nl-BE" sz="1800" spc="-1" strike="noStrike">
              <a:solidFill>
                <a:srgbClr val="000000"/>
              </a:solidFill>
              <a:latin typeface="Times New Roman"/>
            </a:endParaRPr>
          </a:p>
        </p:txBody>
      </p:sp>
      <p:sp>
        <p:nvSpPr>
          <p:cNvPr id="166" name="Line 39"/>
          <p:cNvSpPr/>
          <p:nvPr/>
        </p:nvSpPr>
        <p:spPr>
          <a:xfrm>
            <a:off x="5702400" y="3002040"/>
            <a:ext cx="2119320" cy="14040"/>
          </a:xfrm>
          <a:prstGeom prst="line">
            <a:avLst/>
          </a:prstGeom>
          <a:ln w="38160">
            <a:solidFill>
              <a:srgbClr val="ff0000"/>
            </a:solidFill>
            <a:miter/>
            <a:tailEnd len="med" type="triangle" w="med"/>
          </a:ln>
        </p:spPr>
        <p:style>
          <a:lnRef idx="0"/>
          <a:fillRef idx="0"/>
          <a:effectRef idx="0"/>
          <a:fontRef idx="minor"/>
        </p:style>
      </p:sp>
      <p:sp>
        <p:nvSpPr>
          <p:cNvPr id="167" name="Line 40"/>
          <p:cNvSpPr/>
          <p:nvPr/>
        </p:nvSpPr>
        <p:spPr>
          <a:xfrm flipH="1">
            <a:off x="1733400" y="3616200"/>
            <a:ext cx="2238480" cy="1800"/>
          </a:xfrm>
          <a:prstGeom prst="line">
            <a:avLst/>
          </a:prstGeom>
          <a:ln w="38160">
            <a:solidFill>
              <a:srgbClr val="3333cc"/>
            </a:solidFill>
            <a:miter/>
            <a:tailEnd len="med" type="triangle" w="med"/>
          </a:ln>
        </p:spPr>
        <p:style>
          <a:lnRef idx="0"/>
          <a:fillRef idx="0"/>
          <a:effectRef idx="0"/>
          <a:fontRef idx="minor"/>
        </p:style>
      </p:sp>
      <p:sp>
        <p:nvSpPr>
          <p:cNvPr id="168" name="CustomShape 41"/>
          <p:cNvSpPr/>
          <p:nvPr/>
        </p:nvSpPr>
        <p:spPr>
          <a:xfrm>
            <a:off x="5618520" y="2270160"/>
            <a:ext cx="2955960" cy="459720"/>
          </a:xfrm>
          <a:prstGeom prst="rect">
            <a:avLst/>
          </a:prstGeom>
          <a:noFill/>
          <a:ln>
            <a:noFill/>
          </a:ln>
        </p:spPr>
        <p:style>
          <a:lnRef idx="0"/>
          <a:fillRef idx="0"/>
          <a:effectRef idx="0"/>
          <a:fontRef idx="minor"/>
        </p:style>
        <p:txBody>
          <a:bodyPr wrap="none" lIns="90000" rIns="90000" tIns="46800" bIns="46800">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ff0000"/>
                </a:solidFill>
                <a:latin typeface="Times New Roman"/>
              </a:rPr>
              <a:t>2</a:t>
            </a:r>
            <a:r>
              <a:rPr b="0" lang="fr-BE" sz="1800" spc="-1" strike="noStrike">
                <a:solidFill>
                  <a:srgbClr val="ff0000"/>
                </a:solidFill>
                <a:latin typeface="Times New Roman"/>
              </a:rPr>
              <a:t> http://www.kdg.be/info.htm</a:t>
            </a:r>
            <a:endParaRPr b="0" lang="nl-BE" sz="1800" spc="-1" strike="noStrike">
              <a:solidFill>
                <a:srgbClr val="000000"/>
              </a:solidFill>
              <a:latin typeface="Times New Roman"/>
            </a:endParaRPr>
          </a:p>
        </p:txBody>
      </p:sp>
      <p:sp>
        <p:nvSpPr>
          <p:cNvPr id="169" name="CustomShape 42"/>
          <p:cNvSpPr/>
          <p:nvPr/>
        </p:nvSpPr>
        <p:spPr>
          <a:xfrm>
            <a:off x="6237720" y="3875040"/>
            <a:ext cx="1174320" cy="459720"/>
          </a:xfrm>
          <a:prstGeom prst="rect">
            <a:avLst/>
          </a:prstGeom>
          <a:noFill/>
          <a:ln>
            <a:noFill/>
          </a:ln>
        </p:spPr>
        <p:style>
          <a:lnRef idx="0"/>
          <a:fillRef idx="0"/>
          <a:effectRef idx="0"/>
          <a:fontRef idx="minor"/>
        </p:style>
        <p:txBody>
          <a:bodyPr wrap="none" lIns="90000" rIns="90000" tIns="46800" bIns="46800">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ff0000"/>
                </a:solidFill>
                <a:latin typeface="Times New Roman"/>
              </a:rPr>
              <a:t>3</a:t>
            </a:r>
            <a:r>
              <a:rPr b="0" lang="fr-BE" sz="1800" spc="-1" strike="noStrike">
                <a:solidFill>
                  <a:srgbClr val="ff0000"/>
                </a:solidFill>
                <a:latin typeface="Times New Roman"/>
              </a:rPr>
              <a:t> info.htm</a:t>
            </a:r>
            <a:endParaRPr b="0" lang="nl-BE" sz="1800" spc="-1" strike="noStrike">
              <a:solidFill>
                <a:srgbClr val="000000"/>
              </a:solidFill>
              <a:latin typeface="Times New Roman"/>
            </a:endParaRPr>
          </a:p>
        </p:txBody>
      </p:sp>
      <p:sp>
        <p:nvSpPr>
          <p:cNvPr id="170" name="CustomShape 43"/>
          <p:cNvSpPr/>
          <p:nvPr/>
        </p:nvSpPr>
        <p:spPr>
          <a:xfrm>
            <a:off x="4397400" y="2970360"/>
            <a:ext cx="925560" cy="45972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46800" bIns="46800">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ff0000"/>
                </a:solidFill>
                <a:latin typeface="Times New Roman"/>
              </a:rPr>
              <a:t>MISS</a:t>
            </a:r>
            <a:endParaRPr b="0" lang="nl-BE" sz="2400" spc="-1" strike="noStrike">
              <a:solidFill>
                <a:srgbClr val="000000"/>
              </a:solidFill>
              <a:latin typeface="Times New Roman"/>
            </a:endParaRPr>
          </a:p>
        </p:txBody>
      </p:sp>
      <p:sp>
        <p:nvSpPr>
          <p:cNvPr id="171" name="Line 44"/>
          <p:cNvSpPr/>
          <p:nvPr/>
        </p:nvSpPr>
        <p:spPr>
          <a:xfrm flipH="1" flipV="1">
            <a:off x="5668920" y="3584160"/>
            <a:ext cx="2252880" cy="4680"/>
          </a:xfrm>
          <a:prstGeom prst="line">
            <a:avLst/>
          </a:prstGeom>
          <a:ln w="38160">
            <a:solidFill>
              <a:srgbClr val="ff0000"/>
            </a:solidFill>
            <a:miter/>
            <a:tailEnd len="med" type="triangle" w="med"/>
          </a:ln>
        </p:spPr>
        <p:style>
          <a:lnRef idx="0"/>
          <a:fillRef idx="0"/>
          <a:effectRef idx="0"/>
          <a:fontRef idx="minor"/>
        </p:style>
      </p:sp>
    </p:spTree>
  </p:cSld>
  <p:transition spd="slow">
    <p:comb dir="horz"/>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2"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Disk cache HIT</a:t>
            </a:r>
            <a:endParaRPr b="1" lang="nl-BE" sz="2800" spc="-1" strike="noStrike">
              <a:solidFill>
                <a:srgbClr val="000000"/>
              </a:solidFill>
              <a:latin typeface="Arial Narrow"/>
            </a:endParaRPr>
          </a:p>
        </p:txBody>
      </p:sp>
      <p:sp>
        <p:nvSpPr>
          <p:cNvPr id="173" name="CustomShape 2"/>
          <p:cNvSpPr/>
          <p:nvPr/>
        </p:nvSpPr>
        <p:spPr>
          <a:xfrm rot="10800000">
            <a:off x="1449360" y="3282480"/>
            <a:ext cx="6554880" cy="152640"/>
          </a:xfrm>
          <a:prstGeom prst="rect">
            <a:avLst/>
          </a:prstGeom>
          <a:solidFill>
            <a:srgbClr val="b2b2b2"/>
          </a:solidFill>
          <a:ln>
            <a:noFill/>
          </a:ln>
        </p:spPr>
        <p:style>
          <a:lnRef idx="0"/>
          <a:fillRef idx="0"/>
          <a:effectRef idx="0"/>
          <a:fontRef idx="minor"/>
        </p:style>
      </p:sp>
      <p:grpSp>
        <p:nvGrpSpPr>
          <p:cNvPr id="174" name="Group 3"/>
          <p:cNvGrpSpPr/>
          <p:nvPr/>
        </p:nvGrpSpPr>
        <p:grpSpPr>
          <a:xfrm>
            <a:off x="1952640" y="3087720"/>
            <a:ext cx="1333440" cy="754200"/>
            <a:chOff x="1952640" y="3087720"/>
            <a:chExt cx="1333440" cy="754200"/>
          </a:xfrm>
        </p:grpSpPr>
        <p:sp>
          <p:nvSpPr>
            <p:cNvPr id="175" name="CustomShape 4"/>
            <p:cNvSpPr/>
            <p:nvPr/>
          </p:nvSpPr>
          <p:spPr>
            <a:xfrm>
              <a:off x="1979640" y="3124080"/>
              <a:ext cx="1306440" cy="71784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808080"/>
              </a:solidFill>
              <a:round/>
            </a:ln>
          </p:spPr>
          <p:style>
            <a:lnRef idx="0"/>
            <a:fillRef idx="0"/>
            <a:effectRef idx="0"/>
            <a:fontRef idx="minor"/>
          </p:style>
        </p:sp>
        <p:sp>
          <p:nvSpPr>
            <p:cNvPr id="176" name="CustomShape 5"/>
            <p:cNvSpPr/>
            <p:nvPr/>
          </p:nvSpPr>
          <p:spPr>
            <a:xfrm>
              <a:off x="1952640" y="3087720"/>
              <a:ext cx="1308240" cy="7174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eaeaea"/>
            </a:solidFill>
            <a:ln w="9360">
              <a:solidFill>
                <a:srgbClr val="000000"/>
              </a:solidFill>
              <a:round/>
            </a:ln>
          </p:spPr>
          <p:style>
            <a:lnRef idx="0"/>
            <a:fillRef idx="0"/>
            <a:effectRef idx="0"/>
            <a:fontRef idx="minor"/>
          </p:style>
        </p:sp>
        <p:sp>
          <p:nvSpPr>
            <p:cNvPr id="177" name="CustomShape 6"/>
            <p:cNvSpPr/>
            <p:nvPr/>
          </p:nvSpPr>
          <p:spPr>
            <a:xfrm>
              <a:off x="2200320" y="3203640"/>
              <a:ext cx="727200" cy="3646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2640" bIns="46800">
              <a:spAutoFit/>
            </a:bodyPr>
            <a:p>
              <a:pPr algn="ctr">
                <a:lnSpc>
                  <a:spcPct val="93000"/>
                </a:lnSpc>
                <a:spcBef>
                  <a:spcPts val="112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Times New Roman"/>
                </a:rPr>
                <a:t>LAN</a:t>
              </a:r>
              <a:endParaRPr b="0" lang="nl-BE" sz="1800" spc="-1" strike="noStrike">
                <a:solidFill>
                  <a:srgbClr val="000000"/>
                </a:solidFill>
                <a:latin typeface="Times New Roman"/>
              </a:endParaRPr>
            </a:p>
          </p:txBody>
        </p:sp>
      </p:grpSp>
      <p:grpSp>
        <p:nvGrpSpPr>
          <p:cNvPr id="178" name="Group 7"/>
          <p:cNvGrpSpPr/>
          <p:nvPr/>
        </p:nvGrpSpPr>
        <p:grpSpPr>
          <a:xfrm>
            <a:off x="746280" y="2859120"/>
            <a:ext cx="969840" cy="799920"/>
            <a:chOff x="746280" y="2859120"/>
            <a:chExt cx="969840" cy="799920"/>
          </a:xfrm>
        </p:grpSpPr>
        <p:sp>
          <p:nvSpPr>
            <p:cNvPr id="179" name="CustomShape 8"/>
            <p:cNvSpPr/>
            <p:nvPr/>
          </p:nvSpPr>
          <p:spPr>
            <a:xfrm>
              <a:off x="1062000" y="3251160"/>
              <a:ext cx="368280" cy="76320"/>
            </a:xfrm>
            <a:custGeom>
              <a:avLst/>
              <a:gdLst/>
              <a:ahLst/>
              <a:rect l="0" t="0" r="r" b="b"/>
              <a:pathLst>
                <a:path w="1025" h="213">
                  <a:moveTo>
                    <a:pt x="0" y="212"/>
                  </a:moveTo>
                  <a:lnTo>
                    <a:pt x="1024" y="212"/>
                  </a:lnTo>
                  <a:lnTo>
                    <a:pt x="931" y="0"/>
                  </a:lnTo>
                  <a:lnTo>
                    <a:pt x="92" y="0"/>
                  </a:lnTo>
                  <a:lnTo>
                    <a:pt x="0" y="21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sp>
          <p:nvSpPr>
            <p:cNvPr id="180" name="CustomShape 9"/>
            <p:cNvSpPr/>
            <p:nvPr/>
          </p:nvSpPr>
          <p:spPr>
            <a:xfrm>
              <a:off x="977760" y="2859120"/>
              <a:ext cx="528840" cy="411120"/>
            </a:xfrm>
            <a:prstGeom prst="rect">
              <a:avLst/>
            </a:prstGeom>
            <a:gradFill rotWithShape="0">
              <a:gsLst>
                <a:gs pos="0">
                  <a:srgbClr val="b2b2b2"/>
                </a:gs>
                <a:gs pos="100000">
                  <a:srgbClr val="464646"/>
                </a:gs>
              </a:gsLst>
              <a:lin ang="10800000"/>
            </a:gradFill>
            <a:ln w="9360">
              <a:solidFill>
                <a:srgbClr val="000000"/>
              </a:solidFill>
              <a:miter/>
            </a:ln>
          </p:spPr>
          <p:style>
            <a:lnRef idx="0"/>
            <a:fillRef idx="0"/>
            <a:effectRef idx="0"/>
            <a:fontRef idx="minor"/>
          </p:style>
        </p:sp>
        <p:sp>
          <p:nvSpPr>
            <p:cNvPr id="181" name="CustomShape 10"/>
            <p:cNvSpPr/>
            <p:nvPr/>
          </p:nvSpPr>
          <p:spPr>
            <a:xfrm>
              <a:off x="1036800" y="2905200"/>
              <a:ext cx="415800" cy="295200"/>
            </a:xfrm>
            <a:prstGeom prst="rect">
              <a:avLst/>
            </a:prstGeom>
            <a:solidFill>
              <a:srgbClr val="ffffff"/>
            </a:solidFill>
            <a:ln w="9360">
              <a:solidFill>
                <a:srgbClr val="ffffff"/>
              </a:solidFill>
              <a:miter/>
            </a:ln>
          </p:spPr>
          <p:style>
            <a:lnRef idx="0"/>
            <a:fillRef idx="0"/>
            <a:effectRef idx="0"/>
            <a:fontRef idx="minor"/>
          </p:style>
        </p:sp>
        <p:sp>
          <p:nvSpPr>
            <p:cNvPr id="182" name="CustomShape 11"/>
            <p:cNvSpPr/>
            <p:nvPr/>
          </p:nvSpPr>
          <p:spPr>
            <a:xfrm>
              <a:off x="1055520" y="2921040"/>
              <a:ext cx="412920" cy="297000"/>
            </a:xfrm>
            <a:prstGeom prst="rect">
              <a:avLst/>
            </a:prstGeom>
            <a:gradFill rotWithShape="0">
              <a:gsLst>
                <a:gs pos="0">
                  <a:srgbClr val="000000"/>
                </a:gs>
                <a:gs pos="100000">
                  <a:srgbClr val="b2b2b2"/>
                </a:gs>
              </a:gsLst>
              <a:lin ang="10800000"/>
            </a:gradFill>
            <a:ln>
              <a:noFill/>
            </a:ln>
          </p:spPr>
          <p:style>
            <a:lnRef idx="0"/>
            <a:fillRef idx="0"/>
            <a:effectRef idx="0"/>
            <a:fontRef idx="minor"/>
          </p:style>
        </p:sp>
        <p:sp>
          <p:nvSpPr>
            <p:cNvPr id="183" name="CustomShape 12"/>
            <p:cNvSpPr/>
            <p:nvPr/>
          </p:nvSpPr>
          <p:spPr>
            <a:xfrm>
              <a:off x="857160" y="3330720"/>
              <a:ext cx="763560" cy="2635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84" name="CustomShape 13"/>
            <p:cNvSpPr/>
            <p:nvPr/>
          </p:nvSpPr>
          <p:spPr>
            <a:xfrm>
              <a:off x="746280" y="3548160"/>
              <a:ext cx="969840" cy="110880"/>
            </a:xfrm>
            <a:custGeom>
              <a:avLst/>
              <a:gdLst/>
              <a:ahLst/>
              <a:rect l="0" t="0" r="r" b="b"/>
              <a:pathLst>
                <a:path w="2696" h="310">
                  <a:moveTo>
                    <a:pt x="0" y="309"/>
                  </a:moveTo>
                  <a:lnTo>
                    <a:pt x="2695" y="309"/>
                  </a:lnTo>
                  <a:lnTo>
                    <a:pt x="2021" y="0"/>
                  </a:lnTo>
                  <a:lnTo>
                    <a:pt x="673" y="0"/>
                  </a:lnTo>
                  <a:lnTo>
                    <a:pt x="0" y="309"/>
                  </a:lnTo>
                </a:path>
              </a:pathLst>
            </a:custGeom>
            <a:gradFill rotWithShape="0">
              <a:gsLst>
                <a:gs pos="0">
                  <a:srgbClr val="525252"/>
                </a:gs>
                <a:gs pos="50000">
                  <a:srgbClr val="b2b2b2"/>
                </a:gs>
                <a:gs pos="100000">
                  <a:srgbClr val="525252"/>
                </a:gs>
              </a:gsLst>
              <a:lin ang="5400000"/>
            </a:gradFill>
            <a:ln w="9360">
              <a:solidFill>
                <a:srgbClr val="000000"/>
              </a:solidFill>
              <a:miter/>
            </a:ln>
          </p:spPr>
          <p:style>
            <a:lnRef idx="0"/>
            <a:fillRef idx="0"/>
            <a:effectRef idx="0"/>
            <a:fontRef idx="minor"/>
          </p:style>
        </p:sp>
        <p:sp>
          <p:nvSpPr>
            <p:cNvPr id="185" name="CustomShape 14"/>
            <p:cNvSpPr/>
            <p:nvPr/>
          </p:nvSpPr>
          <p:spPr>
            <a:xfrm>
              <a:off x="917640" y="3384720"/>
              <a:ext cx="36360" cy="126720"/>
            </a:xfrm>
            <a:prstGeom prst="rect">
              <a:avLst/>
            </a:prstGeom>
            <a:solidFill>
              <a:srgbClr val="808080"/>
            </a:solidFill>
            <a:ln w="9360">
              <a:solidFill>
                <a:srgbClr val="000000"/>
              </a:solidFill>
              <a:miter/>
            </a:ln>
          </p:spPr>
          <p:style>
            <a:lnRef idx="0"/>
            <a:fillRef idx="0"/>
            <a:effectRef idx="0"/>
            <a:fontRef idx="minor"/>
          </p:style>
        </p:sp>
        <p:sp>
          <p:nvSpPr>
            <p:cNvPr id="186" name="CustomShape 15"/>
            <p:cNvSpPr/>
            <p:nvPr/>
          </p:nvSpPr>
          <p:spPr>
            <a:xfrm>
              <a:off x="1019160" y="3384720"/>
              <a:ext cx="36360" cy="126720"/>
            </a:xfrm>
            <a:prstGeom prst="rect">
              <a:avLst/>
            </a:prstGeom>
            <a:solidFill>
              <a:srgbClr val="808080"/>
            </a:solidFill>
            <a:ln w="9360">
              <a:solidFill>
                <a:srgbClr val="000000"/>
              </a:solidFill>
              <a:miter/>
            </a:ln>
          </p:spPr>
          <p:style>
            <a:lnRef idx="0"/>
            <a:fillRef idx="0"/>
            <a:effectRef idx="0"/>
            <a:fontRef idx="minor"/>
          </p:style>
        </p:sp>
        <p:sp>
          <p:nvSpPr>
            <p:cNvPr id="187" name="CustomShape 16"/>
            <p:cNvSpPr/>
            <p:nvPr/>
          </p:nvSpPr>
          <p:spPr>
            <a:xfrm>
              <a:off x="1139760" y="3384720"/>
              <a:ext cx="36720" cy="126720"/>
            </a:xfrm>
            <a:prstGeom prst="rect">
              <a:avLst/>
            </a:prstGeom>
            <a:solidFill>
              <a:srgbClr val="808080"/>
            </a:solidFill>
            <a:ln w="9360">
              <a:solidFill>
                <a:srgbClr val="000000"/>
              </a:solidFill>
              <a:miter/>
            </a:ln>
          </p:spPr>
          <p:style>
            <a:lnRef idx="0"/>
            <a:fillRef idx="0"/>
            <a:effectRef idx="0"/>
            <a:fontRef idx="minor"/>
          </p:style>
        </p:sp>
      </p:grpSp>
      <p:grpSp>
        <p:nvGrpSpPr>
          <p:cNvPr id="188" name="Group 17"/>
          <p:cNvGrpSpPr/>
          <p:nvPr/>
        </p:nvGrpSpPr>
        <p:grpSpPr>
          <a:xfrm>
            <a:off x="4429080" y="1339920"/>
            <a:ext cx="914400" cy="3554280"/>
            <a:chOff x="4429080" y="1339920"/>
            <a:chExt cx="914400" cy="3554280"/>
          </a:xfrm>
        </p:grpSpPr>
        <p:sp>
          <p:nvSpPr>
            <p:cNvPr id="189" name="CustomShape 18"/>
            <p:cNvSpPr/>
            <p:nvPr/>
          </p:nvSpPr>
          <p:spPr>
            <a:xfrm rot="5400000">
              <a:off x="3108960" y="2659680"/>
              <a:ext cx="3554280" cy="91440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90" name="CustomShape 19"/>
            <p:cNvSpPr/>
            <p:nvPr/>
          </p:nvSpPr>
          <p:spPr>
            <a:xfrm rot="5400000">
              <a:off x="4850640" y="1492920"/>
              <a:ext cx="169920" cy="441360"/>
            </a:xfrm>
            <a:prstGeom prst="rect">
              <a:avLst/>
            </a:prstGeom>
            <a:solidFill>
              <a:srgbClr val="808080"/>
            </a:solidFill>
            <a:ln w="9360">
              <a:solidFill>
                <a:srgbClr val="000000"/>
              </a:solidFill>
              <a:miter/>
            </a:ln>
          </p:spPr>
          <p:style>
            <a:lnRef idx="0"/>
            <a:fillRef idx="0"/>
            <a:effectRef idx="0"/>
            <a:fontRef idx="minor"/>
          </p:style>
        </p:sp>
        <p:sp>
          <p:nvSpPr>
            <p:cNvPr id="191" name="CustomShape 20"/>
            <p:cNvSpPr/>
            <p:nvPr/>
          </p:nvSpPr>
          <p:spPr>
            <a:xfrm rot="5400000">
              <a:off x="4846680" y="1962000"/>
              <a:ext cx="177840" cy="441360"/>
            </a:xfrm>
            <a:prstGeom prst="rect">
              <a:avLst/>
            </a:prstGeom>
            <a:solidFill>
              <a:srgbClr val="808080"/>
            </a:solidFill>
            <a:ln w="9360">
              <a:solidFill>
                <a:srgbClr val="000000"/>
              </a:solidFill>
              <a:miter/>
            </a:ln>
          </p:spPr>
          <p:style>
            <a:lnRef idx="0"/>
            <a:fillRef idx="0"/>
            <a:effectRef idx="0"/>
            <a:fontRef idx="minor"/>
          </p:style>
        </p:sp>
        <p:sp>
          <p:nvSpPr>
            <p:cNvPr id="192" name="CustomShape 21"/>
            <p:cNvSpPr/>
            <p:nvPr/>
          </p:nvSpPr>
          <p:spPr>
            <a:xfrm rot="5400000">
              <a:off x="4850640" y="2516760"/>
              <a:ext cx="169560" cy="441360"/>
            </a:xfrm>
            <a:prstGeom prst="rect">
              <a:avLst/>
            </a:prstGeom>
            <a:solidFill>
              <a:srgbClr val="808080"/>
            </a:solidFill>
            <a:ln w="9360">
              <a:solidFill>
                <a:srgbClr val="000000"/>
              </a:solidFill>
              <a:miter/>
            </a:ln>
          </p:spPr>
          <p:style>
            <a:lnRef idx="0"/>
            <a:fillRef idx="0"/>
            <a:effectRef idx="0"/>
            <a:fontRef idx="minor"/>
          </p:style>
        </p:sp>
      </p:grpSp>
      <p:sp>
        <p:nvSpPr>
          <p:cNvPr id="193" name="CustomShape 22"/>
          <p:cNvSpPr/>
          <p:nvPr/>
        </p:nvSpPr>
        <p:spPr>
          <a:xfrm>
            <a:off x="4106880" y="4665240"/>
            <a:ext cx="1596960" cy="246240"/>
          </a:xfrm>
          <a:custGeom>
            <a:avLst/>
            <a:gdLst/>
            <a:ahLst/>
            <a:rect l="0" t="0" r="r" b="b"/>
            <a:pathLst>
              <a:path w="4438" h="686">
                <a:moveTo>
                  <a:pt x="0" y="685"/>
                </a:moveTo>
                <a:lnTo>
                  <a:pt x="4437" y="685"/>
                </a:lnTo>
                <a:lnTo>
                  <a:pt x="4037" y="0"/>
                </a:lnTo>
                <a:lnTo>
                  <a:pt x="399" y="0"/>
                </a:lnTo>
                <a:lnTo>
                  <a:pt x="0" y="685"/>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nvGrpSpPr>
          <p:cNvPr id="194" name="Group 23"/>
          <p:cNvGrpSpPr/>
          <p:nvPr/>
        </p:nvGrpSpPr>
        <p:grpSpPr>
          <a:xfrm>
            <a:off x="7935840" y="2693880"/>
            <a:ext cx="523800" cy="1166760"/>
            <a:chOff x="7935840" y="2693880"/>
            <a:chExt cx="523800" cy="1166760"/>
          </a:xfrm>
        </p:grpSpPr>
        <p:grpSp>
          <p:nvGrpSpPr>
            <p:cNvPr id="195" name="Group 24"/>
            <p:cNvGrpSpPr/>
            <p:nvPr/>
          </p:nvGrpSpPr>
          <p:grpSpPr>
            <a:xfrm>
              <a:off x="8029440" y="2693880"/>
              <a:ext cx="346320" cy="1166760"/>
              <a:chOff x="8029440" y="2693880"/>
              <a:chExt cx="346320" cy="1166760"/>
            </a:xfrm>
          </p:grpSpPr>
          <p:sp>
            <p:nvSpPr>
              <p:cNvPr id="196" name="CustomShape 25"/>
              <p:cNvSpPr/>
              <p:nvPr/>
            </p:nvSpPr>
            <p:spPr>
              <a:xfrm rot="5400000">
                <a:off x="7619040" y="3103920"/>
                <a:ext cx="1166760" cy="3463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197" name="CustomShape 26"/>
              <p:cNvSpPr/>
              <p:nvPr/>
            </p:nvSpPr>
            <p:spPr>
              <a:xfrm rot="5400000">
                <a:off x="8194320" y="2733480"/>
                <a:ext cx="55440" cy="166680"/>
              </a:xfrm>
              <a:prstGeom prst="rect">
                <a:avLst/>
              </a:prstGeom>
              <a:solidFill>
                <a:srgbClr val="808080"/>
              </a:solidFill>
              <a:ln w="9360">
                <a:solidFill>
                  <a:srgbClr val="000000"/>
                </a:solidFill>
                <a:miter/>
              </a:ln>
            </p:spPr>
            <p:style>
              <a:lnRef idx="0"/>
              <a:fillRef idx="0"/>
              <a:effectRef idx="0"/>
              <a:fontRef idx="minor"/>
            </p:style>
          </p:sp>
          <p:sp>
            <p:nvSpPr>
              <p:cNvPr id="198" name="CustomShape 27"/>
              <p:cNvSpPr/>
              <p:nvPr/>
            </p:nvSpPr>
            <p:spPr>
              <a:xfrm rot="5400000">
                <a:off x="8192880" y="2887560"/>
                <a:ext cx="58680" cy="166680"/>
              </a:xfrm>
              <a:prstGeom prst="rect">
                <a:avLst/>
              </a:prstGeom>
              <a:solidFill>
                <a:srgbClr val="808080"/>
              </a:solidFill>
              <a:ln w="9360">
                <a:solidFill>
                  <a:srgbClr val="000000"/>
                </a:solidFill>
                <a:miter/>
              </a:ln>
            </p:spPr>
            <p:style>
              <a:lnRef idx="0"/>
              <a:fillRef idx="0"/>
              <a:effectRef idx="0"/>
              <a:fontRef idx="minor"/>
            </p:style>
          </p:sp>
          <p:sp>
            <p:nvSpPr>
              <p:cNvPr id="199" name="CustomShape 28"/>
              <p:cNvSpPr/>
              <p:nvPr/>
            </p:nvSpPr>
            <p:spPr>
              <a:xfrm rot="5400000">
                <a:off x="8194320" y="3070080"/>
                <a:ext cx="55440" cy="166680"/>
              </a:xfrm>
              <a:prstGeom prst="rect">
                <a:avLst/>
              </a:prstGeom>
              <a:solidFill>
                <a:srgbClr val="808080"/>
              </a:solidFill>
              <a:ln w="9360">
                <a:solidFill>
                  <a:srgbClr val="000000"/>
                </a:solidFill>
                <a:miter/>
              </a:ln>
            </p:spPr>
            <p:style>
              <a:lnRef idx="0"/>
              <a:fillRef idx="0"/>
              <a:effectRef idx="0"/>
              <a:fontRef idx="minor"/>
            </p:style>
          </p:sp>
        </p:grpSp>
        <p:sp>
          <p:nvSpPr>
            <p:cNvPr id="200" name="CustomShape 29"/>
            <p:cNvSpPr/>
            <p:nvPr/>
          </p:nvSpPr>
          <p:spPr>
            <a:xfrm>
              <a:off x="7935840" y="3741840"/>
              <a:ext cx="523800" cy="93600"/>
            </a:xfrm>
            <a:custGeom>
              <a:avLst/>
              <a:gdLst/>
              <a:ahLst/>
              <a:rect l="0" t="0" r="r" b="b"/>
              <a:pathLst>
                <a:path w="1456" h="262">
                  <a:moveTo>
                    <a:pt x="0" y="261"/>
                  </a:moveTo>
                  <a:lnTo>
                    <a:pt x="1455" y="261"/>
                  </a:lnTo>
                  <a:lnTo>
                    <a:pt x="1324" y="0"/>
                  </a:lnTo>
                  <a:lnTo>
                    <a:pt x="131" y="0"/>
                  </a:lnTo>
                  <a:lnTo>
                    <a:pt x="0" y="261"/>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sp>
        <p:nvSpPr>
          <p:cNvPr id="201" name="CustomShape 30"/>
          <p:cNvSpPr/>
          <p:nvPr/>
        </p:nvSpPr>
        <p:spPr>
          <a:xfrm>
            <a:off x="830160" y="3743280"/>
            <a:ext cx="773640" cy="39492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44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2000" spc="-1" strike="noStrike">
                <a:solidFill>
                  <a:srgbClr val="000000"/>
                </a:solidFill>
                <a:latin typeface="Times New Roman"/>
              </a:rPr>
              <a:t>client</a:t>
            </a:r>
            <a:endParaRPr b="0" lang="nl-BE" sz="2000" spc="-1" strike="noStrike">
              <a:solidFill>
                <a:srgbClr val="000000"/>
              </a:solidFill>
              <a:latin typeface="Times New Roman"/>
            </a:endParaRPr>
          </a:p>
        </p:txBody>
      </p:sp>
      <p:sp>
        <p:nvSpPr>
          <p:cNvPr id="202" name="CustomShape 31"/>
          <p:cNvSpPr/>
          <p:nvPr/>
        </p:nvSpPr>
        <p:spPr>
          <a:xfrm>
            <a:off x="7742160" y="3922560"/>
            <a:ext cx="936720" cy="6782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44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HTTP </a:t>
            </a:r>
            <a:br/>
            <a:r>
              <a:rPr b="1" lang="nl-NL" sz="2000" spc="-1" strike="noStrike">
                <a:solidFill>
                  <a:srgbClr val="000000"/>
                </a:solidFill>
                <a:latin typeface="Times New Roman"/>
              </a:rPr>
              <a:t>Server</a:t>
            </a:r>
            <a:endParaRPr b="0" lang="nl-BE" sz="2000" spc="-1" strike="noStrike">
              <a:solidFill>
                <a:srgbClr val="000000"/>
              </a:solidFill>
              <a:latin typeface="Times New Roman"/>
            </a:endParaRPr>
          </a:p>
        </p:txBody>
      </p:sp>
      <p:grpSp>
        <p:nvGrpSpPr>
          <p:cNvPr id="203" name="Group 32"/>
          <p:cNvGrpSpPr/>
          <p:nvPr/>
        </p:nvGrpSpPr>
        <p:grpSpPr>
          <a:xfrm>
            <a:off x="6105600" y="3124080"/>
            <a:ext cx="1417680" cy="700200"/>
            <a:chOff x="6105600" y="3124080"/>
            <a:chExt cx="1417680" cy="700200"/>
          </a:xfrm>
        </p:grpSpPr>
        <p:sp>
          <p:nvSpPr>
            <p:cNvPr id="204" name="CustomShape 33"/>
            <p:cNvSpPr/>
            <p:nvPr/>
          </p:nvSpPr>
          <p:spPr>
            <a:xfrm>
              <a:off x="6135840" y="3159000"/>
              <a:ext cx="1387440" cy="6652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000000"/>
              </a:solidFill>
              <a:round/>
            </a:ln>
          </p:spPr>
          <p:style>
            <a:lnRef idx="0"/>
            <a:fillRef idx="0"/>
            <a:effectRef idx="0"/>
            <a:fontRef idx="minor"/>
          </p:style>
        </p:sp>
        <p:sp>
          <p:nvSpPr>
            <p:cNvPr id="205" name="CustomShape 34"/>
            <p:cNvSpPr/>
            <p:nvPr/>
          </p:nvSpPr>
          <p:spPr>
            <a:xfrm>
              <a:off x="6105600" y="3124080"/>
              <a:ext cx="1387440" cy="6652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eaeaea"/>
            </a:solidFill>
            <a:ln w="9360">
              <a:solidFill>
                <a:srgbClr val="808080"/>
              </a:solidFill>
              <a:round/>
            </a:ln>
          </p:spPr>
          <p:style>
            <a:lnRef idx="0"/>
            <a:fillRef idx="0"/>
            <a:effectRef idx="0"/>
            <a:fontRef idx="minor"/>
          </p:style>
        </p:sp>
        <p:sp>
          <p:nvSpPr>
            <p:cNvPr id="206" name="CustomShape 35"/>
            <p:cNvSpPr/>
            <p:nvPr/>
          </p:nvSpPr>
          <p:spPr>
            <a:xfrm>
              <a:off x="6419880" y="3232080"/>
              <a:ext cx="772920" cy="3646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2640" bIns="46800">
              <a:spAutoFit/>
            </a:bodyPr>
            <a:p>
              <a:pPr algn="ctr">
                <a:lnSpc>
                  <a:spcPct val="93000"/>
                </a:lnSpc>
                <a:spcBef>
                  <a:spcPts val="112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1800" spc="-1" strike="noStrike">
                  <a:solidFill>
                    <a:srgbClr val="000000"/>
                  </a:solidFill>
                  <a:latin typeface="Times New Roman"/>
                </a:rPr>
                <a:t>www</a:t>
              </a:r>
              <a:endParaRPr b="0" lang="nl-BE" sz="1800" spc="-1" strike="noStrike">
                <a:solidFill>
                  <a:srgbClr val="000000"/>
                </a:solidFill>
                <a:latin typeface="Times New Roman"/>
              </a:endParaRPr>
            </a:p>
          </p:txBody>
        </p:sp>
      </p:grpSp>
      <p:sp>
        <p:nvSpPr>
          <p:cNvPr id="207" name="CustomShape 36"/>
          <p:cNvSpPr/>
          <p:nvPr/>
        </p:nvSpPr>
        <p:spPr>
          <a:xfrm>
            <a:off x="4057560" y="4930920"/>
            <a:ext cx="1629000" cy="39492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44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Proxy </a:t>
            </a:r>
            <a:r>
              <a:rPr b="1" lang="nl-NL" sz="2000" spc="-1" strike="noStrike">
                <a:solidFill>
                  <a:srgbClr val="000000"/>
                </a:solidFill>
                <a:latin typeface="Times New Roman"/>
              </a:rPr>
              <a:t>Server</a:t>
            </a:r>
            <a:endParaRPr b="0" lang="nl-BE" sz="2000" spc="-1" strike="noStrike">
              <a:solidFill>
                <a:srgbClr val="000000"/>
              </a:solidFill>
              <a:latin typeface="Times New Roman"/>
            </a:endParaRPr>
          </a:p>
        </p:txBody>
      </p:sp>
      <p:sp>
        <p:nvSpPr>
          <p:cNvPr id="208" name="Line 37"/>
          <p:cNvSpPr/>
          <p:nvPr/>
        </p:nvSpPr>
        <p:spPr>
          <a:xfrm flipV="1">
            <a:off x="1751040" y="2999880"/>
            <a:ext cx="2251080" cy="17640"/>
          </a:xfrm>
          <a:prstGeom prst="line">
            <a:avLst/>
          </a:prstGeom>
          <a:ln w="38160">
            <a:solidFill>
              <a:srgbClr val="3333cc"/>
            </a:solidFill>
            <a:miter/>
            <a:tailEnd len="med" type="triangle" w="med"/>
          </a:ln>
        </p:spPr>
        <p:style>
          <a:lnRef idx="0"/>
          <a:fillRef idx="0"/>
          <a:effectRef idx="0"/>
          <a:fontRef idx="minor"/>
        </p:style>
      </p:sp>
      <p:sp>
        <p:nvSpPr>
          <p:cNvPr id="209" name="CustomShape 38"/>
          <p:cNvSpPr/>
          <p:nvPr/>
        </p:nvSpPr>
        <p:spPr>
          <a:xfrm>
            <a:off x="1284480" y="2233440"/>
            <a:ext cx="295596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3333cc"/>
                </a:solidFill>
                <a:latin typeface="Times New Roman"/>
              </a:rPr>
              <a:t>1</a:t>
            </a:r>
            <a:r>
              <a:rPr b="0" lang="fr-BE" sz="1800" spc="-1" strike="noStrike">
                <a:solidFill>
                  <a:srgbClr val="3333cc"/>
                </a:solidFill>
                <a:latin typeface="Times New Roman"/>
              </a:rPr>
              <a:t> http://www.kdg.be/info.htm</a:t>
            </a:r>
            <a:endParaRPr b="0" lang="nl-BE" sz="1800" spc="-1" strike="noStrike">
              <a:solidFill>
                <a:srgbClr val="000000"/>
              </a:solidFill>
              <a:latin typeface="Times New Roman"/>
            </a:endParaRPr>
          </a:p>
        </p:txBody>
      </p:sp>
      <p:sp>
        <p:nvSpPr>
          <p:cNvPr id="210" name="CustomShape 39"/>
          <p:cNvSpPr/>
          <p:nvPr/>
        </p:nvSpPr>
        <p:spPr>
          <a:xfrm>
            <a:off x="2193840" y="3868560"/>
            <a:ext cx="1192680" cy="45504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3333cc"/>
                </a:solidFill>
                <a:latin typeface="Times New Roman"/>
              </a:rPr>
              <a:t>2</a:t>
            </a:r>
            <a:r>
              <a:rPr b="0" lang="fr-BE" sz="2400" spc="-1" strike="noStrike">
                <a:solidFill>
                  <a:srgbClr val="3333cc"/>
                </a:solidFill>
                <a:latin typeface="Times New Roman"/>
              </a:rPr>
              <a:t> </a:t>
            </a:r>
            <a:r>
              <a:rPr b="0" lang="fr-BE" sz="1800" spc="-1" strike="noStrike">
                <a:solidFill>
                  <a:srgbClr val="3333cc"/>
                </a:solidFill>
                <a:latin typeface="Times New Roman"/>
              </a:rPr>
              <a:t>info.htm</a:t>
            </a:r>
            <a:endParaRPr b="0" lang="nl-BE" sz="1800" spc="-1" strike="noStrike">
              <a:solidFill>
                <a:srgbClr val="000000"/>
              </a:solidFill>
              <a:latin typeface="Times New Roman"/>
            </a:endParaRPr>
          </a:p>
        </p:txBody>
      </p:sp>
      <p:sp>
        <p:nvSpPr>
          <p:cNvPr id="211" name="Line 40"/>
          <p:cNvSpPr/>
          <p:nvPr/>
        </p:nvSpPr>
        <p:spPr>
          <a:xfrm flipH="1">
            <a:off x="1733400" y="3616200"/>
            <a:ext cx="2238480" cy="1800"/>
          </a:xfrm>
          <a:prstGeom prst="line">
            <a:avLst/>
          </a:prstGeom>
          <a:ln w="38160">
            <a:solidFill>
              <a:srgbClr val="3333cc"/>
            </a:solidFill>
            <a:miter/>
            <a:tailEnd len="med" type="triangle" w="med"/>
          </a:ln>
        </p:spPr>
        <p:style>
          <a:lnRef idx="0"/>
          <a:fillRef idx="0"/>
          <a:effectRef idx="0"/>
          <a:fontRef idx="minor"/>
        </p:style>
      </p:sp>
      <p:grpSp>
        <p:nvGrpSpPr>
          <p:cNvPr id="212" name="Group 41"/>
          <p:cNvGrpSpPr/>
          <p:nvPr/>
        </p:nvGrpSpPr>
        <p:grpSpPr>
          <a:xfrm>
            <a:off x="4398840" y="3278160"/>
            <a:ext cx="989280" cy="944640"/>
            <a:chOff x="4398840" y="3278160"/>
            <a:chExt cx="989280" cy="944640"/>
          </a:xfrm>
        </p:grpSpPr>
        <p:sp>
          <p:nvSpPr>
            <p:cNvPr id="213" name="CustomShape 42"/>
            <p:cNvSpPr/>
            <p:nvPr/>
          </p:nvSpPr>
          <p:spPr>
            <a:xfrm>
              <a:off x="4398840" y="3278160"/>
              <a:ext cx="989280" cy="944640"/>
            </a:xfrm>
            <a:prstGeom prst="rect">
              <a:avLst/>
            </a:prstGeom>
            <a:solidFill>
              <a:srgbClr val="eaeaea"/>
            </a:solidFill>
            <a:ln w="9360">
              <a:solidFill>
                <a:srgbClr val="3333cc"/>
              </a:solidFill>
              <a:miter/>
            </a:ln>
          </p:spPr>
          <p:style>
            <a:lnRef idx="0"/>
            <a:fillRef idx="0"/>
            <a:effectRef idx="0"/>
            <a:fontRef idx="minor"/>
          </p:style>
        </p:sp>
        <p:sp>
          <p:nvSpPr>
            <p:cNvPr id="214" name="CustomShape 43"/>
            <p:cNvSpPr/>
            <p:nvPr/>
          </p:nvSpPr>
          <p:spPr>
            <a:xfrm>
              <a:off x="4448160" y="3611520"/>
              <a:ext cx="876240" cy="304200"/>
            </a:xfrm>
            <a:custGeom>
              <a:avLst/>
              <a:gdLst/>
              <a:ahLst/>
              <a:rect l="l" t="t" r="r" b="b"/>
              <a:pathLst>
                <a:path w="21600" h="21600">
                  <a:moveTo>
                    <a:pt x="0" y="0"/>
                  </a:moveTo>
                  <a:lnTo>
                    <a:pt x="21600" y="0"/>
                  </a:lnTo>
                  <a:lnTo>
                    <a:pt x="21600" y="21600"/>
                  </a:lnTo>
                  <a:lnTo>
                    <a:pt x="0" y="21600"/>
                  </a:lnTo>
                  <a:lnTo>
                    <a:pt x="0" y="0"/>
                  </a:lnTo>
                  <a:close/>
                </a:path>
              </a:pathLst>
            </a:custGeom>
            <a:noFill/>
            <a:ln w="9360">
              <a:solidFill>
                <a:srgbClr val="3333cc"/>
              </a:solidFill>
              <a:miter/>
            </a:ln>
          </p:spPr>
          <p:style>
            <a:lnRef idx="0"/>
            <a:fillRef idx="0"/>
            <a:effectRef idx="0"/>
            <a:fontRef idx="minor"/>
          </p:style>
          <p:txBody>
            <a:bodyPr lIns="90000" rIns="90000" tIns="59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1400" spc="-1" strike="noStrike">
                  <a:solidFill>
                    <a:srgbClr val="3333cc"/>
                  </a:solidFill>
                  <a:latin typeface="Times New Roman"/>
                </a:rPr>
                <a:t>info.htm</a:t>
              </a:r>
              <a:endParaRPr b="0" lang="nl-BE" sz="1400" spc="-1" strike="noStrike">
                <a:solidFill>
                  <a:srgbClr val="000000"/>
                </a:solidFill>
                <a:latin typeface="Times New Roman"/>
              </a:endParaRPr>
            </a:p>
          </p:txBody>
        </p:sp>
      </p:grpSp>
      <p:sp>
        <p:nvSpPr>
          <p:cNvPr id="215" name="CustomShape 44"/>
          <p:cNvSpPr/>
          <p:nvPr/>
        </p:nvSpPr>
        <p:spPr>
          <a:xfrm>
            <a:off x="4468680" y="2673360"/>
            <a:ext cx="817560" cy="455040"/>
          </a:xfrm>
          <a:custGeom>
            <a:avLst/>
            <a:gdLst/>
            <a:ahLst/>
            <a:rect l="l" t="t" r="r" b="b"/>
            <a:pathLst>
              <a:path w="21600" h="21600">
                <a:moveTo>
                  <a:pt x="0" y="0"/>
                </a:moveTo>
                <a:lnTo>
                  <a:pt x="21600" y="0"/>
                </a:lnTo>
                <a:lnTo>
                  <a:pt x="21600" y="21600"/>
                </a:lnTo>
                <a:lnTo>
                  <a:pt x="0" y="21600"/>
                </a:lnTo>
                <a:lnTo>
                  <a:pt x="0" y="0"/>
                </a:lnTo>
                <a:close/>
              </a:path>
            </a:pathLst>
          </a:custGeom>
          <a:solidFill>
            <a:srgbClr val="ffffff"/>
          </a:solidFill>
          <a:ln>
            <a:noFill/>
          </a:ln>
        </p:spPr>
        <p:style>
          <a:lnRef idx="0"/>
          <a:fillRef idx="0"/>
          <a:effectRef idx="0"/>
          <a:fontRef idx="minor"/>
        </p:style>
        <p:txBody>
          <a:bodyPr lIns="90000" rIns="90000" tIns="680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3333cc"/>
                </a:solidFill>
                <a:latin typeface="Times New Roman"/>
              </a:rPr>
              <a:t>HIT</a:t>
            </a:r>
            <a:endParaRPr b="0" lang="nl-BE" sz="2400" spc="-1" strike="noStrike">
              <a:solidFill>
                <a:srgbClr val="000000"/>
              </a:solidFill>
              <a:latin typeface="Times New Roman"/>
            </a:endParaRPr>
          </a:p>
        </p:txBody>
      </p:sp>
    </p:spTree>
  </p:cSld>
  <p:transition spd="slow">
    <p:comb dir="horz"/>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6"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Functie: </a:t>
            </a:r>
            <a:r>
              <a:rPr b="1" lang="nl-NL" sz="2800" spc="-1" strike="noStrike">
                <a:solidFill>
                  <a:srgbClr val="000000"/>
                </a:solidFill>
                <a:latin typeface="Arial Narrow"/>
              </a:rPr>
              <a:t>Client accelerator</a:t>
            </a:r>
            <a:endParaRPr b="1" lang="nl-BE" sz="2800" spc="-1" strike="noStrike">
              <a:solidFill>
                <a:srgbClr val="000000"/>
              </a:solidFill>
              <a:latin typeface="Arial Narrow"/>
            </a:endParaRPr>
          </a:p>
        </p:txBody>
      </p:sp>
      <p:sp>
        <p:nvSpPr>
          <p:cNvPr id="217"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fr-BE" sz="2400" spc="-1" strike="noStrike">
                <a:solidFill>
                  <a:srgbClr val="000000"/>
                </a:solidFill>
                <a:latin typeface="Times New Roman"/>
              </a:rPr>
              <a:t>De client accelerator of standard proxy cache</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Maakt gebruik van een disk cache om reeds opgehaalde gegevens geen tweede keer te gaan ophalen.</a:t>
            </a:r>
            <a:endParaRPr b="0" lang="nl-BE" sz="2400" spc="-1" strike="noStrike">
              <a:solidFill>
                <a:srgbClr val="000000"/>
              </a:solidFill>
              <a:latin typeface="Times New Roman"/>
            </a:endParaRPr>
          </a:p>
        </p:txBody>
      </p:sp>
      <p:pic>
        <p:nvPicPr>
          <p:cNvPr id="218" name="" descr=""/>
          <p:cNvPicPr/>
          <p:nvPr/>
        </p:nvPicPr>
        <p:blipFill>
          <a:blip r:embed="rId1"/>
          <a:stretch/>
        </p:blipFill>
        <p:spPr>
          <a:xfrm>
            <a:off x="3058560" y="2938320"/>
            <a:ext cx="4397400" cy="3035160"/>
          </a:xfrm>
          <a:prstGeom prst="rect">
            <a:avLst/>
          </a:prstGeom>
          <a:ln>
            <a:noFill/>
          </a:ln>
        </p:spPr>
      </p:pic>
    </p:spTree>
  </p:cSld>
  <p:transition spd="slow">
    <p:comb dir="horz"/>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9"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Functie: HTTP accelerator</a:t>
            </a:r>
            <a:endParaRPr b="1" lang="nl-BE" sz="2800" spc="-1" strike="noStrike">
              <a:solidFill>
                <a:srgbClr val="000000"/>
              </a:solidFill>
              <a:latin typeface="Arial Narrow"/>
            </a:endParaRPr>
          </a:p>
        </p:txBody>
      </p:sp>
      <p:sp>
        <p:nvSpPr>
          <p:cNvPr id="220"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proxy doet dienst als een front-end voor webservers op het lokale netwerk.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Door een HTTP accelerator te gebruiken kunnen we het verkeer op een lokaal netwerk ontlasten.</a:t>
            </a:r>
            <a:endParaRPr b="1" lang="nl-BE" sz="2400" spc="-1" strike="noStrike">
              <a:solidFill>
                <a:srgbClr val="000000"/>
              </a:solidFill>
              <a:latin typeface="Times New Roman"/>
            </a:endParaRPr>
          </a:p>
          <a:p>
            <a:pPr lvl="1" marL="742680" indent="-285480">
              <a:spcBef>
                <a:spcPts val="598"/>
              </a:spcBef>
              <a:buClr>
                <a:srgbClr val="000000"/>
              </a:buClr>
              <a:buFont typeface="Times New Roman"/>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De gebruiker die vanuit internet de gegevens van onze lokale webserver wil raadplegen, start geen verbinding op met de eigenlijke webserver maar wel met de HTTP accelerator. </a:t>
            </a:r>
            <a:endParaRPr b="0" lang="nl-BE" sz="2400" spc="-1" strike="noStrike">
              <a:solidFill>
                <a:srgbClr val="000000"/>
              </a:solidFill>
              <a:latin typeface="Times New Roman"/>
            </a:endParaRPr>
          </a:p>
        </p:txBody>
      </p:sp>
    </p:spTree>
  </p:cSld>
  <p:transition spd="slow">
    <p:comb dir="horz"/>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1"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Functie: HTTP accelerator 2</a:t>
            </a:r>
            <a:endParaRPr b="1" lang="nl-BE" sz="2800" spc="-1" strike="noStrike">
              <a:solidFill>
                <a:srgbClr val="000000"/>
              </a:solidFill>
              <a:latin typeface="Arial Narrow"/>
            </a:endParaRPr>
          </a:p>
        </p:txBody>
      </p:sp>
      <p:sp>
        <p:nvSpPr>
          <p:cNvPr id="222"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Gegevens die statisch zijn zoals gewone webpagina's worden vanuit de proxy cache gegeven.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Dynamische gegevens, zoals gegevens die uit databanken worden gehaald, worden rechtstreeks van de webserver gehaald.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HTTP accelerator heeft ook een firewall functie. Gebruikers van het internet kunnen niet rechtstreeks binnen in het privé netwerk.</a:t>
            </a:r>
            <a:endParaRPr b="1" lang="nl-BE" sz="2400" spc="-1" strike="noStrike">
              <a:solidFill>
                <a:srgbClr val="000000"/>
              </a:solidFill>
              <a:latin typeface="Times New Roman"/>
            </a:endParaRPr>
          </a:p>
          <a:p>
            <a:pPr marL="341280" indent="-341280">
              <a:lnSpc>
                <a:spcPct val="93000"/>
              </a:lnSpc>
              <a:spcBef>
                <a:spcPts val="598"/>
              </a:spcBef>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p:txBody>
      </p:sp>
    </p:spTree>
  </p:cSld>
  <p:transition spd="slow">
    <p:comb dir="horz"/>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3"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HTTP accelerator bij statische pagina</a:t>
            </a:r>
            <a:endParaRPr b="1" lang="nl-BE" sz="2800" spc="-1" strike="noStrike">
              <a:solidFill>
                <a:srgbClr val="000000"/>
              </a:solidFill>
              <a:latin typeface="Arial Narrow"/>
            </a:endParaRPr>
          </a:p>
        </p:txBody>
      </p:sp>
      <p:sp>
        <p:nvSpPr>
          <p:cNvPr id="224" name="CustomShape 2"/>
          <p:cNvSpPr/>
          <p:nvPr/>
        </p:nvSpPr>
        <p:spPr>
          <a:xfrm rot="10800000">
            <a:off x="1663560" y="3425400"/>
            <a:ext cx="6554880" cy="152640"/>
          </a:xfrm>
          <a:prstGeom prst="rect">
            <a:avLst/>
          </a:prstGeom>
          <a:solidFill>
            <a:srgbClr val="b2b2b2"/>
          </a:solidFill>
          <a:ln>
            <a:noFill/>
          </a:ln>
        </p:spPr>
        <p:style>
          <a:lnRef idx="0"/>
          <a:fillRef idx="0"/>
          <a:effectRef idx="0"/>
          <a:fontRef idx="minor"/>
        </p:style>
      </p:sp>
      <p:grpSp>
        <p:nvGrpSpPr>
          <p:cNvPr id="225" name="Group 3"/>
          <p:cNvGrpSpPr/>
          <p:nvPr/>
        </p:nvGrpSpPr>
        <p:grpSpPr>
          <a:xfrm>
            <a:off x="2733840" y="3157560"/>
            <a:ext cx="1334880" cy="754200"/>
            <a:chOff x="2733840" y="3157560"/>
            <a:chExt cx="1334880" cy="754200"/>
          </a:xfrm>
        </p:grpSpPr>
        <p:sp>
          <p:nvSpPr>
            <p:cNvPr id="226" name="CustomShape 4"/>
            <p:cNvSpPr/>
            <p:nvPr/>
          </p:nvSpPr>
          <p:spPr>
            <a:xfrm>
              <a:off x="2762280" y="3193920"/>
              <a:ext cx="1306440" cy="71784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808080"/>
              </a:solidFill>
              <a:round/>
            </a:ln>
          </p:spPr>
          <p:style>
            <a:lnRef idx="0"/>
            <a:fillRef idx="0"/>
            <a:effectRef idx="0"/>
            <a:fontRef idx="minor"/>
          </p:style>
        </p:sp>
        <p:sp>
          <p:nvSpPr>
            <p:cNvPr id="227" name="CustomShape 5"/>
            <p:cNvSpPr/>
            <p:nvPr/>
          </p:nvSpPr>
          <p:spPr>
            <a:xfrm>
              <a:off x="2733840" y="3157560"/>
              <a:ext cx="1307880" cy="7174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eaeaea"/>
            </a:solidFill>
            <a:ln w="9360">
              <a:solidFill>
                <a:srgbClr val="000000"/>
              </a:solidFill>
              <a:round/>
            </a:ln>
          </p:spPr>
          <p:style>
            <a:lnRef idx="0"/>
            <a:fillRef idx="0"/>
            <a:effectRef idx="0"/>
            <a:fontRef idx="minor"/>
          </p:style>
        </p:sp>
        <p:sp>
          <p:nvSpPr>
            <p:cNvPr id="228" name="CustomShape 6"/>
            <p:cNvSpPr/>
            <p:nvPr/>
          </p:nvSpPr>
          <p:spPr>
            <a:xfrm>
              <a:off x="2981160" y="3273480"/>
              <a:ext cx="727200" cy="3646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2640" bIns="46800">
              <a:spAutoFit/>
            </a:bodyPr>
            <a:p>
              <a:pPr algn="ctr">
                <a:lnSpc>
                  <a:spcPct val="93000"/>
                </a:lnSpc>
                <a:spcBef>
                  <a:spcPts val="112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Times New Roman"/>
                </a:rPr>
                <a:t>LAN</a:t>
              </a:r>
              <a:endParaRPr b="0" lang="nl-BE" sz="1800" spc="-1" strike="noStrike">
                <a:solidFill>
                  <a:srgbClr val="000000"/>
                </a:solidFill>
                <a:latin typeface="Times New Roman"/>
              </a:endParaRPr>
            </a:p>
          </p:txBody>
        </p:sp>
      </p:grpSp>
      <p:grpSp>
        <p:nvGrpSpPr>
          <p:cNvPr id="229" name="Group 7"/>
          <p:cNvGrpSpPr/>
          <p:nvPr/>
        </p:nvGrpSpPr>
        <p:grpSpPr>
          <a:xfrm>
            <a:off x="7867800" y="3071880"/>
            <a:ext cx="969840" cy="796320"/>
            <a:chOff x="7867800" y="3071880"/>
            <a:chExt cx="969840" cy="796320"/>
          </a:xfrm>
        </p:grpSpPr>
        <p:sp>
          <p:nvSpPr>
            <p:cNvPr id="230" name="CustomShape 8"/>
            <p:cNvSpPr/>
            <p:nvPr/>
          </p:nvSpPr>
          <p:spPr>
            <a:xfrm>
              <a:off x="8183520" y="3463920"/>
              <a:ext cx="368280" cy="76320"/>
            </a:xfrm>
            <a:custGeom>
              <a:avLst/>
              <a:gdLst/>
              <a:ahLst/>
              <a:rect l="0" t="0" r="r" b="b"/>
              <a:pathLst>
                <a:path w="1025" h="213">
                  <a:moveTo>
                    <a:pt x="0" y="212"/>
                  </a:moveTo>
                  <a:lnTo>
                    <a:pt x="1024" y="212"/>
                  </a:lnTo>
                  <a:lnTo>
                    <a:pt x="931" y="0"/>
                  </a:lnTo>
                  <a:lnTo>
                    <a:pt x="92" y="0"/>
                  </a:lnTo>
                  <a:lnTo>
                    <a:pt x="0" y="212"/>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sp>
          <p:nvSpPr>
            <p:cNvPr id="231" name="CustomShape 9"/>
            <p:cNvSpPr/>
            <p:nvPr/>
          </p:nvSpPr>
          <p:spPr>
            <a:xfrm>
              <a:off x="8099280" y="3071880"/>
              <a:ext cx="528840" cy="411120"/>
            </a:xfrm>
            <a:prstGeom prst="rect">
              <a:avLst/>
            </a:prstGeom>
            <a:gradFill rotWithShape="0">
              <a:gsLst>
                <a:gs pos="0">
                  <a:srgbClr val="b2b2b2"/>
                </a:gs>
                <a:gs pos="100000">
                  <a:srgbClr val="464646"/>
                </a:gs>
              </a:gsLst>
              <a:lin ang="10800000"/>
            </a:gradFill>
            <a:ln w="9360">
              <a:solidFill>
                <a:srgbClr val="000000"/>
              </a:solidFill>
              <a:miter/>
            </a:ln>
          </p:spPr>
          <p:style>
            <a:lnRef idx="0"/>
            <a:fillRef idx="0"/>
            <a:effectRef idx="0"/>
            <a:fontRef idx="minor"/>
          </p:style>
        </p:sp>
        <p:sp>
          <p:nvSpPr>
            <p:cNvPr id="232" name="CustomShape 10"/>
            <p:cNvSpPr/>
            <p:nvPr/>
          </p:nvSpPr>
          <p:spPr>
            <a:xfrm>
              <a:off x="8158320" y="3117960"/>
              <a:ext cx="415800" cy="295200"/>
            </a:xfrm>
            <a:prstGeom prst="rect">
              <a:avLst/>
            </a:prstGeom>
            <a:solidFill>
              <a:srgbClr val="ffffff"/>
            </a:solidFill>
            <a:ln w="9360">
              <a:solidFill>
                <a:srgbClr val="ffffff"/>
              </a:solidFill>
              <a:miter/>
            </a:ln>
          </p:spPr>
          <p:style>
            <a:lnRef idx="0"/>
            <a:fillRef idx="0"/>
            <a:effectRef idx="0"/>
            <a:fontRef idx="minor"/>
          </p:style>
        </p:sp>
        <p:sp>
          <p:nvSpPr>
            <p:cNvPr id="233" name="CustomShape 11"/>
            <p:cNvSpPr/>
            <p:nvPr/>
          </p:nvSpPr>
          <p:spPr>
            <a:xfrm>
              <a:off x="8177040" y="3135240"/>
              <a:ext cx="412920" cy="297000"/>
            </a:xfrm>
            <a:prstGeom prst="rect">
              <a:avLst/>
            </a:prstGeom>
            <a:gradFill rotWithShape="0">
              <a:gsLst>
                <a:gs pos="0">
                  <a:srgbClr val="000000"/>
                </a:gs>
                <a:gs pos="100000">
                  <a:srgbClr val="b2b2b2"/>
                </a:gs>
              </a:gsLst>
              <a:lin ang="10800000"/>
            </a:gradFill>
            <a:ln>
              <a:noFill/>
            </a:ln>
          </p:spPr>
          <p:style>
            <a:lnRef idx="0"/>
            <a:fillRef idx="0"/>
            <a:effectRef idx="0"/>
            <a:fontRef idx="minor"/>
          </p:style>
        </p:sp>
        <p:sp>
          <p:nvSpPr>
            <p:cNvPr id="234" name="CustomShape 12"/>
            <p:cNvSpPr/>
            <p:nvPr/>
          </p:nvSpPr>
          <p:spPr>
            <a:xfrm>
              <a:off x="7980480" y="3543480"/>
              <a:ext cx="763560" cy="26352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235" name="CustomShape 13"/>
            <p:cNvSpPr/>
            <p:nvPr/>
          </p:nvSpPr>
          <p:spPr>
            <a:xfrm>
              <a:off x="7867800" y="3756600"/>
              <a:ext cx="969840" cy="111240"/>
            </a:xfrm>
            <a:custGeom>
              <a:avLst/>
              <a:gdLst/>
              <a:ahLst/>
              <a:rect l="0" t="0" r="r" b="b"/>
              <a:pathLst>
                <a:path w="2696" h="311">
                  <a:moveTo>
                    <a:pt x="0" y="310"/>
                  </a:moveTo>
                  <a:lnTo>
                    <a:pt x="2695" y="310"/>
                  </a:lnTo>
                  <a:lnTo>
                    <a:pt x="2021" y="0"/>
                  </a:lnTo>
                  <a:lnTo>
                    <a:pt x="673" y="0"/>
                  </a:lnTo>
                  <a:lnTo>
                    <a:pt x="0" y="310"/>
                  </a:lnTo>
                </a:path>
              </a:pathLst>
            </a:custGeom>
            <a:gradFill rotWithShape="0">
              <a:gsLst>
                <a:gs pos="0">
                  <a:srgbClr val="525252"/>
                </a:gs>
                <a:gs pos="50000">
                  <a:srgbClr val="b2b2b2"/>
                </a:gs>
                <a:gs pos="100000">
                  <a:srgbClr val="525252"/>
                </a:gs>
              </a:gsLst>
              <a:lin ang="5400000"/>
            </a:gradFill>
            <a:ln w="9360">
              <a:solidFill>
                <a:srgbClr val="000000"/>
              </a:solidFill>
              <a:miter/>
            </a:ln>
          </p:spPr>
          <p:style>
            <a:lnRef idx="0"/>
            <a:fillRef idx="0"/>
            <a:effectRef idx="0"/>
            <a:fontRef idx="minor"/>
          </p:style>
        </p:sp>
        <p:sp>
          <p:nvSpPr>
            <p:cNvPr id="236" name="CustomShape 14"/>
            <p:cNvSpPr/>
            <p:nvPr/>
          </p:nvSpPr>
          <p:spPr>
            <a:xfrm>
              <a:off x="8040600" y="3597120"/>
              <a:ext cx="36720" cy="127080"/>
            </a:xfrm>
            <a:prstGeom prst="rect">
              <a:avLst/>
            </a:prstGeom>
            <a:solidFill>
              <a:srgbClr val="808080"/>
            </a:solidFill>
            <a:ln w="9360">
              <a:solidFill>
                <a:srgbClr val="000000"/>
              </a:solidFill>
              <a:miter/>
            </a:ln>
          </p:spPr>
          <p:style>
            <a:lnRef idx="0"/>
            <a:fillRef idx="0"/>
            <a:effectRef idx="0"/>
            <a:fontRef idx="minor"/>
          </p:style>
        </p:sp>
        <p:sp>
          <p:nvSpPr>
            <p:cNvPr id="237" name="CustomShape 15"/>
            <p:cNvSpPr/>
            <p:nvPr/>
          </p:nvSpPr>
          <p:spPr>
            <a:xfrm>
              <a:off x="8142120" y="3598920"/>
              <a:ext cx="36720" cy="127080"/>
            </a:xfrm>
            <a:prstGeom prst="rect">
              <a:avLst/>
            </a:prstGeom>
            <a:solidFill>
              <a:srgbClr val="808080"/>
            </a:solidFill>
            <a:ln w="9360">
              <a:solidFill>
                <a:srgbClr val="000000"/>
              </a:solidFill>
              <a:miter/>
            </a:ln>
          </p:spPr>
          <p:style>
            <a:lnRef idx="0"/>
            <a:fillRef idx="0"/>
            <a:effectRef idx="0"/>
            <a:fontRef idx="minor"/>
          </p:style>
        </p:sp>
        <p:sp>
          <p:nvSpPr>
            <p:cNvPr id="238" name="CustomShape 16"/>
            <p:cNvSpPr/>
            <p:nvPr/>
          </p:nvSpPr>
          <p:spPr>
            <a:xfrm>
              <a:off x="8261280" y="3598920"/>
              <a:ext cx="36720" cy="127080"/>
            </a:xfrm>
            <a:prstGeom prst="rect">
              <a:avLst/>
            </a:prstGeom>
            <a:solidFill>
              <a:srgbClr val="808080"/>
            </a:solidFill>
            <a:ln w="9360">
              <a:solidFill>
                <a:srgbClr val="000000"/>
              </a:solidFill>
              <a:miter/>
            </a:ln>
          </p:spPr>
          <p:style>
            <a:lnRef idx="0"/>
            <a:fillRef idx="0"/>
            <a:effectRef idx="0"/>
            <a:fontRef idx="minor"/>
          </p:style>
        </p:sp>
      </p:grpSp>
      <p:sp>
        <p:nvSpPr>
          <p:cNvPr id="239" name="CustomShape 17"/>
          <p:cNvSpPr/>
          <p:nvPr/>
        </p:nvSpPr>
        <p:spPr>
          <a:xfrm>
            <a:off x="911160" y="4991040"/>
            <a:ext cx="1600200" cy="12448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44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Interne</a:t>
            </a:r>
            <a:br/>
            <a:r>
              <a:rPr b="1" lang="fr-BE" sz="2000" spc="-1" strike="noStrike">
                <a:solidFill>
                  <a:srgbClr val="000000"/>
                </a:solidFill>
                <a:latin typeface="Times New Roman"/>
              </a:rPr>
              <a:t>HTTP </a:t>
            </a:r>
            <a:br/>
            <a:r>
              <a:rPr b="1" lang="nl-NL" sz="2000" spc="-1" strike="noStrike">
                <a:solidFill>
                  <a:srgbClr val="000000"/>
                </a:solidFill>
                <a:latin typeface="Times New Roman"/>
              </a:rPr>
              <a:t>Server</a:t>
            </a:r>
            <a:endParaRPr b="0" lang="nl-BE" sz="2000" spc="-1" strike="noStrike">
              <a:solidFill>
                <a:srgbClr val="000000"/>
              </a:solidFill>
              <a:latin typeface="Times New Roman"/>
            </a:endParaRPr>
          </a:p>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www.web.be</a:t>
            </a:r>
            <a:endParaRPr b="0" lang="nl-BE" sz="2000" spc="-1" strike="noStrike">
              <a:solidFill>
                <a:srgbClr val="000000"/>
              </a:solidFill>
              <a:latin typeface="Times New Roman"/>
            </a:endParaRPr>
          </a:p>
        </p:txBody>
      </p:sp>
      <p:grpSp>
        <p:nvGrpSpPr>
          <p:cNvPr id="240" name="Group 18"/>
          <p:cNvGrpSpPr/>
          <p:nvPr/>
        </p:nvGrpSpPr>
        <p:grpSpPr>
          <a:xfrm>
            <a:off x="6319800" y="3222720"/>
            <a:ext cx="1417680" cy="698400"/>
            <a:chOff x="6319800" y="3222720"/>
            <a:chExt cx="1417680" cy="698400"/>
          </a:xfrm>
        </p:grpSpPr>
        <p:sp>
          <p:nvSpPr>
            <p:cNvPr id="241" name="CustomShape 19"/>
            <p:cNvSpPr/>
            <p:nvPr/>
          </p:nvSpPr>
          <p:spPr>
            <a:xfrm>
              <a:off x="6350040" y="3255840"/>
              <a:ext cx="1387440" cy="66528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000000"/>
            </a:solidFill>
            <a:ln w="9360">
              <a:solidFill>
                <a:srgbClr val="000000"/>
              </a:solidFill>
              <a:round/>
            </a:ln>
          </p:spPr>
          <p:style>
            <a:lnRef idx="0"/>
            <a:fillRef idx="0"/>
            <a:effectRef idx="0"/>
            <a:fontRef idx="minor"/>
          </p:style>
        </p:sp>
        <p:sp>
          <p:nvSpPr>
            <p:cNvPr id="242" name="CustomShape 20"/>
            <p:cNvSpPr/>
            <p:nvPr/>
          </p:nvSpPr>
          <p:spPr>
            <a:xfrm>
              <a:off x="6319800" y="3222720"/>
              <a:ext cx="1387440" cy="664920"/>
            </a:xfrm>
            <a:custGeom>
              <a:avLst/>
              <a:gdLst/>
              <a:ahLst/>
              <a:rect l="l" t="t" r="r" b="b"/>
              <a:pathLst>
                <a:path w="1408" h="578">
                  <a:moveTo>
                    <a:pt x="491" y="534"/>
                  </a:moveTo>
                  <a:cubicBezTo>
                    <a:pt x="426" y="551"/>
                    <a:pt x="462" y="540"/>
                    <a:pt x="382" y="567"/>
                  </a:cubicBezTo>
                  <a:cubicBezTo>
                    <a:pt x="371" y="571"/>
                    <a:pt x="349" y="578"/>
                    <a:pt x="349" y="578"/>
                  </a:cubicBezTo>
                  <a:cubicBezTo>
                    <a:pt x="335" y="574"/>
                    <a:pt x="320" y="571"/>
                    <a:pt x="306" y="567"/>
                  </a:cubicBezTo>
                  <a:cubicBezTo>
                    <a:pt x="284" y="560"/>
                    <a:pt x="240" y="545"/>
                    <a:pt x="240" y="545"/>
                  </a:cubicBezTo>
                  <a:cubicBezTo>
                    <a:pt x="183" y="506"/>
                    <a:pt x="123" y="500"/>
                    <a:pt x="55" y="490"/>
                  </a:cubicBezTo>
                  <a:cubicBezTo>
                    <a:pt x="44" y="487"/>
                    <a:pt x="29" y="489"/>
                    <a:pt x="22" y="480"/>
                  </a:cubicBezTo>
                  <a:cubicBezTo>
                    <a:pt x="8" y="461"/>
                    <a:pt x="0" y="414"/>
                    <a:pt x="0" y="414"/>
                  </a:cubicBezTo>
                  <a:cubicBezTo>
                    <a:pt x="4" y="389"/>
                    <a:pt x="1" y="361"/>
                    <a:pt x="11" y="338"/>
                  </a:cubicBezTo>
                  <a:cubicBezTo>
                    <a:pt x="16" y="326"/>
                    <a:pt x="34" y="324"/>
                    <a:pt x="44" y="316"/>
                  </a:cubicBezTo>
                  <a:cubicBezTo>
                    <a:pt x="134" y="241"/>
                    <a:pt x="24" y="319"/>
                    <a:pt x="109" y="261"/>
                  </a:cubicBezTo>
                  <a:cubicBezTo>
                    <a:pt x="126" y="210"/>
                    <a:pt x="100" y="188"/>
                    <a:pt x="120" y="130"/>
                  </a:cubicBezTo>
                  <a:cubicBezTo>
                    <a:pt x="132" y="93"/>
                    <a:pt x="208" y="54"/>
                    <a:pt x="208" y="54"/>
                  </a:cubicBezTo>
                  <a:cubicBezTo>
                    <a:pt x="215" y="43"/>
                    <a:pt x="218" y="28"/>
                    <a:pt x="229" y="21"/>
                  </a:cubicBezTo>
                  <a:cubicBezTo>
                    <a:pt x="249" y="9"/>
                    <a:pt x="295" y="0"/>
                    <a:pt x="295" y="0"/>
                  </a:cubicBezTo>
                  <a:cubicBezTo>
                    <a:pt x="372" y="8"/>
                    <a:pt x="401" y="4"/>
                    <a:pt x="459" y="43"/>
                  </a:cubicBezTo>
                  <a:cubicBezTo>
                    <a:pt x="561" y="28"/>
                    <a:pt x="611" y="23"/>
                    <a:pt x="720" y="32"/>
                  </a:cubicBezTo>
                  <a:cubicBezTo>
                    <a:pt x="742" y="39"/>
                    <a:pt x="767" y="41"/>
                    <a:pt x="786" y="54"/>
                  </a:cubicBezTo>
                  <a:cubicBezTo>
                    <a:pt x="797" y="61"/>
                    <a:pt x="807" y="71"/>
                    <a:pt x="819" y="76"/>
                  </a:cubicBezTo>
                  <a:cubicBezTo>
                    <a:pt x="840" y="85"/>
                    <a:pt x="884" y="98"/>
                    <a:pt x="884" y="98"/>
                  </a:cubicBezTo>
                  <a:cubicBezTo>
                    <a:pt x="991" y="62"/>
                    <a:pt x="927" y="74"/>
                    <a:pt x="1080" y="87"/>
                  </a:cubicBezTo>
                  <a:cubicBezTo>
                    <a:pt x="1170" y="117"/>
                    <a:pt x="1127" y="96"/>
                    <a:pt x="1211" y="152"/>
                  </a:cubicBezTo>
                  <a:cubicBezTo>
                    <a:pt x="1222" y="159"/>
                    <a:pt x="1244" y="174"/>
                    <a:pt x="1244" y="174"/>
                  </a:cubicBezTo>
                  <a:cubicBezTo>
                    <a:pt x="1264" y="204"/>
                    <a:pt x="1269" y="206"/>
                    <a:pt x="1277" y="240"/>
                  </a:cubicBezTo>
                  <a:cubicBezTo>
                    <a:pt x="1282" y="261"/>
                    <a:pt x="1275" y="287"/>
                    <a:pt x="1288" y="305"/>
                  </a:cubicBezTo>
                  <a:cubicBezTo>
                    <a:pt x="1303" y="326"/>
                    <a:pt x="1353" y="349"/>
                    <a:pt x="1353" y="349"/>
                  </a:cubicBezTo>
                  <a:cubicBezTo>
                    <a:pt x="1408" y="430"/>
                    <a:pt x="1382" y="513"/>
                    <a:pt x="1288" y="545"/>
                  </a:cubicBezTo>
                  <a:cubicBezTo>
                    <a:pt x="1255" y="541"/>
                    <a:pt x="1222" y="540"/>
                    <a:pt x="1190" y="534"/>
                  </a:cubicBezTo>
                  <a:cubicBezTo>
                    <a:pt x="1167" y="529"/>
                    <a:pt x="1146" y="519"/>
                    <a:pt x="1124" y="512"/>
                  </a:cubicBezTo>
                  <a:cubicBezTo>
                    <a:pt x="1113" y="508"/>
                    <a:pt x="1091" y="501"/>
                    <a:pt x="1091" y="501"/>
                  </a:cubicBezTo>
                  <a:cubicBezTo>
                    <a:pt x="1051" y="509"/>
                    <a:pt x="958" y="557"/>
                    <a:pt x="928" y="556"/>
                  </a:cubicBezTo>
                  <a:cubicBezTo>
                    <a:pt x="782" y="553"/>
                    <a:pt x="637" y="541"/>
                    <a:pt x="491" y="534"/>
                  </a:cubicBezTo>
                  <a:close/>
                </a:path>
              </a:pathLst>
            </a:custGeom>
            <a:solidFill>
              <a:srgbClr val="eaeaea"/>
            </a:solidFill>
            <a:ln w="9360">
              <a:solidFill>
                <a:srgbClr val="808080"/>
              </a:solidFill>
              <a:round/>
            </a:ln>
          </p:spPr>
          <p:style>
            <a:lnRef idx="0"/>
            <a:fillRef idx="0"/>
            <a:effectRef idx="0"/>
            <a:fontRef idx="minor"/>
          </p:style>
        </p:sp>
        <p:sp>
          <p:nvSpPr>
            <p:cNvPr id="243" name="CustomShape 21"/>
            <p:cNvSpPr/>
            <p:nvPr/>
          </p:nvSpPr>
          <p:spPr>
            <a:xfrm>
              <a:off x="6634080" y="3330720"/>
              <a:ext cx="773280" cy="36468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2640" bIns="46800">
              <a:spAutoFit/>
            </a:bodyPr>
            <a:p>
              <a:pPr algn="ctr">
                <a:lnSpc>
                  <a:spcPct val="93000"/>
                </a:lnSpc>
                <a:spcBef>
                  <a:spcPts val="112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1800" spc="-1" strike="noStrike">
                  <a:solidFill>
                    <a:srgbClr val="000000"/>
                  </a:solidFill>
                  <a:latin typeface="Times New Roman"/>
                </a:rPr>
                <a:t>www</a:t>
              </a:r>
              <a:endParaRPr b="0" lang="nl-BE" sz="1800" spc="-1" strike="noStrike">
                <a:solidFill>
                  <a:srgbClr val="000000"/>
                </a:solidFill>
                <a:latin typeface="Times New Roman"/>
              </a:endParaRPr>
            </a:p>
          </p:txBody>
        </p:sp>
      </p:grpSp>
      <p:sp>
        <p:nvSpPr>
          <p:cNvPr id="244" name="CustomShape 22"/>
          <p:cNvSpPr/>
          <p:nvPr/>
        </p:nvSpPr>
        <p:spPr>
          <a:xfrm>
            <a:off x="4286160" y="5045040"/>
            <a:ext cx="1832040" cy="961560"/>
          </a:xfrm>
          <a:custGeom>
            <a:avLst/>
            <a:gdLst/>
            <a:ahLst/>
            <a:rect l="l" t="t" r="r" b="b"/>
            <a:pathLst>
              <a:path w="21600" h="21600">
                <a:moveTo>
                  <a:pt x="0" y="0"/>
                </a:moveTo>
                <a:lnTo>
                  <a:pt x="21600" y="0"/>
                </a:lnTo>
                <a:lnTo>
                  <a:pt x="21600" y="21600"/>
                </a:lnTo>
                <a:lnTo>
                  <a:pt x="0" y="21600"/>
                </a:lnTo>
                <a:lnTo>
                  <a:pt x="0" y="0"/>
                </a:lnTo>
                <a:close/>
              </a:path>
            </a:pathLst>
          </a:custGeom>
          <a:noFill/>
          <a:ln>
            <a:noFill/>
          </a:ln>
        </p:spPr>
        <p:style>
          <a:lnRef idx="0"/>
          <a:fillRef idx="0"/>
          <a:effectRef idx="0"/>
          <a:fontRef idx="minor"/>
        </p:style>
        <p:txBody>
          <a:bodyPr lIns="90000" rIns="90000" tIns="64440" bIns="46800">
            <a:sp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000" spc="-1" strike="noStrike">
                <a:solidFill>
                  <a:srgbClr val="000000"/>
                </a:solidFill>
                <a:latin typeface="Times New Roman"/>
              </a:rPr>
              <a:t>Proxy </a:t>
            </a:r>
            <a:r>
              <a:rPr b="1" lang="nl-NL" sz="2000" spc="-1" strike="noStrike">
                <a:solidFill>
                  <a:srgbClr val="000000"/>
                </a:solidFill>
                <a:latin typeface="Times New Roman"/>
              </a:rPr>
              <a:t>Server</a:t>
            </a:r>
            <a:r>
              <a:rPr b="1" lang="fr-BE" sz="2000" spc="-1" strike="noStrike">
                <a:solidFill>
                  <a:srgbClr val="000000"/>
                </a:solidFill>
                <a:latin typeface="Times New Roman"/>
              </a:rPr>
              <a:t> als HTTP accelerator</a:t>
            </a:r>
            <a:endParaRPr b="0" lang="nl-BE" sz="2000" spc="-1" strike="noStrike">
              <a:solidFill>
                <a:srgbClr val="000000"/>
              </a:solidFill>
              <a:latin typeface="Times New Roman"/>
            </a:endParaRPr>
          </a:p>
        </p:txBody>
      </p:sp>
      <p:sp>
        <p:nvSpPr>
          <p:cNvPr id="245" name="Line 23"/>
          <p:cNvSpPr/>
          <p:nvPr/>
        </p:nvSpPr>
        <p:spPr>
          <a:xfrm>
            <a:off x="5888160" y="4087800"/>
            <a:ext cx="2119320" cy="14400"/>
          </a:xfrm>
          <a:prstGeom prst="line">
            <a:avLst/>
          </a:prstGeom>
          <a:ln w="38160">
            <a:solidFill>
              <a:srgbClr val="ff0000"/>
            </a:solidFill>
            <a:miter/>
            <a:tailEnd len="med" type="triangle" w="med"/>
          </a:ln>
        </p:spPr>
        <p:style>
          <a:lnRef idx="0"/>
          <a:fillRef idx="0"/>
          <a:effectRef idx="0"/>
          <a:fontRef idx="minor"/>
        </p:style>
      </p:sp>
      <p:sp>
        <p:nvSpPr>
          <p:cNvPr id="246" name="Line 24"/>
          <p:cNvSpPr/>
          <p:nvPr/>
        </p:nvSpPr>
        <p:spPr>
          <a:xfrm flipH="1">
            <a:off x="2354400" y="4106880"/>
            <a:ext cx="2079360" cy="1440"/>
          </a:xfrm>
          <a:prstGeom prst="line">
            <a:avLst/>
          </a:prstGeom>
          <a:ln w="38160">
            <a:solidFill>
              <a:srgbClr val="3333cc"/>
            </a:solidFill>
            <a:custDash>
              <a:ds d="100000" sp="100000"/>
            </a:custDash>
            <a:miter/>
            <a:headEnd len="med" type="triangle" w="med"/>
            <a:tailEnd len="med" type="triangle" w="med"/>
          </a:ln>
        </p:spPr>
        <p:style>
          <a:lnRef idx="0"/>
          <a:fillRef idx="0"/>
          <a:effectRef idx="0"/>
          <a:fontRef idx="minor"/>
        </p:style>
      </p:sp>
      <p:sp>
        <p:nvSpPr>
          <p:cNvPr id="247" name="CustomShape 25"/>
          <p:cNvSpPr/>
          <p:nvPr/>
        </p:nvSpPr>
        <p:spPr>
          <a:xfrm>
            <a:off x="5760720" y="2413080"/>
            <a:ext cx="2993760" cy="455040"/>
          </a:xfrm>
          <a:prstGeom prst="rect">
            <a:avLst/>
          </a:pr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ff0000"/>
                </a:solidFill>
                <a:latin typeface="Times New Roman"/>
              </a:rPr>
              <a:t>1</a:t>
            </a:r>
            <a:r>
              <a:rPr b="0" lang="fr-BE" sz="1800" spc="-1" strike="noStrike">
                <a:solidFill>
                  <a:srgbClr val="ff0000"/>
                </a:solidFill>
                <a:latin typeface="Times New Roman"/>
              </a:rPr>
              <a:t> http://www.web.be/info.htm</a:t>
            </a:r>
            <a:endParaRPr b="0" lang="nl-BE" sz="1800" spc="-1" strike="noStrike">
              <a:solidFill>
                <a:srgbClr val="000000"/>
              </a:solidFill>
              <a:latin typeface="Times New Roman"/>
            </a:endParaRPr>
          </a:p>
        </p:txBody>
      </p:sp>
      <p:sp>
        <p:nvSpPr>
          <p:cNvPr id="248" name="CustomShape 26"/>
          <p:cNvSpPr/>
          <p:nvPr/>
        </p:nvSpPr>
        <p:spPr>
          <a:xfrm>
            <a:off x="6451920" y="4148280"/>
            <a:ext cx="1174320" cy="455040"/>
          </a:xfrm>
          <a:prstGeom prst="rect">
            <a:avLst/>
          </a:prstGeom>
          <a:noFill/>
          <a:ln>
            <a:noFill/>
          </a:ln>
        </p:spPr>
        <p:style>
          <a:lnRef idx="0"/>
          <a:fillRef idx="0"/>
          <a:effectRef idx="0"/>
          <a:fontRef idx="minor"/>
        </p:style>
        <p:txBody>
          <a:bodyPr wrap="none" lIns="90000" rIns="90000" tIns="68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2400" spc="-1" strike="noStrike">
                <a:solidFill>
                  <a:srgbClr val="ff0000"/>
                </a:solidFill>
                <a:latin typeface="Times New Roman"/>
              </a:rPr>
              <a:t>2</a:t>
            </a:r>
            <a:r>
              <a:rPr b="0" lang="fr-BE" sz="1800" spc="-1" strike="noStrike">
                <a:solidFill>
                  <a:srgbClr val="ff0000"/>
                </a:solidFill>
                <a:latin typeface="Times New Roman"/>
              </a:rPr>
              <a:t> info.htm</a:t>
            </a:r>
            <a:endParaRPr b="0" lang="nl-BE" sz="1800" spc="-1" strike="noStrike">
              <a:solidFill>
                <a:srgbClr val="000000"/>
              </a:solidFill>
              <a:latin typeface="Times New Roman"/>
            </a:endParaRPr>
          </a:p>
        </p:txBody>
      </p:sp>
      <p:sp>
        <p:nvSpPr>
          <p:cNvPr id="249" name="Line 27"/>
          <p:cNvSpPr/>
          <p:nvPr/>
        </p:nvSpPr>
        <p:spPr>
          <a:xfrm flipH="1" flipV="1">
            <a:off x="5810400" y="3132000"/>
            <a:ext cx="2179440" cy="5040"/>
          </a:xfrm>
          <a:prstGeom prst="line">
            <a:avLst/>
          </a:prstGeom>
          <a:ln w="38160">
            <a:solidFill>
              <a:srgbClr val="ff0000"/>
            </a:solidFill>
            <a:miter/>
            <a:tailEnd len="med" type="triangle" w="med"/>
          </a:ln>
        </p:spPr>
        <p:style>
          <a:lnRef idx="0"/>
          <a:fillRef idx="0"/>
          <a:effectRef idx="0"/>
          <a:fontRef idx="minor"/>
        </p:style>
      </p:sp>
      <p:grpSp>
        <p:nvGrpSpPr>
          <p:cNvPr id="250" name="Group 28"/>
          <p:cNvGrpSpPr/>
          <p:nvPr/>
        </p:nvGrpSpPr>
        <p:grpSpPr>
          <a:xfrm>
            <a:off x="4643280" y="1481040"/>
            <a:ext cx="914400" cy="3554640"/>
            <a:chOff x="4643280" y="1481040"/>
            <a:chExt cx="914400" cy="3554640"/>
          </a:xfrm>
        </p:grpSpPr>
        <p:sp>
          <p:nvSpPr>
            <p:cNvPr id="251" name="CustomShape 29"/>
            <p:cNvSpPr/>
            <p:nvPr/>
          </p:nvSpPr>
          <p:spPr>
            <a:xfrm rot="5400000">
              <a:off x="3323160" y="2801160"/>
              <a:ext cx="3554640" cy="91440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252" name="CustomShape 30"/>
            <p:cNvSpPr/>
            <p:nvPr/>
          </p:nvSpPr>
          <p:spPr>
            <a:xfrm rot="5400000">
              <a:off x="5064840" y="1634400"/>
              <a:ext cx="169920" cy="441360"/>
            </a:xfrm>
            <a:prstGeom prst="rect">
              <a:avLst/>
            </a:prstGeom>
            <a:solidFill>
              <a:srgbClr val="808080"/>
            </a:solidFill>
            <a:ln w="9360">
              <a:solidFill>
                <a:srgbClr val="000000"/>
              </a:solidFill>
              <a:miter/>
            </a:ln>
          </p:spPr>
          <p:style>
            <a:lnRef idx="0"/>
            <a:fillRef idx="0"/>
            <a:effectRef idx="0"/>
            <a:fontRef idx="minor"/>
          </p:style>
        </p:sp>
        <p:sp>
          <p:nvSpPr>
            <p:cNvPr id="253" name="CustomShape 31"/>
            <p:cNvSpPr/>
            <p:nvPr/>
          </p:nvSpPr>
          <p:spPr>
            <a:xfrm rot="5400000">
              <a:off x="5060880" y="2103480"/>
              <a:ext cx="177840" cy="441360"/>
            </a:xfrm>
            <a:prstGeom prst="rect">
              <a:avLst/>
            </a:prstGeom>
            <a:solidFill>
              <a:srgbClr val="808080"/>
            </a:solidFill>
            <a:ln w="9360">
              <a:solidFill>
                <a:srgbClr val="000000"/>
              </a:solidFill>
              <a:miter/>
            </a:ln>
          </p:spPr>
          <p:style>
            <a:lnRef idx="0"/>
            <a:fillRef idx="0"/>
            <a:effectRef idx="0"/>
            <a:fontRef idx="minor"/>
          </p:style>
        </p:sp>
        <p:sp>
          <p:nvSpPr>
            <p:cNvPr id="254" name="CustomShape 32"/>
            <p:cNvSpPr/>
            <p:nvPr/>
          </p:nvSpPr>
          <p:spPr>
            <a:xfrm rot="5400000">
              <a:off x="5064840" y="2659680"/>
              <a:ext cx="169560" cy="441360"/>
            </a:xfrm>
            <a:prstGeom prst="rect">
              <a:avLst/>
            </a:prstGeom>
            <a:solidFill>
              <a:srgbClr val="808080"/>
            </a:solidFill>
            <a:ln w="9360">
              <a:solidFill>
                <a:srgbClr val="000000"/>
              </a:solidFill>
              <a:miter/>
            </a:ln>
          </p:spPr>
          <p:style>
            <a:lnRef idx="0"/>
            <a:fillRef idx="0"/>
            <a:effectRef idx="0"/>
            <a:fontRef idx="minor"/>
          </p:style>
        </p:sp>
      </p:grpSp>
      <p:sp>
        <p:nvSpPr>
          <p:cNvPr id="255" name="CustomShape 33"/>
          <p:cNvSpPr/>
          <p:nvPr/>
        </p:nvSpPr>
        <p:spPr>
          <a:xfrm>
            <a:off x="4280040" y="4843800"/>
            <a:ext cx="1596960" cy="245880"/>
          </a:xfrm>
          <a:custGeom>
            <a:avLst/>
            <a:gdLst/>
            <a:ahLst/>
            <a:rect l="0" t="0" r="r" b="b"/>
            <a:pathLst>
              <a:path w="4438" h="685">
                <a:moveTo>
                  <a:pt x="0" y="684"/>
                </a:moveTo>
                <a:lnTo>
                  <a:pt x="4437" y="684"/>
                </a:lnTo>
                <a:lnTo>
                  <a:pt x="4037" y="0"/>
                </a:lnTo>
                <a:lnTo>
                  <a:pt x="399" y="0"/>
                </a:lnTo>
                <a:lnTo>
                  <a:pt x="0" y="684"/>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nvGrpSpPr>
          <p:cNvPr id="256" name="Group 34"/>
          <p:cNvGrpSpPr/>
          <p:nvPr/>
        </p:nvGrpSpPr>
        <p:grpSpPr>
          <a:xfrm>
            <a:off x="4613400" y="3375000"/>
            <a:ext cx="988920" cy="944640"/>
            <a:chOff x="4613400" y="3375000"/>
            <a:chExt cx="988920" cy="944640"/>
          </a:xfrm>
        </p:grpSpPr>
        <p:sp>
          <p:nvSpPr>
            <p:cNvPr id="257" name="CustomShape 35"/>
            <p:cNvSpPr/>
            <p:nvPr/>
          </p:nvSpPr>
          <p:spPr>
            <a:xfrm>
              <a:off x="4613400" y="3375000"/>
              <a:ext cx="988920" cy="944640"/>
            </a:xfrm>
            <a:prstGeom prst="rect">
              <a:avLst/>
            </a:prstGeom>
            <a:solidFill>
              <a:srgbClr val="eaeaea"/>
            </a:solidFill>
            <a:ln w="9360">
              <a:solidFill>
                <a:srgbClr val="3333cc"/>
              </a:solidFill>
              <a:miter/>
            </a:ln>
          </p:spPr>
          <p:style>
            <a:lnRef idx="0"/>
            <a:fillRef idx="0"/>
            <a:effectRef idx="0"/>
            <a:fontRef idx="minor"/>
          </p:style>
        </p:sp>
        <p:sp>
          <p:nvSpPr>
            <p:cNvPr id="258" name="CustomShape 36"/>
            <p:cNvSpPr/>
            <p:nvPr/>
          </p:nvSpPr>
          <p:spPr>
            <a:xfrm>
              <a:off x="4664160" y="3708360"/>
              <a:ext cx="876240" cy="304200"/>
            </a:xfrm>
            <a:custGeom>
              <a:avLst/>
              <a:gdLst/>
              <a:ahLst/>
              <a:rect l="l" t="t" r="r" b="b"/>
              <a:pathLst>
                <a:path w="21600" h="21600">
                  <a:moveTo>
                    <a:pt x="0" y="0"/>
                  </a:moveTo>
                  <a:lnTo>
                    <a:pt x="21600" y="0"/>
                  </a:lnTo>
                  <a:lnTo>
                    <a:pt x="21600" y="21600"/>
                  </a:lnTo>
                  <a:lnTo>
                    <a:pt x="0" y="21600"/>
                  </a:lnTo>
                  <a:lnTo>
                    <a:pt x="0" y="0"/>
                  </a:lnTo>
                  <a:close/>
                </a:path>
              </a:pathLst>
            </a:custGeom>
            <a:noFill/>
            <a:ln w="9360">
              <a:solidFill>
                <a:srgbClr val="3333cc"/>
              </a:solidFill>
              <a:miter/>
            </a:ln>
          </p:spPr>
          <p:style>
            <a:lnRef idx="0"/>
            <a:fillRef idx="0"/>
            <a:effectRef idx="0"/>
            <a:fontRef idx="minor"/>
          </p:style>
          <p:txBody>
            <a:bodyPr lIns="90000" rIns="90000" tIns="59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1400" spc="-1" strike="noStrike">
                  <a:solidFill>
                    <a:srgbClr val="3333cc"/>
                  </a:solidFill>
                  <a:latin typeface="Times New Roman"/>
                </a:rPr>
                <a:t>info.htm</a:t>
              </a:r>
              <a:endParaRPr b="0" lang="nl-BE" sz="1400" spc="-1" strike="noStrike">
                <a:solidFill>
                  <a:srgbClr val="000000"/>
                </a:solidFill>
                <a:latin typeface="Times New Roman"/>
              </a:endParaRPr>
            </a:p>
          </p:txBody>
        </p:sp>
      </p:grpSp>
      <p:grpSp>
        <p:nvGrpSpPr>
          <p:cNvPr id="259" name="Group 37"/>
          <p:cNvGrpSpPr/>
          <p:nvPr/>
        </p:nvGrpSpPr>
        <p:grpSpPr>
          <a:xfrm>
            <a:off x="1193760" y="1519200"/>
            <a:ext cx="889200" cy="3454560"/>
            <a:chOff x="1193760" y="1519200"/>
            <a:chExt cx="889200" cy="3454560"/>
          </a:xfrm>
        </p:grpSpPr>
        <p:sp>
          <p:nvSpPr>
            <p:cNvPr id="260" name="CustomShape 38"/>
            <p:cNvSpPr/>
            <p:nvPr/>
          </p:nvSpPr>
          <p:spPr>
            <a:xfrm rot="5400000">
              <a:off x="-88920" y="2801880"/>
              <a:ext cx="3454560" cy="889200"/>
            </a:xfrm>
            <a:prstGeom prst="rect">
              <a:avLst/>
            </a:prstGeom>
            <a:gradFill rotWithShape="0">
              <a:gsLst>
                <a:gs pos="0">
                  <a:srgbClr val="b2b2b2"/>
                </a:gs>
                <a:gs pos="100000">
                  <a:srgbClr val="757575"/>
                </a:gs>
              </a:gsLst>
              <a:lin ang="10800000"/>
            </a:gradFill>
            <a:ln w="9360">
              <a:solidFill>
                <a:srgbClr val="000000"/>
              </a:solidFill>
              <a:miter/>
            </a:ln>
          </p:spPr>
          <p:style>
            <a:lnRef idx="0"/>
            <a:fillRef idx="0"/>
            <a:effectRef idx="0"/>
            <a:fontRef idx="minor"/>
          </p:style>
        </p:sp>
        <p:sp>
          <p:nvSpPr>
            <p:cNvPr id="261" name="CustomShape 39"/>
            <p:cNvSpPr/>
            <p:nvPr/>
          </p:nvSpPr>
          <p:spPr>
            <a:xfrm rot="5400000">
              <a:off x="1603080" y="1666800"/>
              <a:ext cx="165240" cy="428400"/>
            </a:xfrm>
            <a:prstGeom prst="rect">
              <a:avLst/>
            </a:prstGeom>
            <a:solidFill>
              <a:srgbClr val="808080"/>
            </a:solidFill>
            <a:ln w="9360">
              <a:solidFill>
                <a:srgbClr val="000000"/>
              </a:solidFill>
              <a:miter/>
            </a:ln>
          </p:spPr>
          <p:style>
            <a:lnRef idx="0"/>
            <a:fillRef idx="0"/>
            <a:effectRef idx="0"/>
            <a:fontRef idx="minor"/>
          </p:style>
        </p:sp>
        <p:sp>
          <p:nvSpPr>
            <p:cNvPr id="262" name="CustomShape 40"/>
            <p:cNvSpPr/>
            <p:nvPr/>
          </p:nvSpPr>
          <p:spPr>
            <a:xfrm rot="5400000">
              <a:off x="1599120" y="2123280"/>
              <a:ext cx="173160" cy="428400"/>
            </a:xfrm>
            <a:prstGeom prst="rect">
              <a:avLst/>
            </a:prstGeom>
            <a:solidFill>
              <a:srgbClr val="808080"/>
            </a:solidFill>
            <a:ln w="9360">
              <a:solidFill>
                <a:srgbClr val="000000"/>
              </a:solidFill>
              <a:miter/>
            </a:ln>
          </p:spPr>
          <p:style>
            <a:lnRef idx="0"/>
            <a:fillRef idx="0"/>
            <a:effectRef idx="0"/>
            <a:fontRef idx="minor"/>
          </p:style>
        </p:sp>
        <p:sp>
          <p:nvSpPr>
            <p:cNvPr id="263" name="CustomShape 41"/>
            <p:cNvSpPr/>
            <p:nvPr/>
          </p:nvSpPr>
          <p:spPr>
            <a:xfrm rot="5400000">
              <a:off x="1603440" y="2664000"/>
              <a:ext cx="164880" cy="428400"/>
            </a:xfrm>
            <a:prstGeom prst="rect">
              <a:avLst/>
            </a:prstGeom>
            <a:solidFill>
              <a:srgbClr val="808080"/>
            </a:solidFill>
            <a:ln w="9360">
              <a:solidFill>
                <a:srgbClr val="000000"/>
              </a:solidFill>
              <a:miter/>
            </a:ln>
          </p:spPr>
          <p:style>
            <a:lnRef idx="0"/>
            <a:fillRef idx="0"/>
            <a:effectRef idx="0"/>
            <a:fontRef idx="minor"/>
          </p:style>
        </p:sp>
      </p:grpSp>
      <p:sp>
        <p:nvSpPr>
          <p:cNvPr id="264" name="CustomShape 42"/>
          <p:cNvSpPr/>
          <p:nvPr/>
        </p:nvSpPr>
        <p:spPr>
          <a:xfrm>
            <a:off x="852480" y="4760640"/>
            <a:ext cx="1552680" cy="239760"/>
          </a:xfrm>
          <a:custGeom>
            <a:avLst/>
            <a:gdLst/>
            <a:ahLst/>
            <a:rect l="0" t="0" r="r" b="b"/>
            <a:pathLst>
              <a:path w="4315" h="668">
                <a:moveTo>
                  <a:pt x="0" y="667"/>
                </a:moveTo>
                <a:lnTo>
                  <a:pt x="4314" y="667"/>
                </a:lnTo>
                <a:lnTo>
                  <a:pt x="3925" y="0"/>
                </a:lnTo>
                <a:lnTo>
                  <a:pt x="388" y="0"/>
                </a:lnTo>
                <a:lnTo>
                  <a:pt x="0" y="667"/>
                </a:lnTo>
              </a:path>
            </a:pathLst>
          </a:custGeom>
          <a:gradFill rotWithShape="0">
            <a:gsLst>
              <a:gs pos="0">
                <a:srgbClr val="b2b2b2"/>
              </a:gs>
              <a:gs pos="100000">
                <a:srgbClr val="525252"/>
              </a:gs>
            </a:gsLst>
            <a:lin ang="10800000"/>
          </a:gradFill>
          <a:ln w="9360">
            <a:solidFill>
              <a:srgbClr val="000000"/>
            </a:solidFill>
            <a:miter/>
          </a:ln>
        </p:spPr>
        <p:style>
          <a:lnRef idx="0"/>
          <a:fillRef idx="0"/>
          <a:effectRef idx="0"/>
          <a:fontRef idx="minor"/>
        </p:style>
      </p:sp>
      <p:grpSp>
        <p:nvGrpSpPr>
          <p:cNvPr id="265" name="Group 43"/>
          <p:cNvGrpSpPr/>
          <p:nvPr/>
        </p:nvGrpSpPr>
        <p:grpSpPr>
          <a:xfrm>
            <a:off x="1165320" y="3357720"/>
            <a:ext cx="961920" cy="917280"/>
            <a:chOff x="1165320" y="3357720"/>
            <a:chExt cx="961920" cy="917280"/>
          </a:xfrm>
        </p:grpSpPr>
        <p:sp>
          <p:nvSpPr>
            <p:cNvPr id="266" name="CustomShape 44"/>
            <p:cNvSpPr/>
            <p:nvPr/>
          </p:nvSpPr>
          <p:spPr>
            <a:xfrm>
              <a:off x="1165320" y="3357720"/>
              <a:ext cx="961920" cy="917280"/>
            </a:xfrm>
            <a:prstGeom prst="rect">
              <a:avLst/>
            </a:prstGeom>
            <a:solidFill>
              <a:srgbClr val="eaeaea"/>
            </a:solidFill>
            <a:ln w="9360">
              <a:solidFill>
                <a:srgbClr val="3333cc"/>
              </a:solidFill>
              <a:miter/>
            </a:ln>
          </p:spPr>
          <p:style>
            <a:lnRef idx="0"/>
            <a:fillRef idx="0"/>
            <a:effectRef idx="0"/>
            <a:fontRef idx="minor"/>
          </p:style>
        </p:sp>
        <p:sp>
          <p:nvSpPr>
            <p:cNvPr id="267" name="CustomShape 45"/>
            <p:cNvSpPr/>
            <p:nvPr/>
          </p:nvSpPr>
          <p:spPr>
            <a:xfrm>
              <a:off x="1212840" y="3681360"/>
              <a:ext cx="852480" cy="304200"/>
            </a:xfrm>
            <a:custGeom>
              <a:avLst/>
              <a:gdLst/>
              <a:ahLst/>
              <a:rect l="l" t="t" r="r" b="b"/>
              <a:pathLst>
                <a:path w="21600" h="21600">
                  <a:moveTo>
                    <a:pt x="0" y="0"/>
                  </a:moveTo>
                  <a:lnTo>
                    <a:pt x="21600" y="0"/>
                  </a:lnTo>
                  <a:lnTo>
                    <a:pt x="21600" y="21600"/>
                  </a:lnTo>
                  <a:lnTo>
                    <a:pt x="0" y="21600"/>
                  </a:lnTo>
                  <a:lnTo>
                    <a:pt x="0" y="0"/>
                  </a:lnTo>
                  <a:close/>
                </a:path>
              </a:pathLst>
            </a:custGeom>
            <a:noFill/>
            <a:ln w="9360">
              <a:solidFill>
                <a:srgbClr val="3333cc"/>
              </a:solidFill>
              <a:miter/>
            </a:ln>
          </p:spPr>
          <p:style>
            <a:lnRef idx="0"/>
            <a:fillRef idx="0"/>
            <a:effectRef idx="0"/>
            <a:fontRef idx="minor"/>
          </p:style>
          <p:txBody>
            <a:bodyPr lIns="90000" rIns="90000" tIns="59040" bIns="46800">
              <a:sp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BE" sz="1400" spc="-1" strike="noStrike">
                  <a:solidFill>
                    <a:srgbClr val="3333cc"/>
                  </a:solidFill>
                  <a:latin typeface="Times New Roman"/>
                </a:rPr>
                <a:t>info.htm</a:t>
              </a:r>
              <a:endParaRPr b="0" lang="nl-BE" sz="1400" spc="-1" strike="noStrike">
                <a:solidFill>
                  <a:srgbClr val="000000"/>
                </a:solidFill>
                <a:latin typeface="Times New Roman"/>
              </a:endParaRPr>
            </a:p>
          </p:txBody>
        </p:sp>
      </p:grpSp>
    </p:spTree>
  </p:cSld>
  <p:transition spd="slow">
    <p:comb dir="horz"/>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68"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Functie: H</a:t>
            </a:r>
            <a:r>
              <a:rPr b="1" lang="nl-NL" sz="2800" spc="-1" strike="noStrike">
                <a:solidFill>
                  <a:srgbClr val="000000"/>
                </a:solidFill>
                <a:latin typeface="Arial Narrow"/>
              </a:rPr>
              <a:t>ierarchi</a:t>
            </a:r>
            <a:r>
              <a:rPr b="1" lang="fr-BE" sz="2800" spc="-1" strike="noStrike">
                <a:solidFill>
                  <a:srgbClr val="000000"/>
                </a:solidFill>
                <a:latin typeface="Arial Narrow"/>
              </a:rPr>
              <a:t>sche</a:t>
            </a:r>
            <a:r>
              <a:rPr b="1" lang="nl-NL" sz="2800" spc="-1" strike="noStrike">
                <a:solidFill>
                  <a:srgbClr val="000000"/>
                </a:solidFill>
                <a:latin typeface="Arial Narrow"/>
              </a:rPr>
              <a:t> proxy cache</a:t>
            </a:r>
            <a:endParaRPr b="1" lang="nl-BE" sz="2800" spc="-1" strike="noStrike">
              <a:solidFill>
                <a:srgbClr val="000000"/>
              </a:solidFill>
              <a:latin typeface="Arial Narrow"/>
            </a:endParaRPr>
          </a:p>
        </p:txBody>
      </p:sp>
      <p:sp>
        <p:nvSpPr>
          <p:cNvPr id="269"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fr-BE" sz="2400" spc="-1" strike="noStrike">
                <a:solidFill>
                  <a:srgbClr val="000000"/>
                </a:solidFill>
                <a:latin typeface="Times New Roman"/>
              </a:rPr>
              <a:t>Deze</a:t>
            </a:r>
            <a:r>
              <a:rPr b="1" lang="nl-NL" sz="2400" spc="-1" strike="noStrike">
                <a:solidFill>
                  <a:srgbClr val="000000"/>
                </a:solidFill>
                <a:latin typeface="Times New Roman"/>
              </a:rPr>
              <a:t> komt voor in grotere netwerken.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Doel is het zo snel mogelijk ter beschikking stellen van gegevens. De gebruiker vraagt gegevens aan zijn standaard proxy. Wanneer deze de gegevens niet heeft vraagt hij ze aan een volgende proxy, die op zijn beurt weer contact maakt met de volgende proxy, enzovoort.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MISS</a:t>
            </a:r>
            <a:endParaRPr b="1" lang="nl-BE" sz="2400" spc="-1" strike="noStrike">
              <a:solidFill>
                <a:srgbClr val="000000"/>
              </a:solidFill>
              <a:latin typeface="Times New Roman"/>
            </a:endParaRPr>
          </a:p>
          <a:p>
            <a:pPr lvl="1" marL="742680" indent="-285480">
              <a:spcBef>
                <a:spcPts val="598"/>
              </a:spcBef>
              <a:buClr>
                <a:srgbClr val="000000"/>
              </a:buClr>
              <a:buFont typeface="Times New Roman"/>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hiërarchisch hoogste proxy vraagt gegevens op.</a:t>
            </a:r>
            <a:endParaRPr b="0"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Proxies geven gegevens aan elkaar door tot aan de proxy die het dichtst bij de gebruiker staat.</a:t>
            </a:r>
            <a:endParaRPr b="1" lang="nl-BE" sz="2400" spc="-1" strike="noStrike">
              <a:solidFill>
                <a:srgbClr val="000000"/>
              </a:solidFill>
              <a:latin typeface="Times New Roman"/>
            </a:endParaRPr>
          </a:p>
        </p:txBody>
      </p:sp>
    </p:spTree>
  </p:cSld>
  <p:transition spd="slow">
    <p:comb dir="horz"/>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0"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Voordelen</a:t>
            </a:r>
            <a:endParaRPr b="1" lang="nl-BE" sz="2800" spc="-1" strike="noStrike">
              <a:solidFill>
                <a:srgbClr val="000000"/>
              </a:solidFill>
              <a:latin typeface="Arial Narrow"/>
            </a:endParaRPr>
          </a:p>
        </p:txBody>
      </p:sp>
      <p:sp>
        <p:nvSpPr>
          <p:cNvPr id="271"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Snelheid: Reeds opgehaalde documenten moeten niet een 2de keer opgehaald worden, ze staan nog in de disk cache van de proxy server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Beveiliging: Vanuit internet ziet men enkel een proxy server staan. Je eigen netwerk blijft verborgen achter de proxy server.</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Beveiliging: Een proxy kan gebruik maken van ACL's om verkeer toe te laten of te weigeren.</a:t>
            </a:r>
            <a:endParaRPr b="1" lang="nl-BE" sz="2400" spc="-1" strike="noStrike">
              <a:solidFill>
                <a:srgbClr val="000000"/>
              </a:solidFill>
              <a:latin typeface="Times New Roman"/>
            </a:endParaRPr>
          </a:p>
        </p:txBody>
      </p:sp>
    </p:spTree>
  </p:cSld>
  <p:transition spd="slow">
    <p:comb dir="horz"/>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2"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Cache principe</a:t>
            </a:r>
            <a:endParaRPr b="1" lang="nl-BE" sz="2800" spc="-1" strike="noStrike">
              <a:solidFill>
                <a:srgbClr val="000000"/>
              </a:solidFill>
              <a:latin typeface="Arial Narrow"/>
            </a:endParaRPr>
          </a:p>
        </p:txBody>
      </p:sp>
      <p:sp>
        <p:nvSpPr>
          <p:cNvPr id="273"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Het cache principe van de proxy wordt ook lokaal bij de client toegepast. </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Browsers gebruiken standaard een cache </a:t>
            </a:r>
            <a:r>
              <a:rPr b="0" lang="fr-BE" sz="2400" spc="-1" strike="noStrike">
                <a:solidFill>
                  <a:srgbClr val="000000"/>
                </a:solidFill>
                <a:latin typeface="Times New Roman"/>
              </a:rPr>
              <a:t>op je schijf (Tempory Internet Files) </a:t>
            </a:r>
            <a:r>
              <a:rPr b="0" lang="nl-NL" sz="2400" spc="-1" strike="noStrike">
                <a:solidFill>
                  <a:srgbClr val="000000"/>
                </a:solidFill>
                <a:latin typeface="Times New Roman"/>
              </a:rPr>
              <a:t>om bezochte websteks in op te slaan. Wanneer je op een reeds bezochte pagina komt haalt hij deze niet op van</a:t>
            </a:r>
            <a:r>
              <a:rPr b="0" lang="fr-BE" sz="2400" spc="-1" strike="noStrike">
                <a:solidFill>
                  <a:srgbClr val="000000"/>
                </a:solidFill>
                <a:latin typeface="Times New Roman"/>
              </a:rPr>
              <a:t>uit</a:t>
            </a:r>
            <a:r>
              <a:rPr b="0" lang="nl-NL" sz="2400" spc="-1" strike="noStrike">
                <a:solidFill>
                  <a:srgbClr val="000000"/>
                </a:solidFill>
                <a:latin typeface="Times New Roman"/>
              </a:rPr>
              <a:t> Internet maar lokaal vanuit de cache.</a:t>
            </a:r>
            <a:endParaRPr b="0" lang="nl-BE" sz="2400" spc="-1" strike="noStrike">
              <a:solidFill>
                <a:srgbClr val="000000"/>
              </a:solidFill>
              <a:latin typeface="Times New Roman"/>
            </a:endParaRPr>
          </a:p>
          <a:p>
            <a:pPr marL="341280" indent="-341280">
              <a:lnSpc>
                <a:spcPct val="93000"/>
              </a:lnSpc>
              <a:spcBef>
                <a:spcPts val="598"/>
              </a:spcBef>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p:txBody>
      </p:sp>
    </p:spTree>
  </p:cSld>
  <p:transition spd="slow">
    <p:comb dir="horz"/>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4"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HTTP en FTP cache</a:t>
            </a:r>
            <a:endParaRPr b="1" lang="nl-BE" sz="2800" spc="-1" strike="noStrike">
              <a:solidFill>
                <a:srgbClr val="000000"/>
              </a:solidFill>
              <a:latin typeface="Arial Narrow"/>
            </a:endParaRPr>
          </a:p>
        </p:txBody>
      </p:sp>
      <p:sp>
        <p:nvSpPr>
          <p:cNvPr id="275"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Voor de cache van HTTP documenten kan je minimum en maximum grootte bepalen van de bestanden. Je kan ook instellen of je een bestand blijft downloaden, ook</a:t>
            </a:r>
            <a:r>
              <a:rPr b="1" lang="fr-BE" sz="2400" spc="-1" strike="noStrike">
                <a:solidFill>
                  <a:srgbClr val="000000"/>
                </a:solidFill>
                <a:latin typeface="Times New Roman"/>
              </a:rPr>
              <a:t> </a:t>
            </a:r>
            <a:r>
              <a:rPr b="1" lang="nl-NL" sz="2400" spc="-1" strike="noStrike">
                <a:solidFill>
                  <a:srgbClr val="000000"/>
                </a:solidFill>
                <a:latin typeface="Times New Roman"/>
              </a:rPr>
              <a:t>al heeft de user op de STOP knop gedrukt.</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cache voor FTP bestanden is gelijkaardig.</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Sommige documenten kunnen expliciet als </a:t>
            </a:r>
            <a:r>
              <a:rPr b="1" i="1" lang="nl-NL" sz="2400" spc="-1" strike="noStrike">
                <a:solidFill>
                  <a:srgbClr val="000000"/>
                </a:solidFill>
                <a:latin typeface="Times New Roman"/>
              </a:rPr>
              <a:t>non-cacheble</a:t>
            </a:r>
            <a:r>
              <a:rPr b="1" lang="nl-NL" sz="2400" spc="-1" strike="noStrike">
                <a:solidFill>
                  <a:srgbClr val="000000"/>
                </a:solidFill>
                <a:latin typeface="Times New Roman"/>
              </a:rPr>
              <a:t> gedefinieerd zijn voor een browser. Wanneer je Refresh of Reload kiest, zal de browser het bericht automatisch als non-cacheble definiëren. </a:t>
            </a:r>
            <a:endParaRPr b="1" lang="nl-BE" sz="2400" spc="-1" strike="noStrike">
              <a:solidFill>
                <a:srgbClr val="000000"/>
              </a:solidFill>
              <a:latin typeface="Times New Roman"/>
            </a:endParaRPr>
          </a:p>
        </p:txBody>
      </p:sp>
    </p:spTree>
  </p:cSld>
  <p:transition spd="slow">
    <p:comb dir="horz"/>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6"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en-US" sz="2800" spc="-1" strike="noStrike">
                <a:solidFill>
                  <a:srgbClr val="000000"/>
                </a:solidFill>
                <a:latin typeface="Arial Narrow"/>
              </a:rPr>
              <a:t>Validatie van berichten</a:t>
            </a:r>
            <a:endParaRPr b="1" lang="nl-BE" sz="2800" spc="-1" strike="noStrike">
              <a:solidFill>
                <a:srgbClr val="000000"/>
              </a:solidFill>
              <a:latin typeface="Arial Narrow"/>
            </a:endParaRPr>
          </a:p>
        </p:txBody>
      </p:sp>
      <p:sp>
        <p:nvSpPr>
          <p:cNvPr id="277" name="TextShape 2"/>
          <p:cNvSpPr txBox="1"/>
          <p:nvPr/>
        </p:nvSpPr>
        <p:spPr>
          <a:xfrm>
            <a:off x="851040" y="1442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Is een bericht verander</a:t>
            </a:r>
            <a:r>
              <a:rPr b="1" lang="fr-BE" sz="2400" spc="-1" strike="noStrike">
                <a:solidFill>
                  <a:srgbClr val="000000"/>
                </a:solidFill>
                <a:latin typeface="Times New Roman"/>
              </a:rPr>
              <a:t>d</a:t>
            </a:r>
            <a:r>
              <a:rPr b="1" lang="nl-NL" sz="2400" spc="-1" strike="noStrike">
                <a:solidFill>
                  <a:srgbClr val="000000"/>
                </a:solidFill>
                <a:latin typeface="Times New Roman"/>
              </a:rPr>
              <a:t> sedert het in de cache is gekomen?</a:t>
            </a:r>
            <a:r>
              <a:rPr b="1" lang="fr-BE" sz="2400" spc="-1" strike="noStrike">
                <a:solidFill>
                  <a:srgbClr val="000000"/>
                </a:solidFill>
                <a:latin typeface="Times New Roman"/>
              </a:rPr>
              <a:t> </a:t>
            </a:r>
            <a:r>
              <a:rPr b="1" lang="nl-NL" sz="2400" spc="-1" strike="noStrike">
                <a:solidFill>
                  <a:srgbClr val="000000"/>
                </a:solidFill>
                <a:latin typeface="Times New Roman"/>
              </a:rPr>
              <a:t>Twee methoden:</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1. Aanvraag aan de webserver of de pagina intussen verander</a:t>
            </a:r>
            <a:r>
              <a:rPr b="0" lang="fr-BE" sz="2400" spc="-1" strike="noStrike">
                <a:solidFill>
                  <a:srgbClr val="000000"/>
                </a:solidFill>
                <a:latin typeface="Times New Roman"/>
              </a:rPr>
              <a:t>d</a:t>
            </a:r>
            <a:r>
              <a:rPr b="0" lang="nl-NL" sz="2400" spc="-1" strike="noStrike">
                <a:solidFill>
                  <a:srgbClr val="000000"/>
                </a:solidFill>
                <a:latin typeface="Times New Roman"/>
              </a:rPr>
              <a:t> is.</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2. Proxy server kijkt zelf naar de datum en tijdstip van het document </a:t>
            </a:r>
            <a:endParaRPr b="0" lang="nl-BE" sz="2400" spc="-1" strike="noStrike">
              <a:solidFill>
                <a:srgbClr val="000000"/>
              </a:solidFill>
              <a:latin typeface="Times New Roman"/>
            </a:endParaRPr>
          </a:p>
          <a:p>
            <a:pPr lvl="2" marL="1141200" indent="-226800">
              <a:lnSpc>
                <a:spcPct val="93000"/>
              </a:lnSpc>
              <a:spcBef>
                <a:spcPts val="499"/>
              </a:spcBef>
              <a:buClr>
                <a:srgbClr val="00cc99"/>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NL" sz="2000" spc="-1" strike="noStrike">
                <a:solidFill>
                  <a:srgbClr val="000000"/>
                </a:solidFill>
                <a:latin typeface="Times New Roman"/>
              </a:rPr>
              <a:t>De 2de methode is de snelste maar geeft mogelijk een verouderd document. Wanneer de gebruiker Reload kiest wordt tóch het nieuwste document van de webserver gehaald.</a:t>
            </a:r>
            <a:endParaRPr b="0" lang="nl-BE" sz="2000" spc="-1" strike="noStrike">
              <a:solidFill>
                <a:srgbClr val="000000"/>
              </a:solidFill>
              <a:latin typeface="Times New Roman"/>
            </a:endParaRPr>
          </a:p>
          <a:p>
            <a:pPr lvl="2" marL="1141200" indent="-226800">
              <a:lnSpc>
                <a:spcPct val="93000"/>
              </a:lnSpc>
              <a:spcBef>
                <a:spcPts val="499"/>
              </a:spcBef>
              <a:buClr>
                <a:srgbClr val="00cc99"/>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NL" sz="2000" spc="-1" strike="noStrike">
                <a:solidFill>
                  <a:srgbClr val="000000"/>
                </a:solidFill>
                <a:latin typeface="Times New Roman"/>
              </a:rPr>
              <a:t>Voor de 2de methode kan je een TTL waarde definiëren (Time To Live)</a:t>
            </a:r>
            <a:endParaRPr b="0" lang="nl-BE" sz="2000" spc="-1" strike="noStrike">
              <a:solidFill>
                <a:srgbClr val="000000"/>
              </a:solidFill>
              <a:latin typeface="Times New Roman"/>
            </a:endParaRPr>
          </a:p>
          <a:p>
            <a:pPr lvl="3" marL="1600200" indent="-228600">
              <a:spcBef>
                <a:spcPts val="448"/>
              </a:spcBef>
              <a:buClr>
                <a:srgbClr val="000000"/>
              </a:buClr>
              <a:buFont typeface="Times New Roman"/>
              <a:buChar char="–"/>
              <a:tabLst>
                <a:tab algn="l" pos="196560"/>
                <a:tab algn="l" pos="645840"/>
                <a:tab algn="l" pos="1095120"/>
                <a:tab algn="l" pos="1544400"/>
                <a:tab algn="l" pos="1993680"/>
                <a:tab algn="l" pos="2442960"/>
                <a:tab algn="l" pos="2892240"/>
                <a:tab algn="l" pos="3341520"/>
                <a:tab algn="l" pos="3790800"/>
                <a:tab algn="l" pos="4240080"/>
                <a:tab algn="l" pos="4689360"/>
                <a:tab algn="l" pos="5138640"/>
                <a:tab algn="l" pos="5587920"/>
                <a:tab algn="l" pos="6037200"/>
                <a:tab algn="l" pos="6486480"/>
                <a:tab algn="l" pos="6935760"/>
                <a:tab algn="l" pos="7385040"/>
                <a:tab algn="l" pos="7833960"/>
                <a:tab algn="l" pos="8283240"/>
                <a:tab algn="l" pos="8732520"/>
              </a:tabLst>
            </a:pPr>
            <a:r>
              <a:rPr b="0" lang="nl-NL" sz="1800" spc="-1" strike="noStrike">
                <a:solidFill>
                  <a:srgbClr val="000000"/>
                </a:solidFill>
                <a:latin typeface="Times New Roman"/>
              </a:rPr>
              <a:t>bv www adressen</a:t>
            </a:r>
            <a:r>
              <a:rPr b="0" lang="fr-BE" sz="1800" spc="-1" strike="noStrike">
                <a:solidFill>
                  <a:srgbClr val="000000"/>
                </a:solidFill>
                <a:latin typeface="Times New Roman"/>
              </a:rPr>
              <a:t>:</a:t>
            </a:r>
            <a:r>
              <a:rPr b="0" lang="nl-NL" sz="1800" spc="-1" strike="noStrike">
                <a:solidFill>
                  <a:srgbClr val="000000"/>
                </a:solidFill>
                <a:latin typeface="Times New Roman"/>
              </a:rPr>
              <a:t> 2 u</a:t>
            </a:r>
            <a:r>
              <a:rPr b="0" lang="fr-BE" sz="1800" spc="-1" strike="noStrike">
                <a:solidFill>
                  <a:srgbClr val="000000"/>
                </a:solidFill>
                <a:latin typeface="Times New Roman"/>
              </a:rPr>
              <a:t>u</a:t>
            </a:r>
            <a:r>
              <a:rPr b="0" lang="nl-NL" sz="1800" spc="-1" strike="noStrike">
                <a:solidFill>
                  <a:srgbClr val="000000"/>
                </a:solidFill>
                <a:latin typeface="Times New Roman"/>
              </a:rPr>
              <a:t>r</a:t>
            </a:r>
            <a:endParaRPr b="0" lang="nl-BE" sz="1800" spc="-1" strike="noStrike">
              <a:solidFill>
                <a:srgbClr val="000000"/>
              </a:solidFill>
              <a:latin typeface="Times New Roman"/>
            </a:endParaRPr>
          </a:p>
          <a:p>
            <a:pPr lvl="3" marL="1600200" indent="-228600">
              <a:spcBef>
                <a:spcPts val="448"/>
              </a:spcBef>
              <a:buClr>
                <a:srgbClr val="000000"/>
              </a:buClr>
              <a:buFont typeface="Times New Roman"/>
              <a:buChar char="–"/>
              <a:tabLst>
                <a:tab algn="l" pos="196560"/>
                <a:tab algn="l" pos="645840"/>
                <a:tab algn="l" pos="1095120"/>
                <a:tab algn="l" pos="1544400"/>
                <a:tab algn="l" pos="1993680"/>
                <a:tab algn="l" pos="2442960"/>
                <a:tab algn="l" pos="2892240"/>
                <a:tab algn="l" pos="3341520"/>
                <a:tab algn="l" pos="3790800"/>
                <a:tab algn="l" pos="4240080"/>
                <a:tab algn="l" pos="4689360"/>
                <a:tab algn="l" pos="5138640"/>
                <a:tab algn="l" pos="5587920"/>
                <a:tab algn="l" pos="6037200"/>
                <a:tab algn="l" pos="6486480"/>
                <a:tab algn="l" pos="6935760"/>
                <a:tab algn="l" pos="7385040"/>
                <a:tab algn="l" pos="7833960"/>
                <a:tab algn="l" pos="8283240"/>
                <a:tab algn="l" pos="8732520"/>
              </a:tabLst>
            </a:pPr>
            <a:r>
              <a:rPr b="0" lang="nl-NL" sz="1800" spc="-1" strike="noStrike">
                <a:solidFill>
                  <a:srgbClr val="000000"/>
                </a:solidFill>
                <a:latin typeface="Times New Roman"/>
              </a:rPr>
              <a:t>gif files</a:t>
            </a:r>
            <a:r>
              <a:rPr b="0" lang="fr-BE" sz="1800" spc="-1" strike="noStrike">
                <a:solidFill>
                  <a:srgbClr val="000000"/>
                </a:solidFill>
                <a:latin typeface="Times New Roman"/>
              </a:rPr>
              <a:t>:</a:t>
            </a:r>
            <a:r>
              <a:rPr b="0" lang="nl-NL" sz="1800" spc="-1" strike="noStrike">
                <a:solidFill>
                  <a:srgbClr val="000000"/>
                </a:solidFill>
                <a:latin typeface="Times New Roman"/>
              </a:rPr>
              <a:t> 7 dagen</a:t>
            </a:r>
            <a:endParaRPr b="0" lang="nl-BE" sz="1800" spc="-1" strike="noStrike">
              <a:solidFill>
                <a:srgbClr val="000000"/>
              </a:solidFill>
              <a:latin typeface="Times New Roman"/>
            </a:endParaRPr>
          </a:p>
          <a:p>
            <a:pPr lvl="3" marL="1600200" indent="-228600">
              <a:spcBef>
                <a:spcPts val="448"/>
              </a:spcBef>
              <a:buClr>
                <a:srgbClr val="000000"/>
              </a:buClr>
              <a:buFont typeface="Times New Roman"/>
              <a:buChar char="–"/>
              <a:tabLst>
                <a:tab algn="l" pos="196560"/>
                <a:tab algn="l" pos="645840"/>
                <a:tab algn="l" pos="1095120"/>
                <a:tab algn="l" pos="1544400"/>
                <a:tab algn="l" pos="1993680"/>
                <a:tab algn="l" pos="2442960"/>
                <a:tab algn="l" pos="2892240"/>
                <a:tab algn="l" pos="3341520"/>
                <a:tab algn="l" pos="3790800"/>
                <a:tab algn="l" pos="4240080"/>
                <a:tab algn="l" pos="4689360"/>
                <a:tab algn="l" pos="5138640"/>
                <a:tab algn="l" pos="5587920"/>
                <a:tab algn="l" pos="6037200"/>
                <a:tab algn="l" pos="6486480"/>
                <a:tab algn="l" pos="6935760"/>
                <a:tab algn="l" pos="7385040"/>
                <a:tab algn="l" pos="7833960"/>
                <a:tab algn="l" pos="8283240"/>
                <a:tab algn="l" pos="8732520"/>
              </a:tabLst>
            </a:pPr>
            <a:r>
              <a:rPr b="0" lang="nl-NL" sz="1800" spc="-1" strike="noStrike">
                <a:solidFill>
                  <a:srgbClr val="000000"/>
                </a:solidFill>
                <a:latin typeface="Times New Roman"/>
              </a:rPr>
              <a:t>cgi-bin 30 minuten.</a:t>
            </a:r>
            <a:endParaRPr b="0" lang="nl-BE" sz="1800" spc="-1" strike="noStrike">
              <a:solidFill>
                <a:srgbClr val="000000"/>
              </a:solidFill>
              <a:latin typeface="Times New Roman"/>
            </a:endParaRPr>
          </a:p>
        </p:txBody>
      </p:sp>
    </p:spTree>
  </p:cSld>
  <p:transition spd="slow">
    <p:comb dir="horz"/>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8"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Mail</a:t>
            </a:r>
            <a:endParaRPr b="1" lang="nl-BE" sz="2800" spc="-1" strike="noStrike">
              <a:solidFill>
                <a:srgbClr val="000000"/>
              </a:solidFill>
              <a:latin typeface="Arial Narrow"/>
            </a:endParaRPr>
          </a:p>
        </p:txBody>
      </p:sp>
      <p:sp>
        <p:nvSpPr>
          <p:cNvPr id="279"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Lokale mailadressen gaan niet via internet maar worden door de lokale server</a:t>
            </a:r>
            <a:r>
              <a:rPr b="1" lang="fr-BE" sz="2400" spc="-1" strike="noStrike">
                <a:solidFill>
                  <a:srgbClr val="000000"/>
                </a:solidFill>
                <a:latin typeface="Times New Roman"/>
              </a:rPr>
              <a:t> (niet de proxy server)</a:t>
            </a:r>
            <a:r>
              <a:rPr b="1" lang="nl-NL" sz="2400" spc="-1" strike="noStrike">
                <a:solidFill>
                  <a:srgbClr val="000000"/>
                </a:solidFill>
                <a:latin typeface="Times New Roman"/>
              </a:rPr>
              <a:t> afgeleverd.</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SMTP server opgeven: De proxy moet weten waar hij de mail server voor uitgaande post kan vinden.</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POP3 server opgeven: De proxy moet weten van welke server hij post kan binnenhalen.</a:t>
            </a:r>
            <a:endParaRPr b="1" lang="nl-BE" sz="2400" spc="-1" strike="noStrike">
              <a:solidFill>
                <a:srgbClr val="000000"/>
              </a:solidFill>
              <a:latin typeface="Times New Roman"/>
            </a:endParaRPr>
          </a:p>
        </p:txBody>
      </p:sp>
    </p:spTree>
  </p:cSld>
  <p:transition spd="slow">
    <p:comb dir="horz"/>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80"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SOCKS</a:t>
            </a:r>
            <a:endParaRPr b="1" lang="nl-BE" sz="2800" spc="-1" strike="noStrike">
              <a:solidFill>
                <a:srgbClr val="000000"/>
              </a:solidFill>
              <a:latin typeface="Arial Narrow"/>
            </a:endParaRPr>
          </a:p>
        </p:txBody>
      </p:sp>
      <p:sp>
        <p:nvSpPr>
          <p:cNvPr id="281"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SOCKS laat toe dat hosts aan de ene kant van de proxy volledige toegang krijgen tot hosts aan de andere kant van de proxy. De SOCKS server voorziet gebruikersnaam en paswoord, en stuurt data door. SOCKS wordt algemeen gebruikt als een netwerk firewall die interne hosts volledige toegang verleent tot het Internet en de toegang tot de interne hosts afschermt voor het Internet.</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fr-BE" sz="2400" spc="-1" strike="noStrike">
                <a:solidFill>
                  <a:srgbClr val="000000"/>
                </a:solidFill>
                <a:latin typeface="Times New Roman"/>
              </a:rPr>
              <a:t>Programma’s zoals putty.exe en telnet kunnen gebruik maken van socks</a:t>
            </a:r>
            <a:endParaRPr b="0" lang="nl-BE" sz="2400" spc="-1" strike="noStrike">
              <a:solidFill>
                <a:srgbClr val="000000"/>
              </a:solidFill>
              <a:latin typeface="Times New Roman"/>
            </a:endParaRPr>
          </a:p>
        </p:txBody>
      </p:sp>
      <p:grpSp>
        <p:nvGrpSpPr>
          <p:cNvPr id="282" name="Group 3"/>
          <p:cNvGrpSpPr/>
          <p:nvPr/>
        </p:nvGrpSpPr>
        <p:grpSpPr>
          <a:xfrm>
            <a:off x="8021520" y="1120680"/>
            <a:ext cx="885960" cy="1083240"/>
            <a:chOff x="8021520" y="1120680"/>
            <a:chExt cx="885960" cy="1083240"/>
          </a:xfrm>
        </p:grpSpPr>
        <p:sp>
          <p:nvSpPr>
            <p:cNvPr id="283" name="CustomShape 4"/>
            <p:cNvSpPr/>
            <p:nvPr/>
          </p:nvSpPr>
          <p:spPr>
            <a:xfrm>
              <a:off x="8698320" y="1126440"/>
              <a:ext cx="41760" cy="131760"/>
            </a:xfrm>
            <a:prstGeom prst="rect">
              <a:avLst/>
            </a:prstGeom>
            <a:solidFill>
              <a:srgbClr val="b2b2b2"/>
            </a:solidFill>
            <a:ln w="9360">
              <a:solidFill>
                <a:srgbClr val="000000"/>
              </a:solidFill>
              <a:miter/>
            </a:ln>
          </p:spPr>
          <p:style>
            <a:lnRef idx="0"/>
            <a:fillRef idx="0"/>
            <a:effectRef idx="0"/>
            <a:fontRef idx="minor"/>
          </p:style>
        </p:sp>
        <p:sp>
          <p:nvSpPr>
            <p:cNvPr id="284" name="CustomShape 5"/>
            <p:cNvSpPr/>
            <p:nvPr/>
          </p:nvSpPr>
          <p:spPr>
            <a:xfrm>
              <a:off x="8021520" y="1209240"/>
              <a:ext cx="644040" cy="994680"/>
            </a:xfrm>
            <a:custGeom>
              <a:avLst/>
              <a:gdLst/>
              <a:ahLst/>
              <a:rect l="l" t="t" r="r" b="b"/>
              <a:pathLst>
                <a:path w="736" h="1086">
                  <a:moveTo>
                    <a:pt x="437" y="50"/>
                  </a:moveTo>
                  <a:cubicBezTo>
                    <a:pt x="509" y="41"/>
                    <a:pt x="583" y="43"/>
                    <a:pt x="655" y="30"/>
                  </a:cubicBezTo>
                  <a:cubicBezTo>
                    <a:pt x="677" y="26"/>
                    <a:pt x="694" y="7"/>
                    <a:pt x="715" y="0"/>
                  </a:cubicBezTo>
                  <a:cubicBezTo>
                    <a:pt x="672" y="256"/>
                    <a:pt x="694" y="79"/>
                    <a:pt x="705" y="536"/>
                  </a:cubicBezTo>
                  <a:cubicBezTo>
                    <a:pt x="700" y="626"/>
                    <a:pt x="736" y="725"/>
                    <a:pt x="645" y="755"/>
                  </a:cubicBezTo>
                  <a:cubicBezTo>
                    <a:pt x="638" y="765"/>
                    <a:pt x="634" y="777"/>
                    <a:pt x="625" y="785"/>
                  </a:cubicBezTo>
                  <a:cubicBezTo>
                    <a:pt x="607" y="801"/>
                    <a:pt x="566" y="824"/>
                    <a:pt x="566" y="824"/>
                  </a:cubicBezTo>
                  <a:cubicBezTo>
                    <a:pt x="515" y="900"/>
                    <a:pt x="423" y="954"/>
                    <a:pt x="337" y="983"/>
                  </a:cubicBezTo>
                  <a:cubicBezTo>
                    <a:pt x="291" y="1014"/>
                    <a:pt x="259" y="1032"/>
                    <a:pt x="208" y="1053"/>
                  </a:cubicBezTo>
                  <a:cubicBezTo>
                    <a:pt x="189" y="1061"/>
                    <a:pt x="169" y="1066"/>
                    <a:pt x="149" y="1073"/>
                  </a:cubicBezTo>
                  <a:cubicBezTo>
                    <a:pt x="139" y="1076"/>
                    <a:pt x="119" y="1083"/>
                    <a:pt x="119" y="1083"/>
                  </a:cubicBezTo>
                  <a:cubicBezTo>
                    <a:pt x="31" y="1073"/>
                    <a:pt x="24" y="1086"/>
                    <a:pt x="0" y="1013"/>
                  </a:cubicBezTo>
                  <a:cubicBezTo>
                    <a:pt x="9" y="953"/>
                    <a:pt x="2" y="927"/>
                    <a:pt x="49" y="894"/>
                  </a:cubicBezTo>
                  <a:cubicBezTo>
                    <a:pt x="84" y="841"/>
                    <a:pt x="156" y="796"/>
                    <a:pt x="218" y="775"/>
                  </a:cubicBezTo>
                  <a:cubicBezTo>
                    <a:pt x="286" y="707"/>
                    <a:pt x="212" y="772"/>
                    <a:pt x="278" y="735"/>
                  </a:cubicBezTo>
                  <a:cubicBezTo>
                    <a:pt x="330" y="706"/>
                    <a:pt x="370" y="665"/>
                    <a:pt x="427" y="646"/>
                  </a:cubicBezTo>
                  <a:cubicBezTo>
                    <a:pt x="432" y="509"/>
                    <a:pt x="450" y="381"/>
                    <a:pt x="417" y="248"/>
                  </a:cubicBezTo>
                  <a:cubicBezTo>
                    <a:pt x="426" y="176"/>
                    <a:pt x="413" y="110"/>
                    <a:pt x="427" y="40"/>
                  </a:cubicBezTo>
                  <a:cubicBezTo>
                    <a:pt x="463" y="52"/>
                    <a:pt x="468" y="50"/>
                    <a:pt x="437" y="50"/>
                  </a:cubicBezTo>
                  <a:close/>
                </a:path>
              </a:pathLst>
            </a:custGeom>
            <a:blipFill rotWithShape="0">
              <a:blip r:embed="rId1"/>
              <a:tile/>
            </a:blipFill>
            <a:ln w="9360">
              <a:solidFill>
                <a:srgbClr val="000000"/>
              </a:solidFill>
              <a:round/>
            </a:ln>
          </p:spPr>
          <p:style>
            <a:lnRef idx="0"/>
            <a:fillRef idx="0"/>
            <a:effectRef idx="0"/>
            <a:fontRef idx="minor"/>
          </p:style>
        </p:sp>
        <p:sp>
          <p:nvSpPr>
            <p:cNvPr id="285" name="CustomShape 6"/>
            <p:cNvSpPr/>
            <p:nvPr/>
          </p:nvSpPr>
          <p:spPr>
            <a:xfrm>
              <a:off x="8263440" y="1209240"/>
              <a:ext cx="644040" cy="994680"/>
            </a:xfrm>
            <a:custGeom>
              <a:avLst/>
              <a:gdLst/>
              <a:ahLst/>
              <a:rect l="l" t="t" r="r" b="b"/>
              <a:pathLst>
                <a:path w="736" h="1086">
                  <a:moveTo>
                    <a:pt x="437" y="50"/>
                  </a:moveTo>
                  <a:cubicBezTo>
                    <a:pt x="509" y="41"/>
                    <a:pt x="583" y="43"/>
                    <a:pt x="655" y="30"/>
                  </a:cubicBezTo>
                  <a:cubicBezTo>
                    <a:pt x="677" y="26"/>
                    <a:pt x="694" y="7"/>
                    <a:pt x="715" y="0"/>
                  </a:cubicBezTo>
                  <a:cubicBezTo>
                    <a:pt x="672" y="256"/>
                    <a:pt x="694" y="79"/>
                    <a:pt x="705" y="536"/>
                  </a:cubicBezTo>
                  <a:cubicBezTo>
                    <a:pt x="700" y="626"/>
                    <a:pt x="736" y="725"/>
                    <a:pt x="645" y="755"/>
                  </a:cubicBezTo>
                  <a:cubicBezTo>
                    <a:pt x="638" y="765"/>
                    <a:pt x="634" y="777"/>
                    <a:pt x="625" y="785"/>
                  </a:cubicBezTo>
                  <a:cubicBezTo>
                    <a:pt x="607" y="801"/>
                    <a:pt x="566" y="824"/>
                    <a:pt x="566" y="824"/>
                  </a:cubicBezTo>
                  <a:cubicBezTo>
                    <a:pt x="515" y="900"/>
                    <a:pt x="423" y="954"/>
                    <a:pt x="337" y="983"/>
                  </a:cubicBezTo>
                  <a:cubicBezTo>
                    <a:pt x="291" y="1014"/>
                    <a:pt x="259" y="1032"/>
                    <a:pt x="208" y="1053"/>
                  </a:cubicBezTo>
                  <a:cubicBezTo>
                    <a:pt x="189" y="1061"/>
                    <a:pt x="169" y="1066"/>
                    <a:pt x="149" y="1073"/>
                  </a:cubicBezTo>
                  <a:cubicBezTo>
                    <a:pt x="139" y="1076"/>
                    <a:pt x="119" y="1083"/>
                    <a:pt x="119" y="1083"/>
                  </a:cubicBezTo>
                  <a:cubicBezTo>
                    <a:pt x="31" y="1073"/>
                    <a:pt x="24" y="1086"/>
                    <a:pt x="0" y="1013"/>
                  </a:cubicBezTo>
                  <a:cubicBezTo>
                    <a:pt x="9" y="953"/>
                    <a:pt x="2" y="927"/>
                    <a:pt x="49" y="894"/>
                  </a:cubicBezTo>
                  <a:cubicBezTo>
                    <a:pt x="84" y="841"/>
                    <a:pt x="156" y="796"/>
                    <a:pt x="218" y="775"/>
                  </a:cubicBezTo>
                  <a:cubicBezTo>
                    <a:pt x="286" y="707"/>
                    <a:pt x="212" y="772"/>
                    <a:pt x="278" y="735"/>
                  </a:cubicBezTo>
                  <a:cubicBezTo>
                    <a:pt x="330" y="706"/>
                    <a:pt x="370" y="665"/>
                    <a:pt x="427" y="646"/>
                  </a:cubicBezTo>
                  <a:cubicBezTo>
                    <a:pt x="432" y="509"/>
                    <a:pt x="450" y="381"/>
                    <a:pt x="417" y="248"/>
                  </a:cubicBezTo>
                  <a:cubicBezTo>
                    <a:pt x="426" y="176"/>
                    <a:pt x="413" y="110"/>
                    <a:pt x="427" y="40"/>
                  </a:cubicBezTo>
                  <a:cubicBezTo>
                    <a:pt x="463" y="52"/>
                    <a:pt x="468" y="50"/>
                    <a:pt x="437" y="50"/>
                  </a:cubicBezTo>
                  <a:close/>
                </a:path>
              </a:pathLst>
            </a:custGeom>
            <a:blipFill rotWithShape="0">
              <a:blip r:embed="rId2"/>
              <a:tile/>
            </a:blipFill>
            <a:ln w="9360">
              <a:solidFill>
                <a:srgbClr val="000000"/>
              </a:solidFill>
              <a:round/>
            </a:ln>
          </p:spPr>
          <p:style>
            <a:lnRef idx="0"/>
            <a:fillRef idx="0"/>
            <a:effectRef idx="0"/>
            <a:fontRef idx="minor"/>
          </p:style>
        </p:sp>
        <p:sp>
          <p:nvSpPr>
            <p:cNvPr id="286" name="CustomShape 7"/>
            <p:cNvSpPr/>
            <p:nvPr/>
          </p:nvSpPr>
          <p:spPr>
            <a:xfrm>
              <a:off x="8719920" y="1126440"/>
              <a:ext cx="41400" cy="264240"/>
            </a:xfrm>
            <a:prstGeom prst="rect">
              <a:avLst/>
            </a:prstGeom>
            <a:solidFill>
              <a:srgbClr val="b2b2b2"/>
            </a:solidFill>
            <a:ln w="9360">
              <a:solidFill>
                <a:srgbClr val="000000"/>
              </a:solidFill>
              <a:miter/>
            </a:ln>
          </p:spPr>
          <p:style>
            <a:lnRef idx="0"/>
            <a:fillRef idx="0"/>
            <a:effectRef idx="0"/>
            <a:fontRef idx="minor"/>
          </p:style>
        </p:sp>
        <p:sp>
          <p:nvSpPr>
            <p:cNvPr id="287" name="CustomShape 8"/>
            <p:cNvSpPr/>
            <p:nvPr/>
          </p:nvSpPr>
          <p:spPr>
            <a:xfrm>
              <a:off x="8719920" y="1258200"/>
              <a:ext cx="41400" cy="43920"/>
            </a:xfrm>
            <a:prstGeom prst="rect">
              <a:avLst/>
            </a:prstGeom>
            <a:solidFill>
              <a:srgbClr val="b2b2b2"/>
            </a:solidFill>
            <a:ln w="9360">
              <a:solidFill>
                <a:srgbClr val="000000"/>
              </a:solidFill>
              <a:miter/>
            </a:ln>
          </p:spPr>
          <p:style>
            <a:lnRef idx="0"/>
            <a:fillRef idx="0"/>
            <a:effectRef idx="0"/>
            <a:fontRef idx="minor"/>
          </p:style>
        </p:sp>
        <p:sp>
          <p:nvSpPr>
            <p:cNvPr id="288" name="CustomShape 9"/>
            <p:cNvSpPr/>
            <p:nvPr/>
          </p:nvSpPr>
          <p:spPr>
            <a:xfrm>
              <a:off x="8442360" y="1120680"/>
              <a:ext cx="41760" cy="132120"/>
            </a:xfrm>
            <a:prstGeom prst="rect">
              <a:avLst/>
            </a:prstGeom>
            <a:solidFill>
              <a:srgbClr val="b2b2b2"/>
            </a:solidFill>
            <a:ln w="9360">
              <a:solidFill>
                <a:srgbClr val="000000"/>
              </a:solidFill>
              <a:miter/>
            </a:ln>
          </p:spPr>
          <p:style>
            <a:lnRef idx="0"/>
            <a:fillRef idx="0"/>
            <a:effectRef idx="0"/>
            <a:fontRef idx="minor"/>
          </p:style>
        </p:sp>
        <p:sp>
          <p:nvSpPr>
            <p:cNvPr id="289" name="CustomShape 10"/>
            <p:cNvSpPr/>
            <p:nvPr/>
          </p:nvSpPr>
          <p:spPr>
            <a:xfrm>
              <a:off x="8462520" y="1120680"/>
              <a:ext cx="41400" cy="264240"/>
            </a:xfrm>
            <a:prstGeom prst="rect">
              <a:avLst/>
            </a:prstGeom>
            <a:solidFill>
              <a:srgbClr val="b2b2b2"/>
            </a:solidFill>
            <a:ln w="9360">
              <a:solidFill>
                <a:srgbClr val="000000"/>
              </a:solidFill>
              <a:miter/>
            </a:ln>
          </p:spPr>
          <p:style>
            <a:lnRef idx="0"/>
            <a:fillRef idx="0"/>
            <a:effectRef idx="0"/>
            <a:fontRef idx="minor"/>
          </p:style>
        </p:sp>
        <p:sp>
          <p:nvSpPr>
            <p:cNvPr id="290" name="CustomShape 11"/>
            <p:cNvSpPr/>
            <p:nvPr/>
          </p:nvSpPr>
          <p:spPr>
            <a:xfrm>
              <a:off x="8462520" y="1252800"/>
              <a:ext cx="41400" cy="43560"/>
            </a:xfrm>
            <a:prstGeom prst="rect">
              <a:avLst/>
            </a:prstGeom>
            <a:solidFill>
              <a:srgbClr val="b2b2b2"/>
            </a:solidFill>
            <a:ln w="9360">
              <a:solidFill>
                <a:srgbClr val="000000"/>
              </a:solidFill>
              <a:miter/>
            </a:ln>
          </p:spPr>
          <p:style>
            <a:lnRef idx="0"/>
            <a:fillRef idx="0"/>
            <a:effectRef idx="0"/>
            <a:fontRef idx="minor"/>
          </p:style>
        </p:sp>
      </p:grpSp>
    </p:spTree>
  </p:cSld>
  <p:transition spd="slow">
    <p:comb dir="horz"/>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91"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SOCKS versies</a:t>
            </a:r>
            <a:endParaRPr b="1" lang="nl-BE" sz="2800" spc="-1" strike="noStrike">
              <a:solidFill>
                <a:srgbClr val="000000"/>
              </a:solidFill>
              <a:latin typeface="Arial Narrow"/>
            </a:endParaRPr>
          </a:p>
        </p:txBody>
      </p:sp>
      <p:sp>
        <p:nvSpPr>
          <p:cNvPr id="292"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SOCKS versie 4</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Geen UDP proxy, geen authentificatie, geen DNS resolving (zoekt geen IP bij een onbekende hostnaam)</a:t>
            </a:r>
            <a:endParaRPr b="0"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SOCKS versie 5</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Browsers ondersteunen SOCKS aan de client kant.</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Ondersteuning anonymous FTP (met e-mail adres=paswoord= nobody@)</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username+password in </a:t>
            </a:r>
            <a:r>
              <a:rPr b="0" i="1" lang="nl-NL" sz="2400" spc="-1" strike="noStrike">
                <a:solidFill>
                  <a:srgbClr val="000000"/>
                </a:solidFill>
                <a:latin typeface="Times New Roman"/>
              </a:rPr>
              <a:t>cleartext</a:t>
            </a:r>
            <a:r>
              <a:rPr b="0" lang="nl-NL" sz="2400" spc="-1" strike="noStrike">
                <a:solidFill>
                  <a:srgbClr val="000000"/>
                </a:solidFill>
                <a:latin typeface="Times New Roman"/>
              </a:rPr>
              <a:t>!</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Automatisch een verbinding leggen naar een ISP</a:t>
            </a:r>
            <a:endParaRPr b="0" lang="nl-BE" sz="2400" spc="-1" strike="noStrike">
              <a:solidFill>
                <a:srgbClr val="000000"/>
              </a:solidFill>
              <a:latin typeface="Times New Roman"/>
            </a:endParaRPr>
          </a:p>
        </p:txBody>
      </p:sp>
    </p:spTree>
  </p:cSld>
  <p:transition spd="slow">
    <p:comb dir="horz"/>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TextShape 1"/>
          <p:cNvSpPr txBox="1"/>
          <p:nvPr/>
        </p:nvSpPr>
        <p:spPr>
          <a:xfrm>
            <a:off x="864720" y="442800"/>
            <a:ext cx="7954920" cy="1097640"/>
          </a:xfrm>
          <a:prstGeom prst="rect">
            <a:avLst/>
          </a:prstGeom>
          <a:noFill/>
          <a:ln>
            <a:noFill/>
          </a:ln>
        </p:spPr>
        <p:txBody>
          <a:bodyPr lIns="0" rIns="0" tIns="0" bIns="0" anchor="ctr">
            <a:noAutofit/>
          </a:bodyPr>
          <a:p>
            <a:r>
              <a:rPr b="1" lang="nl-BE" sz="2800" spc="-1" strike="noStrike">
                <a:solidFill>
                  <a:srgbClr val="000000"/>
                </a:solidFill>
                <a:latin typeface="Arial Narrow"/>
              </a:rPr>
              <a:t>Socks version 6 -snelheidsverbeteringen</a:t>
            </a:r>
            <a:endParaRPr b="1" lang="nl-BE" sz="2800" spc="-1" strike="noStrike">
              <a:solidFill>
                <a:srgbClr val="000000"/>
              </a:solidFill>
              <a:latin typeface="Arial Narrow"/>
            </a:endParaRPr>
          </a:p>
        </p:txBody>
      </p:sp>
      <p:sp>
        <p:nvSpPr>
          <p:cNvPr id="294" name="TextShape 2"/>
          <p:cNvSpPr txBox="1"/>
          <p:nvPr/>
        </p:nvSpPr>
        <p:spPr>
          <a:xfrm>
            <a:off x="457200" y="1604520"/>
            <a:ext cx="8229240" cy="4525920"/>
          </a:xfrm>
          <a:prstGeom prst="rect">
            <a:avLst/>
          </a:prstGeom>
          <a:noFill/>
          <a:ln>
            <a:noFill/>
          </a:ln>
        </p:spPr>
        <p:txBody>
          <a:bodyPr lIns="0" rIns="0" tIns="0" bIns="0">
            <a:noAutofit/>
          </a:bodyPr>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Ondersteuning TCP Fast Open (RFC7413) </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TCP SYN bevat al data, eerste ACK bevat al een antwoord</a:t>
            </a:r>
            <a:endParaRPr b="0" lang="nl-BE" sz="2400" spc="-1" strike="noStrike">
              <a:solidFill>
                <a:srgbClr val="000000"/>
              </a:solidFill>
              <a:latin typeface="Times New Roman"/>
            </a:endParaRPr>
          </a:p>
          <a:p>
            <a:pPr marL="334800" indent="-334800">
              <a:lnSpc>
                <a:spcPct val="100000"/>
              </a:lnSpc>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0-RTT ondersteuning (Zero Round Trip Time)</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Bij een Pre Shared Key wordt deze sleutel gebruikt om al tijdens de TLS handshake geencrypteerde data te versturen</a:t>
            </a:r>
            <a:endParaRPr b="0" lang="nl-BE" sz="2400" spc="-1" strike="noStrike">
              <a:solidFill>
                <a:srgbClr val="000000"/>
              </a:solidFill>
              <a:latin typeface="Times New Roman"/>
            </a:endParaRPr>
          </a:p>
          <a:p>
            <a:pPr lvl="2" marL="1143000" indent="-228600">
              <a:spcBef>
                <a:spcPts val="499"/>
              </a:spcBef>
              <a:buClr>
                <a:srgbClr val="ccff00"/>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BE" sz="2000" spc="-1" strike="noStrike">
                <a:solidFill>
                  <a:srgbClr val="000000"/>
                </a:solidFill>
                <a:latin typeface="Times New Roman"/>
              </a:rPr>
              <a:t>Dat noemt men </a:t>
            </a:r>
            <a:r>
              <a:rPr b="1" lang="nl-BE" sz="2000" spc="-1" strike="noStrike">
                <a:solidFill>
                  <a:srgbClr val="ff0000"/>
                </a:solidFill>
                <a:latin typeface="Times New Roman"/>
              </a:rPr>
              <a:t>early data</a:t>
            </a:r>
            <a:endParaRPr b="0" lang="nl-BE" sz="2000" spc="-1" strike="noStrike">
              <a:solidFill>
                <a:srgbClr val="000000"/>
              </a:solidFill>
              <a:latin typeface="Times New Roman"/>
            </a:endParaRPr>
          </a:p>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Socks wacht niet op de authenticatie van de client maar opent alvast een socket </a:t>
            </a:r>
            <a:endParaRPr b="1" lang="nl-BE" sz="2400" spc="-1" strike="noStrike">
              <a:solidFill>
                <a:srgbClr val="000000"/>
              </a:solidFill>
              <a:latin typeface="Times New Roman"/>
            </a:endParaRPr>
          </a:p>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p:txBody>
      </p:sp>
    </p:spTree>
  </p:cSld>
  <p:transition spd="slow">
    <p:comb dir="horz"/>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95"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ICP Internet Cache Protocol</a:t>
            </a:r>
            <a:endParaRPr b="1" lang="nl-BE" sz="2800" spc="-1" strike="noStrike">
              <a:solidFill>
                <a:srgbClr val="000000"/>
              </a:solidFill>
              <a:latin typeface="Arial Narrow"/>
            </a:endParaRPr>
          </a:p>
        </p:txBody>
      </p:sp>
      <p:sp>
        <p:nvSpPr>
          <p:cNvPr id="296"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Proxy servers zijn opgebouwd in een watervalstructuur (een boomstructuur eigenlijk). </a:t>
            </a:r>
            <a:endParaRPr b="1" lang="nl-BE" sz="2400" spc="-1" strike="noStrike">
              <a:solidFill>
                <a:srgbClr val="000000"/>
              </a:solidFill>
              <a:latin typeface="Times New Roman"/>
            </a:endParaRPr>
          </a:p>
          <a:p>
            <a:pPr lvl="1" marL="742680" indent="-285480">
              <a:spcBef>
                <a:spcPts val="598"/>
              </a:spcBef>
              <a:buClr>
                <a:srgbClr val="000000"/>
              </a:buClr>
              <a:buFont typeface="Times New Roman"/>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Jou proxy kijkt of een naburige of hoger gelegen proxy server reeds bepaalde documenten heeft. </a:t>
            </a:r>
            <a:endParaRPr b="0" lang="nl-BE" sz="2400" spc="-1" strike="noStrike">
              <a:solidFill>
                <a:srgbClr val="000000"/>
              </a:solidFill>
              <a:latin typeface="Times New Roman"/>
            </a:endParaRPr>
          </a:p>
          <a:p>
            <a:pPr lvl="1" marL="742680" indent="-285480">
              <a:spcBef>
                <a:spcPts val="598"/>
              </a:spcBef>
              <a:buClr>
                <a:srgbClr val="000000"/>
              </a:buClr>
              <a:buFont typeface="Times New Roman"/>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Men spreekt van cascading proxies of hierarchische proxy's.</a:t>
            </a:r>
            <a:endParaRPr b="0"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a:p>
            <a:pPr marL="341280" indent="-341280">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communicatie tussen proxy servers gebeurt met het ICP of Internet Cache Protocol.</a:t>
            </a:r>
            <a:endParaRPr b="1" lang="nl-BE" sz="2400" spc="-1" strike="noStrike">
              <a:solidFill>
                <a:srgbClr val="000000"/>
              </a:solidFill>
              <a:latin typeface="Times New Roman"/>
            </a:endParaRPr>
          </a:p>
        </p:txBody>
      </p:sp>
    </p:spTree>
  </p:cSld>
  <p:transition spd="slow">
    <p:comb dir="horz"/>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97"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Voordelen ICP</a:t>
            </a:r>
            <a:endParaRPr b="1" lang="nl-BE" sz="2800" spc="-1" strike="noStrike">
              <a:solidFill>
                <a:srgbClr val="000000"/>
              </a:solidFill>
              <a:latin typeface="Arial Narrow"/>
            </a:endParaRPr>
          </a:p>
        </p:txBody>
      </p:sp>
      <p:sp>
        <p:nvSpPr>
          <p:cNvPr id="298"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Een aanvraag gebeurt via verschillende proxies (verdelen het werk)</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snelste proxy geeft antwoord</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Slecht ingestelde of niet werkende proxies worden gedetecteerd.</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Squid (de meest gebruikte proxy server op Unix/Linux systemen) ondersteunt ICP</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a:p>
            <a:pPr marL="341280" indent="-341280">
              <a:lnSpc>
                <a:spcPct val="93000"/>
              </a:lnSpc>
              <a:spcBef>
                <a:spcPts val="598"/>
              </a:spcBef>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p:txBody>
      </p:sp>
    </p:spTree>
  </p:cSld>
  <p:transition spd="slow">
    <p:comb dir="horz"/>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99"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Begrippen bij ICP</a:t>
            </a:r>
            <a:endParaRPr b="1" lang="nl-BE" sz="2800" spc="-1" strike="noStrike">
              <a:solidFill>
                <a:srgbClr val="000000"/>
              </a:solidFill>
              <a:latin typeface="Arial Narrow"/>
            </a:endParaRPr>
          </a:p>
        </p:txBody>
      </p:sp>
      <p:sp>
        <p:nvSpPr>
          <p:cNvPr id="300"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Neighbour: proxy server die samenwerkt met je proxy server </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Parent: proxy server op een hoger niveau</a:t>
            </a:r>
            <a:endParaRPr b="1" lang="nl-BE" sz="2400" spc="-1" strike="noStrike">
              <a:solidFill>
                <a:srgbClr val="000000"/>
              </a:solidFill>
              <a:latin typeface="Times New Roman"/>
            </a:endParaRPr>
          </a:p>
          <a:p>
            <a:pPr marL="341280" indent="-341280">
              <a:lnSpc>
                <a:spcPct val="93000"/>
              </a:lnSpc>
              <a:spcBef>
                <a:spcPts val="598"/>
              </a:spcBef>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proxy server kan aan een nabijgelegen proxyserver vragen of hij bijvoorbeeld al een bepaalde pagina opgevraagd heeft. Is dit zo dan spreken we van een HIT. Is dit niet zo, dan spreken we van een MISS.</a:t>
            </a:r>
            <a:endParaRPr b="1" lang="nl-BE" sz="2400" spc="-1" strike="noStrike">
              <a:solidFill>
                <a:srgbClr val="000000"/>
              </a:solidFill>
              <a:latin typeface="Times New Roman"/>
            </a:endParaRPr>
          </a:p>
        </p:txBody>
      </p:sp>
    </p:spTree>
  </p:cSld>
  <p:transition spd="slow">
    <p:comb dir="horz"/>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1"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nl-NL" sz="2800" spc="-1" strike="noStrike">
                <a:solidFill>
                  <a:srgbClr val="000000"/>
                </a:solidFill>
                <a:latin typeface="Arial Narrow"/>
              </a:rPr>
              <a:t>I</a:t>
            </a:r>
            <a:r>
              <a:rPr b="1" lang="fr-BE" sz="2800" spc="-1" strike="noStrike">
                <a:solidFill>
                  <a:srgbClr val="000000"/>
                </a:solidFill>
                <a:latin typeface="Arial Narrow"/>
              </a:rPr>
              <a:t>CP:</a:t>
            </a:r>
            <a:r>
              <a:rPr b="1" lang="nl-NL" sz="2800" spc="-1" strike="noStrike">
                <a:solidFill>
                  <a:srgbClr val="000000"/>
                </a:solidFill>
                <a:latin typeface="Arial Narrow"/>
              </a:rPr>
              <a:t> communicatie met de parent</a:t>
            </a:r>
            <a:endParaRPr b="1" lang="nl-BE" sz="2800" spc="-1" strike="noStrike">
              <a:solidFill>
                <a:srgbClr val="000000"/>
              </a:solidFill>
              <a:latin typeface="Arial Narrow"/>
            </a:endParaRPr>
          </a:p>
        </p:txBody>
      </p:sp>
      <p:sp>
        <p:nvSpPr>
          <p:cNvPr id="302"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De parent heeft een cache waarin geraadpleegde pagina's en bestanden worden bijgehouden. Mogelijke opties:</a:t>
            </a:r>
            <a:endParaRPr b="1" lang="nl-BE" sz="2400" spc="-1" strike="noStrike">
              <a:solidFill>
                <a:srgbClr val="000000"/>
              </a:solidFill>
              <a:latin typeface="Times New Roman"/>
            </a:endParaRPr>
          </a:p>
          <a:p>
            <a:pPr lvl="2" marL="1141200" indent="-226800">
              <a:lnSpc>
                <a:spcPct val="93000"/>
              </a:lnSpc>
              <a:spcBef>
                <a:spcPts val="499"/>
              </a:spcBef>
              <a:buClr>
                <a:srgbClr val="00cc99"/>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NL" sz="2000" spc="-1" strike="noStrike">
                <a:solidFill>
                  <a:srgbClr val="000000"/>
                </a:solidFill>
                <a:latin typeface="Times New Roman"/>
              </a:rPr>
              <a:t>authenticatie: kiezen of de parent ook authenticatie </a:t>
            </a:r>
            <a:r>
              <a:rPr b="0" lang="fr-BE" sz="2000" spc="-1" strike="noStrike">
                <a:solidFill>
                  <a:srgbClr val="000000"/>
                </a:solidFill>
                <a:latin typeface="Times New Roman"/>
              </a:rPr>
              <a:t>doet</a:t>
            </a:r>
            <a:br/>
            <a:r>
              <a:rPr b="0" lang="fr-BE" sz="2000" spc="-1" strike="noStrike">
                <a:solidFill>
                  <a:srgbClr val="000000"/>
                </a:solidFill>
                <a:latin typeface="Times New Roman"/>
              </a:rPr>
              <a:t> </a:t>
            </a:r>
            <a:r>
              <a:rPr b="0" lang="nl-NL" sz="2000" spc="-1" strike="noStrike">
                <a:solidFill>
                  <a:srgbClr val="000000"/>
                </a:solidFill>
                <a:latin typeface="Times New Roman"/>
              </a:rPr>
              <a:t>(</a:t>
            </a:r>
            <a:r>
              <a:rPr b="0" lang="fr-BE" sz="2000" spc="-1" strike="noStrike">
                <a:solidFill>
                  <a:srgbClr val="000000"/>
                </a:solidFill>
                <a:latin typeface="Times New Roman"/>
              </a:rPr>
              <a:t>dus </a:t>
            </a:r>
            <a:r>
              <a:rPr b="0" lang="nl-NL" sz="2000" spc="-1" strike="noStrike">
                <a:solidFill>
                  <a:srgbClr val="000000"/>
                </a:solidFill>
                <a:latin typeface="Times New Roman"/>
              </a:rPr>
              <a:t>username en paswoord moet bijhouden)</a:t>
            </a:r>
            <a:endParaRPr b="0" lang="nl-BE" sz="2000" spc="-1" strike="noStrike">
              <a:solidFill>
                <a:srgbClr val="000000"/>
              </a:solidFill>
              <a:latin typeface="Times New Roman"/>
            </a:endParaRPr>
          </a:p>
          <a:p>
            <a:pPr lvl="2" marL="1141200" indent="-226800">
              <a:lnSpc>
                <a:spcPct val="93000"/>
              </a:lnSpc>
              <a:spcBef>
                <a:spcPts val="499"/>
              </a:spcBef>
              <a:buClr>
                <a:srgbClr val="00cc99"/>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NL" sz="2000" spc="-1" strike="noStrike">
                <a:solidFill>
                  <a:srgbClr val="000000"/>
                </a:solidFill>
                <a:latin typeface="Times New Roman"/>
              </a:rPr>
              <a:t>HTTPS (secure HTTP): kiezen of dit door jou of door de parent proxy wordt opgevangen</a:t>
            </a:r>
            <a:endParaRPr b="0" lang="nl-BE" sz="2000" spc="-1" strike="noStrike">
              <a:solidFill>
                <a:srgbClr val="000000"/>
              </a:solidFill>
              <a:latin typeface="Times New Roman"/>
            </a:endParaRPr>
          </a:p>
          <a:p>
            <a:pPr lvl="2" marL="1141200" indent="-226800">
              <a:lnSpc>
                <a:spcPct val="93000"/>
              </a:lnSpc>
              <a:spcBef>
                <a:spcPts val="499"/>
              </a:spcBef>
              <a:buClr>
                <a:srgbClr val="00cc99"/>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NL" sz="2000" spc="-1" strike="noStrike">
                <a:solidFill>
                  <a:srgbClr val="000000"/>
                </a:solidFill>
                <a:latin typeface="Times New Roman"/>
              </a:rPr>
              <a:t>Ondersteuning van GET en POST opdrachten. Een </a:t>
            </a:r>
            <a:r>
              <a:rPr b="0" lang="fr-BE" sz="2000" spc="-1" strike="noStrike">
                <a:solidFill>
                  <a:srgbClr val="000000"/>
                </a:solidFill>
                <a:latin typeface="Times New Roman"/>
              </a:rPr>
              <a:t>POST</a:t>
            </a:r>
            <a:r>
              <a:rPr b="0" lang="nl-NL" sz="2000" spc="-1" strike="noStrike">
                <a:solidFill>
                  <a:srgbClr val="000000"/>
                </a:solidFill>
                <a:latin typeface="Times New Roman"/>
              </a:rPr>
              <a:t> stuurt de data die je invult bij een CGI, perl, PHP of ASP script achteraf onzichtbaar voor de gebruiker op.</a:t>
            </a:r>
            <a:br/>
            <a:r>
              <a:rPr b="0" lang="nl-NL" sz="2000" spc="-1" strike="noStrike">
                <a:solidFill>
                  <a:srgbClr val="000000"/>
                </a:solidFill>
                <a:latin typeface="Times New Roman"/>
              </a:rPr>
              <a:t>Een GET stuurt alle gebruikersdata mee met de URL (als optie).</a:t>
            </a:r>
            <a:r>
              <a:rPr b="0" lang="fr-BE" sz="2000" spc="-1" strike="noStrike">
                <a:solidFill>
                  <a:srgbClr val="000000"/>
                </a:solidFill>
                <a:latin typeface="Times New Roman"/>
              </a:rPr>
              <a:t> </a:t>
            </a:r>
            <a:r>
              <a:rPr b="0" lang="nl-NL" sz="2000" spc="-1" strike="noStrike">
                <a:solidFill>
                  <a:srgbClr val="000000"/>
                </a:solidFill>
                <a:latin typeface="Times New Roman"/>
              </a:rPr>
              <a:t>bv. http://mail.yahoo.com/mail.asp?user:jan?pass:ok</a:t>
            </a:r>
            <a:endParaRPr b="0" lang="nl-BE" sz="2000" spc="-1" strike="noStrike">
              <a:solidFill>
                <a:srgbClr val="000000"/>
              </a:solidFill>
              <a:latin typeface="Times New Roman"/>
            </a:endParaRPr>
          </a:p>
          <a:p>
            <a:pPr lvl="2" marL="1141200" indent="-226800">
              <a:lnSpc>
                <a:spcPct val="93000"/>
              </a:lnSpc>
              <a:spcBef>
                <a:spcPts val="499"/>
              </a:spcBef>
              <a:buClr>
                <a:srgbClr val="00cc99"/>
              </a:buClr>
              <a:buFont typeface="Times New Roman"/>
              <a:buChar char="-"/>
              <a:tabLst>
                <a:tab algn="l" pos="204480"/>
                <a:tab algn="l" pos="653760"/>
                <a:tab algn="l" pos="1103040"/>
                <a:tab algn="l" pos="1552320"/>
                <a:tab algn="l" pos="2001600"/>
                <a:tab algn="l" pos="2450880"/>
                <a:tab algn="l" pos="2900160"/>
                <a:tab algn="l" pos="3349440"/>
                <a:tab algn="l" pos="3798720"/>
                <a:tab algn="l" pos="4248000"/>
                <a:tab algn="l" pos="4697280"/>
                <a:tab algn="l" pos="5146560"/>
                <a:tab algn="l" pos="5595840"/>
                <a:tab algn="l" pos="6045120"/>
                <a:tab algn="l" pos="6494400"/>
                <a:tab algn="l" pos="6943680"/>
                <a:tab algn="l" pos="7392960"/>
                <a:tab algn="l" pos="7842240"/>
                <a:tab algn="l" pos="8291160"/>
                <a:tab algn="l" pos="8740440"/>
              </a:tabLst>
            </a:pPr>
            <a:r>
              <a:rPr b="0" lang="nl-NL" sz="2000" spc="-1" strike="noStrike">
                <a:solidFill>
                  <a:srgbClr val="000000"/>
                </a:solidFill>
                <a:latin typeface="Times New Roman"/>
              </a:rPr>
              <a:t>Ondersteuning FTP </a:t>
            </a:r>
            <a:endParaRPr b="0" lang="nl-BE" sz="2000" spc="-1" strike="noStrike">
              <a:solidFill>
                <a:srgbClr val="000000"/>
              </a:solidFill>
              <a:latin typeface="Times New Roman"/>
            </a:endParaRPr>
          </a:p>
        </p:txBody>
      </p:sp>
    </p:spTree>
  </p:cSld>
  <p:transition spd="slow">
    <p:comb dir="horz"/>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3"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Interfaces naar proxyserver</a:t>
            </a:r>
            <a:endParaRPr b="1" lang="nl-BE" sz="2800" spc="-1" strike="noStrike">
              <a:solidFill>
                <a:srgbClr val="000000"/>
              </a:solidFill>
              <a:latin typeface="Arial Narrow"/>
            </a:endParaRPr>
          </a:p>
        </p:txBody>
      </p:sp>
      <p:sp>
        <p:nvSpPr>
          <p:cNvPr id="304"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Secure: De interfaces van het lokale netwerk waarvoor je de proxy diensten voorziet</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Insecure: Normaal gezien uw modem connectie of netwerk connectie naar Internet</a:t>
            </a:r>
            <a:endParaRPr b="1" lang="nl-BE" sz="2400" spc="-1" strike="noStrike">
              <a:solidFill>
                <a:srgbClr val="000000"/>
              </a:solidFill>
              <a:latin typeface="Times New Roman"/>
            </a:endParaRPr>
          </a:p>
        </p:txBody>
      </p:sp>
    </p:spTree>
  </p:cSld>
  <p:transition spd="slow">
    <p:comb dir="horz"/>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5"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Logs</a:t>
            </a:r>
            <a:endParaRPr b="1" lang="nl-BE" sz="2800" spc="-1" strike="noStrike">
              <a:solidFill>
                <a:srgbClr val="000000"/>
              </a:solidFill>
              <a:latin typeface="Arial Narrow"/>
            </a:endParaRPr>
          </a:p>
        </p:txBody>
      </p:sp>
      <p:sp>
        <p:nvSpPr>
          <p:cNvPr id="306"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Security logs</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fr-BE" sz="2400" spc="-1" strike="noStrike">
                <a:solidFill>
                  <a:srgbClr val="000000"/>
                </a:solidFill>
                <a:latin typeface="Times New Roman"/>
              </a:rPr>
              <a:t>E</a:t>
            </a:r>
            <a:r>
              <a:rPr b="1" lang="nl-NL" sz="2400" spc="-1" strike="noStrike">
                <a:solidFill>
                  <a:srgbClr val="000000"/>
                </a:solidFill>
                <a:latin typeface="Times New Roman"/>
              </a:rPr>
              <a:t>rror logs met verkeerde paswoorden</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fr-BE" sz="2400" spc="-1" strike="noStrike">
                <a:solidFill>
                  <a:srgbClr val="000000"/>
                </a:solidFill>
                <a:latin typeface="Times New Roman"/>
              </a:rPr>
              <a:t>O</a:t>
            </a:r>
            <a:r>
              <a:rPr b="1" lang="nl-NL" sz="2400" spc="-1" strike="noStrike">
                <a:solidFill>
                  <a:srgbClr val="000000"/>
                </a:solidFill>
                <a:latin typeface="Times New Roman"/>
              </a:rPr>
              <a:t>nveilige ip-nummers</a:t>
            </a:r>
            <a:endParaRPr b="1" lang="nl-BE" sz="2400" spc="-1" strike="noStrike">
              <a:solidFill>
                <a:srgbClr val="000000"/>
              </a:solidFill>
              <a:latin typeface="Times New Roman"/>
            </a:endParaRPr>
          </a:p>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fr-BE" sz="2400" spc="-1" strike="noStrike">
                <a:solidFill>
                  <a:srgbClr val="000000"/>
                </a:solidFill>
                <a:latin typeface="Times New Roman"/>
              </a:rPr>
              <a:t>Standaard wordt elke opgevraagde pagina gelogd.</a:t>
            </a:r>
            <a:endParaRPr b="1" lang="nl-BE" sz="2400" spc="-1" strike="noStrike">
              <a:solidFill>
                <a:srgbClr val="000000"/>
              </a:solidFill>
              <a:latin typeface="Times New Roman"/>
            </a:endParaRPr>
          </a:p>
        </p:txBody>
      </p:sp>
    </p:spTree>
  </p:cSld>
  <p:transition spd="slow">
    <p:comb dir="horz"/>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7" name="TextShape 1"/>
          <p:cNvSpPr txBox="1"/>
          <p:nvPr/>
        </p:nvSpPr>
        <p:spPr>
          <a:xfrm>
            <a:off x="865080" y="725400"/>
            <a:ext cx="7772400" cy="533880"/>
          </a:xfrm>
          <a:prstGeom prst="rect">
            <a:avLst/>
          </a:prstGeom>
          <a:noFill/>
          <a:ln>
            <a:noFill/>
          </a:ln>
        </p:spPr>
        <p:txBody>
          <a:bodyPr lIns="90000" rIns="90000" tIns="57240" bIns="46800" anchor="ctr">
            <a:noAutofit/>
          </a:bodyPr>
          <a:p>
            <a:pPr>
              <a:lnSpc>
                <a:spcPct val="98000"/>
              </a:lnSpc>
              <a:tabLst>
                <a:tab algn="l" pos="0"/>
                <a:tab algn="l" pos="448920"/>
                <a:tab algn="l" pos="898200"/>
                <a:tab algn="l" pos="1347480"/>
                <a:tab algn="l" pos="1796760"/>
                <a:tab algn="l" pos="2246040"/>
                <a:tab algn="l" pos="2695320"/>
                <a:tab algn="l" pos="3144600"/>
                <a:tab algn="l" pos="3593880"/>
                <a:tab algn="l" pos="4043160"/>
                <a:tab algn="l" pos="4492440"/>
                <a:tab algn="l" pos="4941720"/>
                <a:tab algn="l" pos="5391000"/>
                <a:tab algn="l" pos="5840280"/>
                <a:tab algn="l" pos="6289560"/>
                <a:tab algn="l" pos="6738840"/>
                <a:tab algn="l" pos="7188120"/>
                <a:tab algn="l" pos="7637400"/>
                <a:tab algn="l" pos="8086680"/>
                <a:tab algn="l" pos="8535960"/>
                <a:tab algn="l" pos="8985240"/>
              </a:tabLst>
            </a:pPr>
            <a:r>
              <a:rPr b="1" lang="fr-BE" sz="2800" spc="-1" strike="noStrike">
                <a:solidFill>
                  <a:srgbClr val="000000"/>
                </a:solidFill>
                <a:latin typeface="Arial Narrow"/>
              </a:rPr>
              <a:t>ACL’s (toegangsregels)</a:t>
            </a:r>
            <a:endParaRPr b="1" lang="nl-BE" sz="2800" spc="-1" strike="noStrike">
              <a:solidFill>
                <a:srgbClr val="000000"/>
              </a:solidFill>
              <a:latin typeface="Arial Narrow"/>
            </a:endParaRPr>
          </a:p>
        </p:txBody>
      </p:sp>
      <p:sp>
        <p:nvSpPr>
          <p:cNvPr id="308" name="TextShape 2"/>
          <p:cNvSpPr txBox="1"/>
          <p:nvPr/>
        </p:nvSpPr>
        <p:spPr>
          <a:xfrm>
            <a:off x="824040" y="1523880"/>
            <a:ext cx="7634160" cy="4732560"/>
          </a:xfrm>
          <a:prstGeom prst="rect">
            <a:avLst/>
          </a:prstGeom>
          <a:noFill/>
          <a:ln>
            <a:noFill/>
          </a:ln>
        </p:spPr>
        <p:txBody>
          <a:bodyPr lIns="90000" rIns="90000" tIns="68040" bIns="46800">
            <a:normAutofit/>
          </a:bodyPr>
          <a:p>
            <a:pPr marL="341280" indent="-341280">
              <a:lnSpc>
                <a:spcPct val="93000"/>
              </a:lnSpc>
              <a:spcBef>
                <a:spcPts val="598"/>
              </a:spcBef>
              <a:buClr>
                <a:srgbClr val="00cc99"/>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NL" sz="2400" spc="-1" strike="noStrike">
                <a:solidFill>
                  <a:srgbClr val="000000"/>
                </a:solidFill>
                <a:latin typeface="Times New Roman"/>
              </a:rPr>
              <a:t>Blokkeren of toelaten:</a:t>
            </a:r>
            <a:endParaRPr b="1"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van bepaalde IP-nummers of ranges</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van bepaalde interfaces (netwerkkaart/modem)</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van het verkeer op bepaalde tijdstippen</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van bepaalde URL's</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van bepaalde types bestanden (zip, gif, mpg, html,...)</a:t>
            </a:r>
            <a:endParaRPr b="0" lang="nl-BE" sz="2400" spc="-1" strike="noStrike">
              <a:solidFill>
                <a:srgbClr val="000000"/>
              </a:solidFill>
              <a:latin typeface="Times New Roman"/>
            </a:endParaRPr>
          </a:p>
          <a:p>
            <a:pPr lvl="1" marL="741240" indent="-284040">
              <a:lnSpc>
                <a:spcPct val="93000"/>
              </a:lnSpc>
              <a:spcBef>
                <a:spcPts val="598"/>
              </a:spcBef>
              <a:buClr>
                <a:srgbClr val="3333cc"/>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NL" sz="2400" spc="-1" strike="noStrike">
                <a:solidFill>
                  <a:srgbClr val="000000"/>
                </a:solidFill>
                <a:latin typeface="Times New Roman"/>
              </a:rPr>
              <a:t>van services (icp, http, https, ftp, telnet, socks, real audio)</a:t>
            </a:r>
            <a:endParaRPr b="0" lang="nl-BE" sz="2400" spc="-1" strike="noStrike">
              <a:solidFill>
                <a:srgbClr val="000000"/>
              </a:solidFill>
              <a:latin typeface="Times New Roman"/>
            </a:endParaRPr>
          </a:p>
          <a:p>
            <a:pPr marL="341280" indent="-341280">
              <a:lnSpc>
                <a:spcPct val="93000"/>
              </a:lnSpc>
              <a:spcBef>
                <a:spcPts val="598"/>
              </a:spcBef>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endParaRPr b="1" lang="nl-BE" sz="2400" spc="-1" strike="noStrike">
              <a:solidFill>
                <a:srgbClr val="000000"/>
              </a:solidFill>
              <a:latin typeface="Times New Roman"/>
            </a:endParaRPr>
          </a:p>
        </p:txBody>
      </p:sp>
    </p:spTree>
  </p:cSld>
  <p:transition spd="slow">
    <p:comb dir="horz"/>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TextShape 1"/>
          <p:cNvSpPr txBox="1"/>
          <p:nvPr/>
        </p:nvSpPr>
        <p:spPr>
          <a:xfrm>
            <a:off x="864720" y="442800"/>
            <a:ext cx="7954920" cy="1097640"/>
          </a:xfrm>
          <a:prstGeom prst="rect">
            <a:avLst/>
          </a:prstGeom>
          <a:noFill/>
          <a:ln>
            <a:noFill/>
          </a:ln>
        </p:spPr>
        <p:txBody>
          <a:bodyPr lIns="0" rIns="0" tIns="0" bIns="0" anchor="ctr">
            <a:noAutofit/>
          </a:bodyPr>
          <a:p>
            <a:r>
              <a:rPr b="1" lang="nl-BE" sz="2800" spc="-1" strike="noStrike">
                <a:solidFill>
                  <a:srgbClr val="000000"/>
                </a:solidFill>
                <a:latin typeface="Arial Narrow"/>
              </a:rPr>
              <a:t>Referenties</a:t>
            </a:r>
            <a:endParaRPr b="1" lang="nl-BE" sz="2800" spc="-1" strike="noStrike">
              <a:solidFill>
                <a:srgbClr val="000000"/>
              </a:solidFill>
              <a:latin typeface="Arial Narrow"/>
            </a:endParaRPr>
          </a:p>
        </p:txBody>
      </p:sp>
      <p:sp>
        <p:nvSpPr>
          <p:cNvPr id="310" name="TextShape 2"/>
          <p:cNvSpPr txBox="1"/>
          <p:nvPr/>
        </p:nvSpPr>
        <p:spPr>
          <a:xfrm>
            <a:off x="457200" y="1604520"/>
            <a:ext cx="8229240" cy="4525920"/>
          </a:xfrm>
          <a:prstGeom prst="rect">
            <a:avLst/>
          </a:prstGeom>
          <a:noFill/>
          <a:ln>
            <a:noFill/>
          </a:ln>
        </p:spPr>
        <p:txBody>
          <a:bodyPr lIns="0" rIns="0" tIns="0" bIns="0">
            <a:noAutofit/>
          </a:bodyPr>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TCP Fast Open</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https://tools.ietf.org/html/rfc7413</a:t>
            </a:r>
            <a:endParaRPr b="0" lang="nl-BE" sz="2400" spc="-1" strike="noStrike">
              <a:solidFill>
                <a:srgbClr val="000000"/>
              </a:solidFill>
              <a:latin typeface="Times New Roman"/>
            </a:endParaRPr>
          </a:p>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SOCKS Protocol Version 6;</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https://tools.ietf.org/html/draft-olteanu-intarea-socks-6-02</a:t>
            </a:r>
            <a:endParaRPr b="0" lang="nl-BE" sz="2400" spc="-1" strike="noStrike">
              <a:solidFill>
                <a:srgbClr val="000000"/>
              </a:solidFill>
              <a:latin typeface="Times New Roman"/>
            </a:endParaRPr>
          </a:p>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Squid Configuration</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http://www.squid-cache.org/Doc/config/</a:t>
            </a:r>
            <a:endParaRPr b="0" lang="nl-BE" sz="2400" spc="-1" strike="noStrike">
              <a:solidFill>
                <a:srgbClr val="000000"/>
              </a:solidFill>
              <a:latin typeface="Times New Roman"/>
            </a:endParaRPr>
          </a:p>
          <a:p>
            <a:pPr marL="334800" indent="-334800">
              <a:spcBef>
                <a:spcPts val="598"/>
              </a:spcBef>
              <a:buClr>
                <a:srgbClr val="ccff00"/>
              </a:buClr>
              <a:buFont typeface="Wingdings" charset="2"/>
              <a:buChar char=""/>
              <a:tabLst>
                <a:tab algn="l" pos="114120"/>
                <a:tab algn="l" pos="563400"/>
                <a:tab algn="l" pos="1012680"/>
                <a:tab algn="l" pos="1461960"/>
                <a:tab algn="l" pos="1911240"/>
                <a:tab algn="l" pos="2360520"/>
                <a:tab algn="l" pos="2809800"/>
                <a:tab algn="l" pos="3259080"/>
                <a:tab algn="l" pos="3708360"/>
                <a:tab algn="l" pos="4157640"/>
                <a:tab algn="l" pos="4606920"/>
                <a:tab algn="l" pos="5055840"/>
                <a:tab algn="l" pos="5505120"/>
                <a:tab algn="l" pos="5954400"/>
                <a:tab algn="l" pos="6403680"/>
                <a:tab algn="l" pos="6852960"/>
                <a:tab algn="l" pos="7302240"/>
                <a:tab algn="l" pos="7751520"/>
                <a:tab algn="l" pos="8200800"/>
                <a:tab algn="l" pos="8650080"/>
              </a:tabLst>
            </a:pPr>
            <a:r>
              <a:rPr b="1" lang="nl-BE" sz="2400" spc="-1" strike="noStrike">
                <a:solidFill>
                  <a:srgbClr val="000000"/>
                </a:solidFill>
                <a:latin typeface="Times New Roman"/>
              </a:rPr>
              <a:t>0-RTT Handshake</a:t>
            </a:r>
            <a:endParaRPr b="1" lang="nl-BE" sz="2400" spc="-1" strike="noStrike">
              <a:solidFill>
                <a:srgbClr val="000000"/>
              </a:solidFill>
              <a:latin typeface="Times New Roman"/>
            </a:endParaRPr>
          </a:p>
          <a:p>
            <a:pPr lvl="1" marL="734760" indent="-277560">
              <a:spcBef>
                <a:spcPts val="598"/>
              </a:spcBef>
              <a:buClr>
                <a:srgbClr val="ccff00"/>
              </a:buClr>
              <a:buSzPct val="50000"/>
              <a:buFont typeface="Wingdings" charset="2"/>
              <a:buChar char=""/>
              <a:tabLst>
                <a:tab algn="l" pos="163440"/>
                <a:tab algn="l" pos="612720"/>
                <a:tab algn="l" pos="1062000"/>
                <a:tab algn="l" pos="1511280"/>
                <a:tab algn="l" pos="1960560"/>
                <a:tab algn="l" pos="2409480"/>
                <a:tab algn="l" pos="2858760"/>
                <a:tab algn="l" pos="3308040"/>
                <a:tab algn="l" pos="3757320"/>
                <a:tab algn="l" pos="4206600"/>
                <a:tab algn="l" pos="4655880"/>
                <a:tab algn="l" pos="5105160"/>
                <a:tab algn="l" pos="5554440"/>
                <a:tab algn="l" pos="6003720"/>
                <a:tab algn="l" pos="6453000"/>
                <a:tab algn="l" pos="6902280"/>
                <a:tab algn="l" pos="7351560"/>
                <a:tab algn="l" pos="7800840"/>
                <a:tab algn="l" pos="8250120"/>
                <a:tab algn="l" pos="8699400"/>
              </a:tabLst>
            </a:pPr>
            <a:r>
              <a:rPr b="0" lang="nl-BE" sz="2400" spc="-1" strike="noStrike">
                <a:solidFill>
                  <a:srgbClr val="000000"/>
                </a:solidFill>
                <a:latin typeface="Times New Roman"/>
              </a:rPr>
              <a:t>https://ldapwiki.com/wiki/0-RTT%20Handshakes</a:t>
            </a:r>
            <a:endParaRPr b="0" lang="nl-BE" sz="2400" spc="-1" strike="noStrike">
              <a:solidFill>
                <a:srgbClr val="000000"/>
              </a:solidFill>
              <a:latin typeface="Times New Roman"/>
            </a:endParaRPr>
          </a:p>
        </p:txBody>
      </p:sp>
    </p:spTree>
  </p:cSld>
  <p:transition spd="slow">
    <p:comb dir="horz"/>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74</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2020-10-13T07:55:51Z</dcterms:modified>
  <cp:revision>54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Jan Celis</vt:lpwstr>
  </property>
  <property fmtid="{D5CDD505-2E9C-101B-9397-08002B2CF9AE}" pid="3" name="Info 2">
    <vt:lpwstr/>
  </property>
  <property fmtid="{D5CDD505-2E9C-101B-9397-08002B2CF9AE}" pid="4" name="Info 3">
    <vt:lpwstr/>
  </property>
  <property fmtid="{D5CDD505-2E9C-101B-9397-08002B2CF9AE}" pid="5" name="Info 4">
    <vt:lpwstr/>
  </property>
</Properties>
</file>